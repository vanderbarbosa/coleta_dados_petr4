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100_E097E736.xml" ContentType="application/vnd.ms-powerpoint.comments+xml"/>
  <Override PartName="/ppt/comments/modernComment_118_F4B31E1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367" r:id="rId45"/>
    <p:sldId id="281" r:id="rId4"/>
    <p:sldId id="332" r:id="rId5"/>
    <p:sldId id="301" r:id="rId6"/>
    <p:sldId id="302" r:id="rId7"/>
    <p:sldId id="310" r:id="rId8"/>
    <p:sldId id="311" r:id="rId9"/>
    <p:sldId id="363" r:id="rId44"/>
    <p:sldId id="304" r:id="rId13"/>
    <p:sldId id="353" r:id="rId14"/>
    <p:sldId id="354" r:id="rId15"/>
    <p:sldId id="355" r:id="rId16"/>
    <p:sldId id="338" r:id="rId17"/>
    <p:sldId id="359" r:id="rId3"/>
    <p:sldId id="314" r:id="rId18"/>
    <p:sldId id="345" r:id="rId19"/>
    <p:sldId id="346" r:id="rId20"/>
    <p:sldId id="303" r:id="rId21"/>
    <p:sldId id="358" r:id="rId22"/>
    <p:sldId id="356" r:id="rId23"/>
    <p:sldId id="364" r:id="rId12"/>
    <p:sldId id="280" r:id="rId24"/>
    <p:sldId id="360" r:id="rId41"/>
    <p:sldId id="365" r:id="rId11"/>
    <p:sldId id="361" r:id="rId42"/>
    <p:sldId id="366" r:id="rId10"/>
    <p:sldId id="357" r:id="rId25"/>
    <p:sldId id="307" r:id="rId26"/>
    <p:sldId id="316" r:id="rId27"/>
    <p:sldId id="362" r:id="rId43"/>
    <p:sldId id="351" r:id="rId28"/>
    <p:sldId id="308" r:id="rId29"/>
    <p:sldId id="352" r:id="rId30"/>
    <p:sldId id="318" r:id="rId31"/>
    <p:sldId id="278" r:id="rId3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4C04E78-9DC5-41B5-804B-59E2F83F620C}">
          <p14:sldIdLst>
            <p14:sldId id="256"/>
            <p14:sldId id="359"/>
            <p14:sldId id="281"/>
            <p14:sldId id="332"/>
            <p14:sldId id="301"/>
            <p14:sldId id="302"/>
            <p14:sldId id="310"/>
            <p14:sldId id="311"/>
            <p14:sldId id="339"/>
            <p14:sldId id="342"/>
            <p14:sldId id="344"/>
            <p14:sldId id="304"/>
            <p14:sldId id="353"/>
            <p14:sldId id="354"/>
            <p14:sldId id="355"/>
            <p14:sldId id="338"/>
            <p14:sldId id="314"/>
            <p14:sldId id="345"/>
            <p14:sldId id="346"/>
            <p14:sldId id="303"/>
            <p14:sldId id="358"/>
            <p14:sldId id="356"/>
            <p14:sldId id="280"/>
            <p14:sldId id="357"/>
            <p14:sldId id="307"/>
            <p14:sldId id="316"/>
            <p14:sldId id="351"/>
            <p14:sldId id="308"/>
            <p14:sldId id="352"/>
            <p14:sldId id="318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E20E93-A1BB-F6E1-9F9B-1B60787748C4}" name="Vanderlei Barbosa da Silva" initials="VB" userId="S::silvavbs@stj.jus.br::24e62a6a-a92d-4f90-9f09-efc0d92c177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042F"/>
    <a:srgbClr val="800539"/>
    <a:srgbClr val="CC0000"/>
    <a:srgbClr val="810539"/>
    <a:srgbClr val="E08484"/>
    <a:srgbClr val="FFBDBD"/>
    <a:srgbClr val="FEE6F0"/>
    <a:srgbClr val="CE085D"/>
    <a:srgbClr val="F85299"/>
    <a:srgbClr val="DA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906071-AE03-DEFA-F367-A0ADBD0624C7}" v="18" dt="2026-06-26T17:19:09.5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73365" autoAdjust="0"/>
  </p:normalViewPr>
  <p:slideViewPr>
    <p:cSldViewPr snapToGrid="0" snapToObjects="1" showGuides="1">
      <p:cViewPr varScale="1">
        <p:scale>
          <a:sx n="115" d="100"/>
          <a:sy n="115" d="100"/>
        </p:scale>
        <p:origin x="1301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5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27.xml"/><Relationship Id="rId11" Type="http://schemas.openxmlformats.org/officeDocument/2006/relationships/slide" Target="slides/slide25.xml"/><Relationship Id="rId12" Type="http://schemas.openxmlformats.org/officeDocument/2006/relationships/slide" Target="slides/slide22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8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34.xml"/><Relationship Id="rId31" Type="http://schemas.openxmlformats.org/officeDocument/2006/relationships/slide" Target="slides/slide35.xml"/><Relationship Id="rId32" Type="http://schemas.openxmlformats.org/officeDocument/2006/relationships/slide" Target="slides/slide36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microsoft.com/office/2015/10/relationships/revisionInfo" Target="revisionInfo.xml"/><Relationship Id="rId40" Type="http://schemas.microsoft.com/office/2018/10/relationships/authors" Target="authors.xml"/><Relationship Id="rId41" Type="http://schemas.openxmlformats.org/officeDocument/2006/relationships/slide" Target="slides/slide24.xml"/><Relationship Id="rId42" Type="http://schemas.openxmlformats.org/officeDocument/2006/relationships/slide" Target="slides/slide26.xml"/><Relationship Id="rId43" Type="http://schemas.openxmlformats.org/officeDocument/2006/relationships/slide" Target="slides/slide31.xml"/><Relationship Id="rId44" Type="http://schemas.openxmlformats.org/officeDocument/2006/relationships/slide" Target="slides/slide9.xml"/><Relationship Id="rId45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erlei Barbosa da Silva" userId="S::silvavbs@stj.jus.br::24e62a6a-a92d-4f90-9f09-efc0d92c1770" providerId="AD" clId="Web-{892DECCF-0073-4512-920A-A6C593DBC0C2}"/>
    <pc:docChg chg="addSld delSld modSld modSection">
      <pc:chgData name="Vanderlei Barbosa da Silva" userId="S::silvavbs@stj.jus.br::24e62a6a-a92d-4f90-9f09-efc0d92c1770" providerId="AD" clId="Web-{892DECCF-0073-4512-920A-A6C593DBC0C2}" dt="2026-06-08T19:46:00.062" v="1422"/>
      <pc:docMkLst>
        <pc:docMk/>
      </pc:docMkLst>
      <pc:sldChg chg="addSp delSp modSp modNotes">
        <pc:chgData name="Vanderlei Barbosa da Silva" userId="S::silvavbs@stj.jus.br::24e62a6a-a92d-4f90-9f09-efc0d92c1770" providerId="AD" clId="Web-{892DECCF-0073-4512-920A-A6C593DBC0C2}" dt="2026-06-08T17:50:21.162" v="1236" actId="1076"/>
        <pc:sldMkLst>
          <pc:docMk/>
          <pc:sldMk cId="3477721612" sldId="301"/>
        </pc:sldMkLst>
        <pc:spChg chg="mod">
          <ac:chgData name="Vanderlei Barbosa da Silva" userId="S::silvavbs@stj.jus.br::24e62a6a-a92d-4f90-9f09-efc0d92c1770" providerId="AD" clId="Web-{892DECCF-0073-4512-920A-A6C593DBC0C2}" dt="2026-06-08T17:48:19.187" v="1211" actId="20577"/>
          <ac:spMkLst>
            <pc:docMk/>
            <pc:sldMk cId="3477721612" sldId="301"/>
            <ac:spMk id="3" creationId="{4215178B-DC19-AC93-988F-C71302598865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7:50:15.630" v="1235" actId="20577"/>
          <ac:spMkLst>
            <pc:docMk/>
            <pc:sldMk cId="3477721612" sldId="301"/>
            <ac:spMk id="4" creationId="{D3C6366D-A8A4-126C-35A0-61DA138F2D60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7:50:21.162" v="1236" actId="1076"/>
          <ac:spMkLst>
            <pc:docMk/>
            <pc:sldMk cId="3477721612" sldId="301"/>
            <ac:spMk id="8" creationId="{0F8293F8-E86F-05F2-F7A6-718F90612ECE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7:49:41.628" v="1230" actId="20577"/>
          <ac:spMkLst>
            <pc:docMk/>
            <pc:sldMk cId="3477721612" sldId="301"/>
            <ac:spMk id="9" creationId="{0FFDA10C-BFA4-07CD-51E2-EB07AC219F82}"/>
          </ac:spMkLst>
        </pc:spChg>
        <pc:cxnChg chg="add mod">
          <ac:chgData name="Vanderlei Barbosa da Silva" userId="S::silvavbs@stj.jus.br::24e62a6a-a92d-4f90-9f09-efc0d92c1770" providerId="AD" clId="Web-{892DECCF-0073-4512-920A-A6C593DBC0C2}" dt="2026-06-08T17:18:53.303" v="1133" actId="1076"/>
          <ac:cxnSpMkLst>
            <pc:docMk/>
            <pc:sldMk cId="3477721612" sldId="301"/>
            <ac:cxnSpMk id="5" creationId="{53BA3085-E847-C63A-217B-C83520C24B43}"/>
          </ac:cxnSpMkLst>
        </pc:cxnChg>
      </pc:sldChg>
      <pc:sldChg chg="addSp modSp">
        <pc:chgData name="Vanderlei Barbosa da Silva" userId="S::silvavbs@stj.jus.br::24e62a6a-a92d-4f90-9f09-efc0d92c1770" providerId="AD" clId="Web-{892DECCF-0073-4512-920A-A6C593DBC0C2}" dt="2026-06-08T17:08:10.032" v="1031" actId="1076"/>
        <pc:sldMkLst>
          <pc:docMk/>
          <pc:sldMk cId="1234460983" sldId="302"/>
        </pc:sldMkLst>
        <pc:cxnChg chg="add mod">
          <ac:chgData name="Vanderlei Barbosa da Silva" userId="S::silvavbs@stj.jus.br::24e62a6a-a92d-4f90-9f09-efc0d92c1770" providerId="AD" clId="Web-{892DECCF-0073-4512-920A-A6C593DBC0C2}" dt="2026-06-08T17:08:10.032" v="1031" actId="1076"/>
          <ac:cxnSpMkLst>
            <pc:docMk/>
            <pc:sldMk cId="1234460983" sldId="302"/>
            <ac:cxnSpMk id="4" creationId="{202BC76F-FDAB-2C22-27B2-C953E87478B2}"/>
          </ac:cxnSpMkLst>
        </pc:cxnChg>
      </pc:sldChg>
      <pc:sldChg chg="addSp delSp modSp modNotes">
        <pc:chgData name="Vanderlei Barbosa da Silva" userId="S::silvavbs@stj.jus.br::24e62a6a-a92d-4f90-9f09-efc0d92c1770" providerId="AD" clId="Web-{892DECCF-0073-4512-920A-A6C593DBC0C2}" dt="2026-06-08T19:44:49.544" v="1421" actId="1076"/>
        <pc:sldMkLst>
          <pc:docMk/>
          <pc:sldMk cId="2518470170" sldId="311"/>
        </pc:sldMkLst>
        <pc:spChg chg="add mod">
          <ac:chgData name="Vanderlei Barbosa da Silva" userId="S::silvavbs@stj.jus.br::24e62a6a-a92d-4f90-9f09-efc0d92c1770" providerId="AD" clId="Web-{892DECCF-0073-4512-920A-A6C593DBC0C2}" dt="2026-06-08T19:30:06.904" v="1299" actId="20577"/>
          <ac:spMkLst>
            <pc:docMk/>
            <pc:sldMk cId="2518470170" sldId="311"/>
            <ac:spMk id="6" creationId="{294295A1-5231-13FF-A88E-8B44EF05AB22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9:30:46.858" v="1316" actId="20577"/>
          <ac:spMkLst>
            <pc:docMk/>
            <pc:sldMk cId="2518470170" sldId="311"/>
            <ac:spMk id="10" creationId="{A5BCCFAB-C8EF-5B00-0A01-BC7A41BF3159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9:44:06.574" v="1414" actId="20577"/>
          <ac:spMkLst>
            <pc:docMk/>
            <pc:sldMk cId="2518470170" sldId="311"/>
            <ac:spMk id="12" creationId="{5DC7200A-9C17-5991-6D14-2D08EDBB0E4A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9:44:49.544" v="1421" actId="1076"/>
          <ac:spMkLst>
            <pc:docMk/>
            <pc:sldMk cId="2518470170" sldId="311"/>
            <ac:spMk id="14" creationId="{274FB233-3AA5-14FC-4967-CDD12E4043A3}"/>
          </ac:spMkLst>
        </pc:spChg>
        <pc:graphicFrameChg chg="add mod modGraphic">
          <ac:chgData name="Vanderlei Barbosa da Silva" userId="S::silvavbs@stj.jus.br::24e62a6a-a92d-4f90-9f09-efc0d92c1770" providerId="AD" clId="Web-{892DECCF-0073-4512-920A-A6C593DBC0C2}" dt="2026-06-08T19:44:32.606" v="1418"/>
          <ac:graphicFrameMkLst>
            <pc:docMk/>
            <pc:sldMk cId="2518470170" sldId="311"/>
            <ac:graphicFrameMk id="8" creationId="{A8B218D5-DDA1-AB53-7604-A31FCF8BCF92}"/>
          </ac:graphicFrameMkLst>
        </pc:graphicFrameChg>
        <pc:cxnChg chg="add mod">
          <ac:chgData name="Vanderlei Barbosa da Silva" userId="S::silvavbs@stj.jus.br::24e62a6a-a92d-4f90-9f09-efc0d92c1770" providerId="AD" clId="Web-{892DECCF-0073-4512-920A-A6C593DBC0C2}" dt="2026-06-08T19:25:36.021" v="1242" actId="1076"/>
          <ac:cxnSpMkLst>
            <pc:docMk/>
            <pc:sldMk cId="2518470170" sldId="311"/>
            <ac:cxnSpMk id="5" creationId="{F5C417E5-C321-7377-478E-D95D9BEDF1C0}"/>
          </ac:cxnSpMkLst>
        </pc:cxnChg>
      </pc:sldChg>
      <pc:sldChg chg="addSp delSp modSp add replId modNotes">
        <pc:chgData name="Vanderlei Barbosa da Silva" userId="S::silvavbs@stj.jus.br::24e62a6a-a92d-4f90-9f09-efc0d92c1770" providerId="AD" clId="Web-{892DECCF-0073-4512-920A-A6C593DBC0C2}" dt="2026-06-08T16:15:24.296" v="1001" actId="1076"/>
        <pc:sldMkLst>
          <pc:docMk/>
          <pc:sldMk cId="2588760046" sldId="332"/>
        </pc:sldMkLst>
        <pc:spChg chg="mod">
          <ac:chgData name="Vanderlei Barbosa da Silva" userId="S::silvavbs@stj.jus.br::24e62a6a-a92d-4f90-9f09-efc0d92c1770" providerId="AD" clId="Web-{892DECCF-0073-4512-920A-A6C593DBC0C2}" dt="2026-06-08T15:59:46.090" v="844" actId="14100"/>
          <ac:spMkLst>
            <pc:docMk/>
            <pc:sldMk cId="2588760046" sldId="332"/>
            <ac:spMk id="2" creationId="{F8B4A312-9B5F-FAC3-8CAD-AFA3F997C083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6:15:24.296" v="1001" actId="1076"/>
          <ac:spMkLst>
            <pc:docMk/>
            <pc:sldMk cId="2588760046" sldId="332"/>
            <ac:spMk id="4" creationId="{3F6A35B6-07E0-A5CB-6A1C-1DBEEE2A26C6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6:11:23.742" v="987" actId="20577"/>
          <ac:spMkLst>
            <pc:docMk/>
            <pc:sldMk cId="2588760046" sldId="332"/>
            <ac:spMk id="6" creationId="{2B5BCD62-D4D9-3ACA-7790-6D5CEFB53B17}"/>
          </ac:spMkLst>
        </pc:spChg>
        <pc:picChg chg="add mod">
          <ac:chgData name="Vanderlei Barbosa da Silva" userId="S::silvavbs@stj.jus.br::24e62a6a-a92d-4f90-9f09-efc0d92c1770" providerId="AD" clId="Web-{892DECCF-0073-4512-920A-A6C593DBC0C2}" dt="2026-06-08T16:13:46.976" v="997" actId="14100"/>
          <ac:picMkLst>
            <pc:docMk/>
            <pc:sldMk cId="2588760046" sldId="332"/>
            <ac:picMk id="9" creationId="{EC73A99D-5770-C0B4-2F30-F3F3DA2F05FE}"/>
          </ac:picMkLst>
        </pc:picChg>
        <pc:cxnChg chg="add mod">
          <ac:chgData name="Vanderlei Barbosa da Silva" userId="S::silvavbs@stj.jus.br::24e62a6a-a92d-4f90-9f09-efc0d92c1770" providerId="AD" clId="Web-{892DECCF-0073-4512-920A-A6C593DBC0C2}" dt="2026-06-08T16:09:29.509" v="862"/>
          <ac:cxnSpMkLst>
            <pc:docMk/>
            <pc:sldMk cId="2588760046" sldId="332"/>
            <ac:cxnSpMk id="5" creationId="{8A639628-FAED-62E0-CF68-D285AE5B2288}"/>
          </ac:cxnSpMkLst>
        </pc:cxnChg>
      </pc:sldChg>
      <pc:sldChg chg="addSp delSp modSp add mod replId modClrScheme chgLayout">
        <pc:chgData name="Vanderlei Barbosa da Silva" userId="S::silvavbs@stj.jus.br::24e62a6a-a92d-4f90-9f09-efc0d92c1770" providerId="AD" clId="Web-{892DECCF-0073-4512-920A-A6C593DBC0C2}" dt="2026-06-08T17:07:41.875" v="1027" actId="1076"/>
        <pc:sldMkLst>
          <pc:docMk/>
          <pc:sldMk cId="2195579995" sldId="333"/>
        </pc:sldMkLst>
        <pc:spChg chg="mod ord">
          <ac:chgData name="Vanderlei Barbosa da Silva" userId="S::silvavbs@stj.jus.br::24e62a6a-a92d-4f90-9f09-efc0d92c1770" providerId="AD" clId="Web-{892DECCF-0073-4512-920A-A6C593DBC0C2}" dt="2026-06-08T17:07:41.875" v="1027" actId="1076"/>
          <ac:spMkLst>
            <pc:docMk/>
            <pc:sldMk cId="2195579995" sldId="333"/>
            <ac:spMk id="2" creationId="{8AB0D916-6940-AEF2-EDEA-0DBACA353A8A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5:32:05.095" v="676" actId="1076"/>
          <ac:spMkLst>
            <pc:docMk/>
            <pc:sldMk cId="2195579995" sldId="333"/>
            <ac:spMk id="7" creationId="{50288C5E-4F6A-7DDB-BE70-A5AECA43C1CA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5:35:16.774" v="775" actId="20577"/>
          <ac:spMkLst>
            <pc:docMk/>
            <pc:sldMk cId="2195579995" sldId="333"/>
            <ac:spMk id="10" creationId="{31D889B8-EC76-5E67-B4CF-F03431F0B69B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5:36:39.357" v="838" actId="1076"/>
          <ac:spMkLst>
            <pc:docMk/>
            <pc:sldMk cId="2195579995" sldId="333"/>
            <ac:spMk id="12" creationId="{C547B4D1-58C0-D315-2334-ED04474A264E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5:36:42.998" v="839" actId="1076"/>
          <ac:spMkLst>
            <pc:docMk/>
            <pc:sldMk cId="2195579995" sldId="333"/>
            <ac:spMk id="13" creationId="{BD401224-612B-7A70-0C04-1E9CDBB14B9B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5:34:32.255" v="732" actId="14100"/>
          <ac:spMkLst>
            <pc:docMk/>
            <pc:sldMk cId="2195579995" sldId="333"/>
            <ac:spMk id="15" creationId="{1D85957A-63E5-D774-8326-5DBE98DE6E85}"/>
          </ac:spMkLst>
        </pc:spChg>
        <pc:spChg chg="add mod">
          <ac:chgData name="Vanderlei Barbosa da Silva" userId="S::silvavbs@stj.jus.br::24e62a6a-a92d-4f90-9f09-efc0d92c1770" providerId="AD" clId="Web-{892DECCF-0073-4512-920A-A6C593DBC0C2}" dt="2026-06-08T15:35:54.964" v="834" actId="20577"/>
          <ac:spMkLst>
            <pc:docMk/>
            <pc:sldMk cId="2195579995" sldId="333"/>
            <ac:spMk id="16" creationId="{CE77996E-5DBA-4CCA-11B9-614CFE2A2EEE}"/>
          </ac:spMkLst>
        </pc:spChg>
        <pc:picChg chg="add mod">
          <ac:chgData name="Vanderlei Barbosa da Silva" userId="S::silvavbs@stj.jus.br::24e62a6a-a92d-4f90-9f09-efc0d92c1770" providerId="AD" clId="Web-{892DECCF-0073-4512-920A-A6C593DBC0C2}" dt="2026-06-08T15:37:14.109" v="842" actId="1076"/>
          <ac:picMkLst>
            <pc:docMk/>
            <pc:sldMk cId="2195579995" sldId="333"/>
            <ac:picMk id="11" creationId="{1C58FD48-A5FB-29AF-2827-ADA737C5A4AA}"/>
          </ac:picMkLst>
        </pc:picChg>
        <pc:picChg chg="add mod">
          <ac:chgData name="Vanderlei Barbosa da Silva" userId="S::silvavbs@stj.jus.br::24e62a6a-a92d-4f90-9f09-efc0d92c1770" providerId="AD" clId="Web-{892DECCF-0073-4512-920A-A6C593DBC0C2}" dt="2026-06-08T15:36:51.967" v="840" actId="1076"/>
          <ac:picMkLst>
            <pc:docMk/>
            <pc:sldMk cId="2195579995" sldId="333"/>
            <ac:picMk id="14" creationId="{23632FB3-FB7E-7103-FC20-199CF1428838}"/>
          </ac:picMkLst>
        </pc:picChg>
        <pc:picChg chg="add mod">
          <ac:chgData name="Vanderlei Barbosa da Silva" userId="S::silvavbs@stj.jus.br::24e62a6a-a92d-4f90-9f09-efc0d92c1770" providerId="AD" clId="Web-{892DECCF-0073-4512-920A-A6C593DBC0C2}" dt="2026-06-08T15:36:15.794" v="836" actId="1076"/>
          <ac:picMkLst>
            <pc:docMk/>
            <pc:sldMk cId="2195579995" sldId="333"/>
            <ac:picMk id="17" creationId="{2D17EB4E-ABF7-69A2-1156-6630A2812525}"/>
          </ac:picMkLst>
        </pc:picChg>
        <pc:cxnChg chg="add mod">
          <ac:chgData name="Vanderlei Barbosa da Silva" userId="S::silvavbs@stj.jus.br::24e62a6a-a92d-4f90-9f09-efc0d92c1770" providerId="AD" clId="Web-{892DECCF-0073-4512-920A-A6C593DBC0C2}" dt="2026-06-08T17:07:26.671" v="1026" actId="1076"/>
          <ac:cxnSpMkLst>
            <pc:docMk/>
            <pc:sldMk cId="2195579995" sldId="333"/>
            <ac:cxnSpMk id="4" creationId="{9BB6AA00-A3B6-BBD4-CBC2-A81E98AEFDAE}"/>
          </ac:cxnSpMkLst>
        </pc:cxnChg>
      </pc:sldChg>
    </pc:docChg>
  </pc:docChgLst>
  <pc:docChgLst>
    <pc:chgData name="Vanderlei Barbosa da Silva" userId="S::silvavbs@stj.jus.br::24e62a6a-a92d-4f90-9f09-efc0d92c1770" providerId="AD" clId="Web-{1F906071-AE03-DEFA-F367-A0ADBD0624C7}"/>
    <pc:docChg chg="modSld">
      <pc:chgData name="Vanderlei Barbosa da Silva" userId="S::silvavbs@stj.jus.br::24e62a6a-a92d-4f90-9f09-efc0d92c1770" providerId="AD" clId="Web-{1F906071-AE03-DEFA-F367-A0ADBD0624C7}" dt="2026-06-26T17:19:08.263" v="8" actId="20577"/>
      <pc:docMkLst>
        <pc:docMk/>
      </pc:docMkLst>
      <pc:sldChg chg="modSp">
        <pc:chgData name="Vanderlei Barbosa da Silva" userId="S::silvavbs@stj.jus.br::24e62a6a-a92d-4f90-9f09-efc0d92c1770" providerId="AD" clId="Web-{1F906071-AE03-DEFA-F367-A0ADBD0624C7}" dt="2026-06-26T17:19:08.263" v="8" actId="20577"/>
        <pc:sldMkLst>
          <pc:docMk/>
          <pc:sldMk cId="2518470170" sldId="311"/>
        </pc:sldMkLst>
        <pc:spChg chg="mod">
          <ac:chgData name="Vanderlei Barbosa da Silva" userId="S::silvavbs@stj.jus.br::24e62a6a-a92d-4f90-9f09-efc0d92c1770" providerId="AD" clId="Web-{1F906071-AE03-DEFA-F367-A0ADBD0624C7}" dt="2026-06-26T17:19:08.263" v="8" actId="20577"/>
          <ac:spMkLst>
            <pc:docMk/>
            <pc:sldMk cId="2518470170" sldId="311"/>
            <ac:spMk id="12" creationId="{5DC7200A-9C17-5991-6D14-2D08EDBB0E4A}"/>
          </ac:spMkLst>
        </pc:spChg>
      </pc:sldChg>
    </pc:docChg>
  </pc:docChgLst>
  <pc:docChgLst>
    <pc:chgData name="Vanderlei Barbosa da Silva" userId="24e62a6a-a92d-4f90-9f09-efc0d92c1770" providerId="ADAL" clId="{B7BF07C5-55BE-4A63-A797-64077BB8B758}"/>
    <pc:docChg chg="undo custSel addSld delSld modSld sldOrd modSection">
      <pc:chgData name="Vanderlei Barbosa da Silva" userId="24e62a6a-a92d-4f90-9f09-efc0d92c1770" providerId="ADAL" clId="{B7BF07C5-55BE-4A63-A797-64077BB8B758}" dt="2026-06-09T15:10:13.473" v="923" actId="113"/>
      <pc:docMkLst>
        <pc:docMk/>
      </pc:docMkLst>
      <pc:sldChg chg="modNotesTx">
        <pc:chgData name="Vanderlei Barbosa da Silva" userId="24e62a6a-a92d-4f90-9f09-efc0d92c1770" providerId="ADAL" clId="{B7BF07C5-55BE-4A63-A797-64077BB8B758}" dt="2026-06-09T01:44:33.098" v="508" actId="20577"/>
        <pc:sldMkLst>
          <pc:docMk/>
          <pc:sldMk cId="1527027247" sldId="303"/>
        </pc:sldMkLst>
      </pc:sldChg>
      <pc:sldChg chg="addSp delSp modSp mod ord">
        <pc:chgData name="Vanderlei Barbosa da Silva" userId="24e62a6a-a92d-4f90-9f09-efc0d92c1770" providerId="ADAL" clId="{B7BF07C5-55BE-4A63-A797-64077BB8B758}" dt="2026-06-09T00:00:46.256" v="183" actId="1037"/>
        <pc:sldMkLst>
          <pc:docMk/>
          <pc:sldMk cId="2753903397" sldId="312"/>
        </pc:sldMkLst>
        <pc:spChg chg="add mod">
          <ac:chgData name="Vanderlei Barbosa da Silva" userId="24e62a6a-a92d-4f90-9f09-efc0d92c1770" providerId="ADAL" clId="{B7BF07C5-55BE-4A63-A797-64077BB8B758}" dt="2026-06-08T23:54:07.151" v="14"/>
          <ac:spMkLst>
            <pc:docMk/>
            <pc:sldMk cId="2753903397" sldId="312"/>
            <ac:spMk id="6" creationId="{4F73D340-0855-A6E6-A71F-F73303A40994}"/>
          </ac:spMkLst>
        </pc:spChg>
        <pc:spChg chg="add mod">
          <ac:chgData name="Vanderlei Barbosa da Silva" userId="24e62a6a-a92d-4f90-9f09-efc0d92c1770" providerId="ADAL" clId="{B7BF07C5-55BE-4A63-A797-64077BB8B758}" dt="2026-06-09T00:00:46.256" v="183" actId="1037"/>
          <ac:spMkLst>
            <pc:docMk/>
            <pc:sldMk cId="2753903397" sldId="312"/>
            <ac:spMk id="14" creationId="{912FC02A-7642-5F02-D411-C42F1D42E465}"/>
          </ac:spMkLst>
        </pc:spChg>
        <pc:picChg chg="add mod">
          <ac:chgData name="Vanderlei Barbosa da Silva" userId="24e62a6a-a92d-4f90-9f09-efc0d92c1770" providerId="ADAL" clId="{B7BF07C5-55BE-4A63-A797-64077BB8B758}" dt="2026-06-08T23:56:11.235" v="33" actId="1076"/>
          <ac:picMkLst>
            <pc:docMk/>
            <pc:sldMk cId="2753903397" sldId="312"/>
            <ac:picMk id="9" creationId="{E13E9169-0DF4-BD93-975E-537E160E300C}"/>
          </ac:picMkLst>
        </pc:picChg>
        <pc:picChg chg="add mod">
          <ac:chgData name="Vanderlei Barbosa da Silva" userId="24e62a6a-a92d-4f90-9f09-efc0d92c1770" providerId="ADAL" clId="{B7BF07C5-55BE-4A63-A797-64077BB8B758}" dt="2026-06-08T23:56:21.362" v="37" actId="1076"/>
          <ac:picMkLst>
            <pc:docMk/>
            <pc:sldMk cId="2753903397" sldId="312"/>
            <ac:picMk id="13" creationId="{7A81FECC-3790-8BB2-C7C7-7899B58ABDD8}"/>
          </ac:picMkLst>
        </pc:picChg>
        <pc:cxnChg chg="add mod">
          <ac:chgData name="Vanderlei Barbosa da Silva" userId="24e62a6a-a92d-4f90-9f09-efc0d92c1770" providerId="ADAL" clId="{B7BF07C5-55BE-4A63-A797-64077BB8B758}" dt="2026-06-08T23:54:07.151" v="14"/>
          <ac:cxnSpMkLst>
            <pc:docMk/>
            <pc:sldMk cId="2753903397" sldId="312"/>
            <ac:cxnSpMk id="7" creationId="{3B5371D6-1810-AFA5-82A6-47CC92C41EB6}"/>
          </ac:cxnSpMkLst>
        </pc:cxnChg>
        <pc:cxnChg chg="add mod">
          <ac:chgData name="Vanderlei Barbosa da Silva" userId="24e62a6a-a92d-4f90-9f09-efc0d92c1770" providerId="ADAL" clId="{B7BF07C5-55BE-4A63-A797-64077BB8B758}" dt="2026-06-09T00:00:32.674" v="174" actId="14100"/>
          <ac:cxnSpMkLst>
            <pc:docMk/>
            <pc:sldMk cId="2753903397" sldId="312"/>
            <ac:cxnSpMk id="11" creationId="{A0AD2595-C4EF-F948-E509-0B9F46E30AFD}"/>
          </ac:cxnSpMkLst>
        </pc:cxnChg>
        <pc:cxnChg chg="add mod">
          <ac:chgData name="Vanderlei Barbosa da Silva" userId="24e62a6a-a92d-4f90-9f09-efc0d92c1770" providerId="ADAL" clId="{B7BF07C5-55BE-4A63-A797-64077BB8B758}" dt="2026-06-09T00:00:41.115" v="176" actId="1076"/>
          <ac:cxnSpMkLst>
            <pc:docMk/>
            <pc:sldMk cId="2753903397" sldId="312"/>
            <ac:cxnSpMk id="19" creationId="{888BBBB6-EB62-4302-CBF6-B5169EBC7760}"/>
          </ac:cxnSpMkLst>
        </pc:cxnChg>
      </pc:sldChg>
      <pc:sldChg chg="addSp delSp modSp mod modTransition modNotesTx">
        <pc:chgData name="Vanderlei Barbosa da Silva" userId="24e62a6a-a92d-4f90-9f09-efc0d92c1770" providerId="ADAL" clId="{B7BF07C5-55BE-4A63-A797-64077BB8B758}" dt="2026-06-09T01:45:06.146" v="512" actId="20577"/>
        <pc:sldMkLst>
          <pc:docMk/>
          <pc:sldMk cId="2898277315" sldId="313"/>
        </pc:sldMkLst>
        <pc:picChg chg="add mod">
          <ac:chgData name="Vanderlei Barbosa da Silva" userId="24e62a6a-a92d-4f90-9f09-efc0d92c1770" providerId="ADAL" clId="{B7BF07C5-55BE-4A63-A797-64077BB8B758}" dt="2026-06-09T01:38:14.217" v="470" actId="1038"/>
          <ac:picMkLst>
            <pc:docMk/>
            <pc:sldMk cId="2898277315" sldId="313"/>
            <ac:picMk id="5" creationId="{DEC3F2FC-FBB7-7834-2C31-36CC3A5651F1}"/>
          </ac:picMkLst>
        </pc:picChg>
        <pc:cxnChg chg="add mod">
          <ac:chgData name="Vanderlei Barbosa da Silva" userId="24e62a6a-a92d-4f90-9f09-efc0d92c1770" providerId="ADAL" clId="{B7BF07C5-55BE-4A63-A797-64077BB8B758}" dt="2026-06-09T01:34:08.389" v="429"/>
          <ac:cxnSpMkLst>
            <pc:docMk/>
            <pc:sldMk cId="2898277315" sldId="313"/>
            <ac:cxnSpMk id="6" creationId="{9CFB8F8C-5266-C225-BCF4-DAD0B846562C}"/>
          </ac:cxnSpMkLst>
        </pc:cxnChg>
      </pc:sldChg>
      <pc:sldChg chg="addSp modSp mod modNotesTx">
        <pc:chgData name="Vanderlei Barbosa da Silva" userId="24e62a6a-a92d-4f90-9f09-efc0d92c1770" providerId="ADAL" clId="{B7BF07C5-55BE-4A63-A797-64077BB8B758}" dt="2026-06-09T00:45:21.383" v="404" actId="113"/>
        <pc:sldMkLst>
          <pc:docMk/>
          <pc:sldMk cId="3719614751" sldId="314"/>
        </pc:sldMkLst>
        <pc:spChg chg="mod">
          <ac:chgData name="Vanderlei Barbosa da Silva" userId="24e62a6a-a92d-4f90-9f09-efc0d92c1770" providerId="ADAL" clId="{B7BF07C5-55BE-4A63-A797-64077BB8B758}" dt="2026-06-09T00:38:39.464" v="311" actId="20577"/>
          <ac:spMkLst>
            <pc:docMk/>
            <pc:sldMk cId="3719614751" sldId="314"/>
            <ac:spMk id="2" creationId="{3482619E-4FBD-BA90-24A4-244212D44DB3}"/>
          </ac:spMkLst>
        </pc:spChg>
        <pc:spChg chg="add mod">
          <ac:chgData name="Vanderlei Barbosa da Silva" userId="24e62a6a-a92d-4f90-9f09-efc0d92c1770" providerId="ADAL" clId="{B7BF07C5-55BE-4A63-A797-64077BB8B758}" dt="2026-06-09T00:41:50.528" v="355" actId="208"/>
          <ac:spMkLst>
            <pc:docMk/>
            <pc:sldMk cId="3719614751" sldId="314"/>
            <ac:spMk id="4" creationId="{D19984F2-F1A2-830E-4D92-780D4BB8378F}"/>
          </ac:spMkLst>
        </pc:spChg>
        <pc:spChg chg="add mod">
          <ac:chgData name="Vanderlei Barbosa da Silva" userId="24e62a6a-a92d-4f90-9f09-efc0d92c1770" providerId="ADAL" clId="{B7BF07C5-55BE-4A63-A797-64077BB8B758}" dt="2026-06-09T00:45:21.383" v="404" actId="113"/>
          <ac:spMkLst>
            <pc:docMk/>
            <pc:sldMk cId="3719614751" sldId="314"/>
            <ac:spMk id="5" creationId="{4A80D4F6-9AC6-4513-E8E9-F4E74D1B8522}"/>
          </ac:spMkLst>
        </pc:spChg>
        <pc:cxnChg chg="add mod">
          <ac:chgData name="Vanderlei Barbosa da Silva" userId="24e62a6a-a92d-4f90-9f09-efc0d92c1770" providerId="ADAL" clId="{B7BF07C5-55BE-4A63-A797-64077BB8B758}" dt="2026-06-09T00:38:06.724" v="285"/>
          <ac:cxnSpMkLst>
            <pc:docMk/>
            <pc:sldMk cId="3719614751" sldId="314"/>
            <ac:cxnSpMk id="3" creationId="{991F5F57-6B11-B3D2-8A4F-3EA690430DA7}"/>
          </ac:cxnSpMkLst>
        </pc:cxnChg>
      </pc:sldChg>
      <pc:sldChg chg="addSp delSp modSp mod modNotesTx">
        <pc:chgData name="Vanderlei Barbosa da Silva" userId="24e62a6a-a92d-4f90-9f09-efc0d92c1770" providerId="ADAL" clId="{B7BF07C5-55BE-4A63-A797-64077BB8B758}" dt="2026-06-09T02:12:09.979" v="673" actId="20577"/>
        <pc:sldMkLst>
          <pc:docMk/>
          <pc:sldMk cId="2585261711" sldId="316"/>
        </pc:sldMkLst>
        <pc:spChg chg="mod">
          <ac:chgData name="Vanderlei Barbosa da Silva" userId="24e62a6a-a92d-4f90-9f09-efc0d92c1770" providerId="ADAL" clId="{B7BF07C5-55BE-4A63-A797-64077BB8B758}" dt="2026-06-09T02:07:12.742" v="611" actId="20577"/>
          <ac:spMkLst>
            <pc:docMk/>
            <pc:sldMk cId="2585261711" sldId="316"/>
            <ac:spMk id="2" creationId="{7A866035-D737-E59D-1CC5-1958C54336A2}"/>
          </ac:spMkLst>
        </pc:spChg>
        <pc:spChg chg="add mod">
          <ac:chgData name="Vanderlei Barbosa da Silva" userId="24e62a6a-a92d-4f90-9f09-efc0d92c1770" providerId="ADAL" clId="{B7BF07C5-55BE-4A63-A797-64077BB8B758}" dt="2026-06-09T02:11:10.979" v="661" actId="20577"/>
          <ac:spMkLst>
            <pc:docMk/>
            <pc:sldMk cId="2585261711" sldId="316"/>
            <ac:spMk id="6" creationId="{99BF5907-39E4-3794-CF3E-DE34EBAEA8EC}"/>
          </ac:spMkLst>
        </pc:spChg>
        <pc:cxnChg chg="add mod">
          <ac:chgData name="Vanderlei Barbosa da Silva" userId="24e62a6a-a92d-4f90-9f09-efc0d92c1770" providerId="ADAL" clId="{B7BF07C5-55BE-4A63-A797-64077BB8B758}" dt="2026-06-09T02:06:23.376" v="561"/>
          <ac:cxnSpMkLst>
            <pc:docMk/>
            <pc:sldMk cId="2585261711" sldId="316"/>
            <ac:cxnSpMk id="3" creationId="{621497EE-CB74-12DC-9C90-54CC5417CD79}"/>
          </ac:cxnSpMkLst>
        </pc:cxnChg>
      </pc:sldChg>
      <pc:sldChg chg="addSp delSp modSp mod ord modNotesTx">
        <pc:chgData name="Vanderlei Barbosa da Silva" userId="24e62a6a-a92d-4f90-9f09-efc0d92c1770" providerId="ADAL" clId="{B7BF07C5-55BE-4A63-A797-64077BB8B758}" dt="2026-06-09T15:07:37.628" v="911" actId="20577"/>
        <pc:sldMkLst>
          <pc:docMk/>
          <pc:sldMk cId="2442843238" sldId="324"/>
        </pc:sldMkLst>
        <pc:picChg chg="add mod">
          <ac:chgData name="Vanderlei Barbosa da Silva" userId="24e62a6a-a92d-4f90-9f09-efc0d92c1770" providerId="ADAL" clId="{B7BF07C5-55BE-4A63-A797-64077BB8B758}" dt="2026-06-09T00:10:04.837" v="198" actId="14100"/>
          <ac:picMkLst>
            <pc:docMk/>
            <pc:sldMk cId="2442843238" sldId="324"/>
            <ac:picMk id="9" creationId="{45898E4C-4BD5-7AF6-10E5-CF3972EFE608}"/>
          </ac:picMkLst>
        </pc:picChg>
        <pc:cxnChg chg="add mod">
          <ac:chgData name="Vanderlei Barbosa da Silva" userId="24e62a6a-a92d-4f90-9f09-efc0d92c1770" providerId="ADAL" clId="{B7BF07C5-55BE-4A63-A797-64077BB8B758}" dt="2026-06-08T23:35:13.848" v="4" actId="1076"/>
          <ac:cxnSpMkLst>
            <pc:docMk/>
            <pc:sldMk cId="2442843238" sldId="324"/>
            <ac:cxnSpMk id="4" creationId="{D92DCA6D-2826-B035-9D3E-EDF0D42329C1}"/>
          </ac:cxnSpMkLst>
        </pc:cxnChg>
      </pc:sldChg>
      <pc:sldChg chg="addSp modSp add mod modNotesTx">
        <pc:chgData name="Vanderlei Barbosa da Silva" userId="24e62a6a-a92d-4f90-9f09-efc0d92c1770" providerId="ADAL" clId="{B7BF07C5-55BE-4A63-A797-64077BB8B758}" dt="2026-06-09T15:08:30.624" v="915" actId="113"/>
        <pc:sldMkLst>
          <pc:docMk/>
          <pc:sldMk cId="2271119202" sldId="334"/>
        </pc:sldMkLst>
        <pc:spChg chg="add mod">
          <ac:chgData name="Vanderlei Barbosa da Silva" userId="24e62a6a-a92d-4f90-9f09-efc0d92c1770" providerId="ADAL" clId="{B7BF07C5-55BE-4A63-A797-64077BB8B758}" dt="2026-06-09T00:16:08.273" v="212" actId="208"/>
          <ac:spMkLst>
            <pc:docMk/>
            <pc:sldMk cId="2271119202" sldId="334"/>
            <ac:spMk id="3" creationId="{689BBC2D-0DC5-82ED-3D26-E7424B2466EF}"/>
          </ac:spMkLst>
        </pc:spChg>
        <pc:spChg chg="add mod">
          <ac:chgData name="Vanderlei Barbosa da Silva" userId="24e62a6a-a92d-4f90-9f09-efc0d92c1770" providerId="ADAL" clId="{B7BF07C5-55BE-4A63-A797-64077BB8B758}" dt="2026-06-09T00:15:58.983" v="211" actId="208"/>
          <ac:spMkLst>
            <pc:docMk/>
            <pc:sldMk cId="2271119202" sldId="334"/>
            <ac:spMk id="6" creationId="{83FBA928-F62D-F7C8-D40C-7EE316EB4E2B}"/>
          </ac:spMkLst>
        </pc:spChg>
      </pc:sldChg>
      <pc:sldChg chg="modSp add mod modNotesTx">
        <pc:chgData name="Vanderlei Barbosa da Silva" userId="24e62a6a-a92d-4f90-9f09-efc0d92c1770" providerId="ADAL" clId="{B7BF07C5-55BE-4A63-A797-64077BB8B758}" dt="2026-06-09T15:09:04.104" v="919" actId="113"/>
        <pc:sldMkLst>
          <pc:docMk/>
          <pc:sldMk cId="1160404001" sldId="335"/>
        </pc:sldMkLst>
        <pc:spChg chg="mod">
          <ac:chgData name="Vanderlei Barbosa da Silva" userId="24e62a6a-a92d-4f90-9f09-efc0d92c1770" providerId="ADAL" clId="{B7BF07C5-55BE-4A63-A797-64077BB8B758}" dt="2026-06-09T00:16:44.992" v="214" actId="1076"/>
          <ac:spMkLst>
            <pc:docMk/>
            <pc:sldMk cId="1160404001" sldId="335"/>
            <ac:spMk id="3" creationId="{D425282F-8462-43E8-67F6-25D0DA17853F}"/>
          </ac:spMkLst>
        </pc:spChg>
        <pc:spChg chg="mod">
          <ac:chgData name="Vanderlei Barbosa da Silva" userId="24e62a6a-a92d-4f90-9f09-efc0d92c1770" providerId="ADAL" clId="{B7BF07C5-55BE-4A63-A797-64077BB8B758}" dt="2026-06-09T00:17:11.725" v="219" actId="1037"/>
          <ac:spMkLst>
            <pc:docMk/>
            <pc:sldMk cId="1160404001" sldId="335"/>
            <ac:spMk id="6" creationId="{035A8970-0F6F-82AE-F620-DC152D3F4FCB}"/>
          </ac:spMkLst>
        </pc:spChg>
      </pc:sldChg>
      <pc:sldChg chg="modSp add mod modNotesTx">
        <pc:chgData name="Vanderlei Barbosa da Silva" userId="24e62a6a-a92d-4f90-9f09-efc0d92c1770" providerId="ADAL" clId="{B7BF07C5-55BE-4A63-A797-64077BB8B758}" dt="2026-06-09T15:10:13.473" v="923" actId="113"/>
        <pc:sldMkLst>
          <pc:docMk/>
          <pc:sldMk cId="2306077870" sldId="336"/>
        </pc:sldMkLst>
        <pc:spChg chg="mod">
          <ac:chgData name="Vanderlei Barbosa da Silva" userId="24e62a6a-a92d-4f90-9f09-efc0d92c1770" providerId="ADAL" clId="{B7BF07C5-55BE-4A63-A797-64077BB8B758}" dt="2026-06-09T00:18:45.815" v="225" actId="14100"/>
          <ac:spMkLst>
            <pc:docMk/>
            <pc:sldMk cId="2306077870" sldId="336"/>
            <ac:spMk id="3" creationId="{F60702F5-6D80-11DB-A17E-58DA604E9C96}"/>
          </ac:spMkLst>
        </pc:spChg>
        <pc:spChg chg="mod">
          <ac:chgData name="Vanderlei Barbosa da Silva" userId="24e62a6a-a92d-4f90-9f09-efc0d92c1770" providerId="ADAL" clId="{B7BF07C5-55BE-4A63-A797-64077BB8B758}" dt="2026-06-09T00:18:34.513" v="223" actId="14100"/>
          <ac:spMkLst>
            <pc:docMk/>
            <pc:sldMk cId="2306077870" sldId="336"/>
            <ac:spMk id="6" creationId="{0A6CCABA-A564-B659-F453-BDBA6A1DD007}"/>
          </ac:spMkLst>
        </pc:spChg>
      </pc:sldChg>
      <pc:sldChg chg="addSp modSp add mod modNotesTx">
        <pc:chgData name="Vanderlei Barbosa da Silva" userId="24e62a6a-a92d-4f90-9f09-efc0d92c1770" providerId="ADAL" clId="{B7BF07C5-55BE-4A63-A797-64077BB8B758}" dt="2026-06-09T00:21:10.222" v="236" actId="14100"/>
        <pc:sldMkLst>
          <pc:docMk/>
          <pc:sldMk cId="344419398" sldId="337"/>
        </pc:sldMkLst>
        <pc:spChg chg="mod">
          <ac:chgData name="Vanderlei Barbosa da Silva" userId="24e62a6a-a92d-4f90-9f09-efc0d92c1770" providerId="ADAL" clId="{B7BF07C5-55BE-4A63-A797-64077BB8B758}" dt="2026-06-09T00:20:32.663" v="232" actId="1076"/>
          <ac:spMkLst>
            <pc:docMk/>
            <pc:sldMk cId="344419398" sldId="337"/>
            <ac:spMk id="3" creationId="{7B87D4F8-CABA-B64E-FF8B-47D03803B1E5}"/>
          </ac:spMkLst>
        </pc:spChg>
        <pc:spChg chg="add mod">
          <ac:chgData name="Vanderlei Barbosa da Silva" userId="24e62a6a-a92d-4f90-9f09-efc0d92c1770" providerId="ADAL" clId="{B7BF07C5-55BE-4A63-A797-64077BB8B758}" dt="2026-06-09T00:21:10.222" v="236" actId="14100"/>
          <ac:spMkLst>
            <pc:docMk/>
            <pc:sldMk cId="344419398" sldId="337"/>
            <ac:spMk id="5" creationId="{04BBC616-2D2C-6046-7823-2247242A38EB}"/>
          </ac:spMkLst>
        </pc:spChg>
        <pc:spChg chg="mod">
          <ac:chgData name="Vanderlei Barbosa da Silva" userId="24e62a6a-a92d-4f90-9f09-efc0d92c1770" providerId="ADAL" clId="{B7BF07C5-55BE-4A63-A797-64077BB8B758}" dt="2026-06-09T00:20:53.615" v="233" actId="1076"/>
          <ac:spMkLst>
            <pc:docMk/>
            <pc:sldMk cId="344419398" sldId="337"/>
            <ac:spMk id="6" creationId="{5843F9A5-8513-217B-1118-D03F61209571}"/>
          </ac:spMkLst>
        </pc:spChg>
      </pc:sldChg>
      <pc:sldChg chg="addSp modSp add mod modNotesTx">
        <pc:chgData name="Vanderlei Barbosa da Silva" userId="24e62a6a-a92d-4f90-9f09-efc0d92c1770" providerId="ADAL" clId="{B7BF07C5-55BE-4A63-A797-64077BB8B758}" dt="2026-06-09T00:23:01.174" v="245" actId="1035"/>
        <pc:sldMkLst>
          <pc:docMk/>
          <pc:sldMk cId="3517392578" sldId="338"/>
        </pc:sldMkLst>
        <pc:spChg chg="add mod">
          <ac:chgData name="Vanderlei Barbosa da Silva" userId="24e62a6a-a92d-4f90-9f09-efc0d92c1770" providerId="ADAL" clId="{B7BF07C5-55BE-4A63-A797-64077BB8B758}" dt="2026-06-09T00:23:01.174" v="245" actId="1035"/>
          <ac:spMkLst>
            <pc:docMk/>
            <pc:sldMk cId="3517392578" sldId="338"/>
            <ac:spMk id="7" creationId="{8201391D-5274-FF78-7ED7-F0657A6A7585}"/>
          </ac:spMkLst>
        </pc:spChg>
      </pc:sldChg>
      <pc:sldChg chg="addSp delSp modSp add mod">
        <pc:chgData name="Vanderlei Barbosa da Silva" userId="24e62a6a-a92d-4f90-9f09-efc0d92c1770" providerId="ADAL" clId="{B7BF07C5-55BE-4A63-A797-64077BB8B758}" dt="2026-06-09T00:32:40.017" v="269" actId="1076"/>
        <pc:sldMkLst>
          <pc:docMk/>
          <pc:sldMk cId="2295001194" sldId="339"/>
        </pc:sldMkLst>
        <pc:spChg chg="add mod">
          <ac:chgData name="Vanderlei Barbosa da Silva" userId="24e62a6a-a92d-4f90-9f09-efc0d92c1770" providerId="ADAL" clId="{B7BF07C5-55BE-4A63-A797-64077BB8B758}" dt="2026-06-09T00:32:14.765" v="264" actId="2085"/>
          <ac:spMkLst>
            <pc:docMk/>
            <pc:sldMk cId="2295001194" sldId="339"/>
            <ac:spMk id="7" creationId="{4D850EDF-2E4B-1156-3B7C-CBB2D33FBF54}"/>
          </ac:spMkLst>
        </pc:spChg>
        <pc:spChg chg="add mod">
          <ac:chgData name="Vanderlei Barbosa da Silva" userId="24e62a6a-a92d-4f90-9f09-efc0d92c1770" providerId="ADAL" clId="{B7BF07C5-55BE-4A63-A797-64077BB8B758}" dt="2026-06-09T00:32:40.017" v="269" actId="1076"/>
          <ac:spMkLst>
            <pc:docMk/>
            <pc:sldMk cId="2295001194" sldId="339"/>
            <ac:spMk id="9" creationId="{4A860FF2-AB8D-472D-D129-191824751716}"/>
          </ac:spMkLst>
        </pc:spChg>
        <pc:picChg chg="add mod">
          <ac:chgData name="Vanderlei Barbosa da Silva" userId="24e62a6a-a92d-4f90-9f09-efc0d92c1770" providerId="ADAL" clId="{B7BF07C5-55BE-4A63-A797-64077BB8B758}" dt="2026-06-09T00:32:04.902" v="263" actId="2085"/>
          <ac:picMkLst>
            <pc:docMk/>
            <pc:sldMk cId="2295001194" sldId="339"/>
            <ac:picMk id="4" creationId="{FD292AD6-C1AB-F9A6-D94A-749F09175FBC}"/>
          </ac:picMkLst>
        </pc:picChg>
      </pc:sldChg>
      <pc:sldChg chg="modSp add mod">
        <pc:chgData name="Vanderlei Barbosa da Silva" userId="24e62a6a-a92d-4f90-9f09-efc0d92c1770" providerId="ADAL" clId="{B7BF07C5-55BE-4A63-A797-64077BB8B758}" dt="2026-06-09T00:33:05.505" v="273" actId="14100"/>
        <pc:sldMkLst>
          <pc:docMk/>
          <pc:sldMk cId="1087436643" sldId="340"/>
        </pc:sldMkLst>
        <pc:spChg chg="mod">
          <ac:chgData name="Vanderlei Barbosa da Silva" userId="24e62a6a-a92d-4f90-9f09-efc0d92c1770" providerId="ADAL" clId="{B7BF07C5-55BE-4A63-A797-64077BB8B758}" dt="2026-06-09T00:33:05.505" v="273" actId="14100"/>
          <ac:spMkLst>
            <pc:docMk/>
            <pc:sldMk cId="1087436643" sldId="340"/>
            <ac:spMk id="7" creationId="{347C0B87-2D6D-BA54-CF02-959E62C0FE97}"/>
          </ac:spMkLst>
        </pc:spChg>
      </pc:sldChg>
      <pc:sldChg chg="modSp add mod">
        <pc:chgData name="Vanderlei Barbosa da Silva" userId="24e62a6a-a92d-4f90-9f09-efc0d92c1770" providerId="ADAL" clId="{B7BF07C5-55BE-4A63-A797-64077BB8B758}" dt="2026-06-09T00:33:31.800" v="275" actId="14100"/>
        <pc:sldMkLst>
          <pc:docMk/>
          <pc:sldMk cId="227488450" sldId="341"/>
        </pc:sldMkLst>
        <pc:spChg chg="mod">
          <ac:chgData name="Vanderlei Barbosa da Silva" userId="24e62a6a-a92d-4f90-9f09-efc0d92c1770" providerId="ADAL" clId="{B7BF07C5-55BE-4A63-A797-64077BB8B758}" dt="2026-06-09T00:33:31.800" v="275" actId="14100"/>
          <ac:spMkLst>
            <pc:docMk/>
            <pc:sldMk cId="227488450" sldId="341"/>
            <ac:spMk id="7" creationId="{5072C99F-D757-4E8D-CCF6-21E92839D327}"/>
          </ac:spMkLst>
        </pc:spChg>
      </pc:sldChg>
      <pc:sldChg chg="modSp add mod">
        <pc:chgData name="Vanderlei Barbosa da Silva" userId="24e62a6a-a92d-4f90-9f09-efc0d92c1770" providerId="ADAL" clId="{B7BF07C5-55BE-4A63-A797-64077BB8B758}" dt="2026-06-09T00:33:47.833" v="277" actId="14100"/>
        <pc:sldMkLst>
          <pc:docMk/>
          <pc:sldMk cId="3973576404" sldId="342"/>
        </pc:sldMkLst>
        <pc:spChg chg="mod">
          <ac:chgData name="Vanderlei Barbosa da Silva" userId="24e62a6a-a92d-4f90-9f09-efc0d92c1770" providerId="ADAL" clId="{B7BF07C5-55BE-4A63-A797-64077BB8B758}" dt="2026-06-09T00:33:47.833" v="277" actId="14100"/>
          <ac:spMkLst>
            <pc:docMk/>
            <pc:sldMk cId="3973576404" sldId="342"/>
            <ac:spMk id="7" creationId="{32BDCAE3-D0E5-80D2-F603-0303449C2DF5}"/>
          </ac:spMkLst>
        </pc:spChg>
      </pc:sldChg>
      <pc:sldChg chg="delSp modSp add mod">
        <pc:chgData name="Vanderlei Barbosa da Silva" userId="24e62a6a-a92d-4f90-9f09-efc0d92c1770" providerId="ADAL" clId="{B7BF07C5-55BE-4A63-A797-64077BB8B758}" dt="2026-06-09T00:34:18.464" v="282" actId="1076"/>
        <pc:sldMkLst>
          <pc:docMk/>
          <pc:sldMk cId="2965498340" sldId="343"/>
        </pc:sldMkLst>
        <pc:spChg chg="mod">
          <ac:chgData name="Vanderlei Barbosa da Silva" userId="24e62a6a-a92d-4f90-9f09-efc0d92c1770" providerId="ADAL" clId="{B7BF07C5-55BE-4A63-A797-64077BB8B758}" dt="2026-06-09T00:34:18.464" v="282" actId="1076"/>
          <ac:spMkLst>
            <pc:docMk/>
            <pc:sldMk cId="2965498340" sldId="343"/>
            <ac:spMk id="7" creationId="{44BB6993-71D1-B64C-F813-988EAF3DC966}"/>
          </ac:spMkLst>
        </pc:spChg>
      </pc:sldChg>
      <pc:sldChg chg="delSp add mod">
        <pc:chgData name="Vanderlei Barbosa da Silva" userId="24e62a6a-a92d-4f90-9f09-efc0d92c1770" providerId="ADAL" clId="{B7BF07C5-55BE-4A63-A797-64077BB8B758}" dt="2026-06-09T00:34:26.523" v="284" actId="478"/>
        <pc:sldMkLst>
          <pc:docMk/>
          <pc:sldMk cId="248471939" sldId="344"/>
        </pc:sldMkLst>
      </pc:sldChg>
      <pc:sldChg chg="addSp modSp add mod">
        <pc:chgData name="Vanderlei Barbosa da Silva" userId="24e62a6a-a92d-4f90-9f09-efc0d92c1770" providerId="ADAL" clId="{B7BF07C5-55BE-4A63-A797-64077BB8B758}" dt="2026-06-09T00:45:30.303" v="406" actId="113"/>
        <pc:sldMkLst>
          <pc:docMk/>
          <pc:sldMk cId="880376071" sldId="345"/>
        </pc:sldMkLst>
        <pc:spChg chg="mod">
          <ac:chgData name="Vanderlei Barbosa da Silva" userId="24e62a6a-a92d-4f90-9f09-efc0d92c1770" providerId="ADAL" clId="{B7BF07C5-55BE-4A63-A797-64077BB8B758}" dt="2026-06-09T00:45:26.735" v="405" actId="113"/>
          <ac:spMkLst>
            <pc:docMk/>
            <pc:sldMk cId="880376071" sldId="345"/>
            <ac:spMk id="5" creationId="{50699A5F-7121-CA3C-D049-4582216928BF}"/>
          </ac:spMkLst>
        </pc:spChg>
        <pc:spChg chg="add mod">
          <ac:chgData name="Vanderlei Barbosa da Silva" userId="24e62a6a-a92d-4f90-9f09-efc0d92c1770" providerId="ADAL" clId="{B7BF07C5-55BE-4A63-A797-64077BB8B758}" dt="2026-06-09T00:43:48.230" v="376" actId="14100"/>
          <ac:spMkLst>
            <pc:docMk/>
            <pc:sldMk cId="880376071" sldId="345"/>
            <ac:spMk id="6" creationId="{4A3939CD-360A-311B-6130-8E03B9EC8AFC}"/>
          </ac:spMkLst>
        </pc:spChg>
        <pc:spChg chg="add mod">
          <ac:chgData name="Vanderlei Barbosa da Silva" userId="24e62a6a-a92d-4f90-9f09-efc0d92c1770" providerId="ADAL" clId="{B7BF07C5-55BE-4A63-A797-64077BB8B758}" dt="2026-06-09T00:45:30.303" v="406" actId="113"/>
          <ac:spMkLst>
            <pc:docMk/>
            <pc:sldMk cId="880376071" sldId="345"/>
            <ac:spMk id="7" creationId="{ADFF06D6-F15D-98BF-952E-5EE1D1F5F478}"/>
          </ac:spMkLst>
        </pc:spChg>
      </pc:sldChg>
      <pc:sldChg chg="addSp modSp add mod modNotesTx">
        <pc:chgData name="Vanderlei Barbosa da Silva" userId="24e62a6a-a92d-4f90-9f09-efc0d92c1770" providerId="ADAL" clId="{B7BF07C5-55BE-4A63-A797-64077BB8B758}" dt="2026-06-09T00:48:06.437" v="421" actId="6549"/>
        <pc:sldMkLst>
          <pc:docMk/>
          <pc:sldMk cId="2553994211" sldId="346"/>
        </pc:sldMkLst>
        <pc:spChg chg="mod">
          <ac:chgData name="Vanderlei Barbosa da Silva" userId="24e62a6a-a92d-4f90-9f09-efc0d92c1770" providerId="ADAL" clId="{B7BF07C5-55BE-4A63-A797-64077BB8B758}" dt="2026-06-09T00:45:35.709" v="407" actId="113"/>
          <ac:spMkLst>
            <pc:docMk/>
            <pc:sldMk cId="2553994211" sldId="346"/>
            <ac:spMk id="5" creationId="{7854B076-80A1-1A83-C095-8DC46031CA88}"/>
          </ac:spMkLst>
        </pc:spChg>
        <pc:spChg chg="mod">
          <ac:chgData name="Vanderlei Barbosa da Silva" userId="24e62a6a-a92d-4f90-9f09-efc0d92c1770" providerId="ADAL" clId="{B7BF07C5-55BE-4A63-A797-64077BB8B758}" dt="2026-06-09T00:45:41.127" v="408" actId="113"/>
          <ac:spMkLst>
            <pc:docMk/>
            <pc:sldMk cId="2553994211" sldId="346"/>
            <ac:spMk id="7" creationId="{3C88D56E-8CDA-EB41-7393-CA425E933074}"/>
          </ac:spMkLst>
        </pc:spChg>
        <pc:spChg chg="add mod">
          <ac:chgData name="Vanderlei Barbosa da Silva" userId="24e62a6a-a92d-4f90-9f09-efc0d92c1770" providerId="ADAL" clId="{B7BF07C5-55BE-4A63-A797-64077BB8B758}" dt="2026-06-09T00:44:57.082" v="403"/>
          <ac:spMkLst>
            <pc:docMk/>
            <pc:sldMk cId="2553994211" sldId="346"/>
            <ac:spMk id="8" creationId="{03B97F2F-4D4A-AC35-226A-B60F17D4DA8A}"/>
          </ac:spMkLst>
        </pc:spChg>
        <pc:spChg chg="add mod">
          <ac:chgData name="Vanderlei Barbosa da Silva" userId="24e62a6a-a92d-4f90-9f09-efc0d92c1770" providerId="ADAL" clId="{B7BF07C5-55BE-4A63-A797-64077BB8B758}" dt="2026-06-09T00:45:46.606" v="409" actId="113"/>
          <ac:spMkLst>
            <pc:docMk/>
            <pc:sldMk cId="2553994211" sldId="346"/>
            <ac:spMk id="9" creationId="{587C7B6D-BAD7-31B4-EEBC-D6353E44D597}"/>
          </ac:spMkLst>
        </pc:spChg>
      </pc:sldChg>
      <pc:sldChg chg="delSp add mod modTransition modAnim modNotesTx">
        <pc:chgData name="Vanderlei Barbosa da Silva" userId="24e62a6a-a92d-4f90-9f09-efc0d92c1770" providerId="ADAL" clId="{B7BF07C5-55BE-4A63-A797-64077BB8B758}" dt="2026-06-09T01:46:16.993" v="526" actId="20577"/>
        <pc:sldMkLst>
          <pc:docMk/>
          <pc:sldMk cId="716722756" sldId="347"/>
        </pc:sldMkLst>
      </pc:sldChg>
      <pc:sldChg chg="delSp add mod modNotesTx">
        <pc:chgData name="Vanderlei Barbosa da Silva" userId="24e62a6a-a92d-4f90-9f09-efc0d92c1770" providerId="ADAL" clId="{B7BF07C5-55BE-4A63-A797-64077BB8B758}" dt="2026-06-09T01:49:24.185" v="534" actId="20577"/>
        <pc:sldMkLst>
          <pc:docMk/>
          <pc:sldMk cId="399034805" sldId="348"/>
        </pc:sldMkLst>
      </pc:sldChg>
      <pc:sldChg chg="add modNotesTx">
        <pc:chgData name="Vanderlei Barbosa da Silva" userId="24e62a6a-a92d-4f90-9f09-efc0d92c1770" providerId="ADAL" clId="{B7BF07C5-55BE-4A63-A797-64077BB8B758}" dt="2026-06-09T01:51:46.305" v="543" actId="20577"/>
        <pc:sldMkLst>
          <pc:docMk/>
          <pc:sldMk cId="358743533" sldId="349"/>
        </pc:sldMkLst>
      </pc:sldChg>
      <pc:sldChg chg="addSp delSp modSp add mod modNotesTx">
        <pc:chgData name="Vanderlei Barbosa da Silva" userId="24e62a6a-a92d-4f90-9f09-efc0d92c1770" providerId="ADAL" clId="{B7BF07C5-55BE-4A63-A797-64077BB8B758}" dt="2026-06-09T02:19:38.858" v="758" actId="20577"/>
        <pc:sldMkLst>
          <pc:docMk/>
          <pc:sldMk cId="3466443467" sldId="350"/>
        </pc:sldMkLst>
        <pc:spChg chg="mod">
          <ac:chgData name="Vanderlei Barbosa da Silva" userId="24e62a6a-a92d-4f90-9f09-efc0d92c1770" providerId="ADAL" clId="{B7BF07C5-55BE-4A63-A797-64077BB8B758}" dt="2026-06-09T02:18:09.080" v="745" actId="20577"/>
          <ac:spMkLst>
            <pc:docMk/>
            <pc:sldMk cId="3466443467" sldId="350"/>
            <ac:spMk id="2" creationId="{03B37C23-A520-7906-09AE-599D93B632FE}"/>
          </ac:spMkLst>
        </pc:spChg>
        <pc:picChg chg="add mod">
          <ac:chgData name="Vanderlei Barbosa da Silva" userId="24e62a6a-a92d-4f90-9f09-efc0d92c1770" providerId="ADAL" clId="{B7BF07C5-55BE-4A63-A797-64077BB8B758}" dt="2026-06-09T02:16:17.258" v="680" actId="1076"/>
          <ac:picMkLst>
            <pc:docMk/>
            <pc:sldMk cId="3466443467" sldId="350"/>
            <ac:picMk id="5" creationId="{27970D97-E3D0-513F-C866-FB6F4242ECB5}"/>
          </ac:picMkLst>
        </pc:picChg>
      </pc:sldChg>
      <pc:sldChg chg="addSp delSp modSp add mod modNotesTx">
        <pc:chgData name="Vanderlei Barbosa da Silva" userId="24e62a6a-a92d-4f90-9f09-efc0d92c1770" providerId="ADAL" clId="{B7BF07C5-55BE-4A63-A797-64077BB8B758}" dt="2026-06-09T02:28:55.730" v="835" actId="20577"/>
        <pc:sldMkLst>
          <pc:docMk/>
          <pc:sldMk cId="834736343" sldId="351"/>
        </pc:sldMkLst>
        <pc:spChg chg="mod">
          <ac:chgData name="Vanderlei Barbosa da Silva" userId="24e62a6a-a92d-4f90-9f09-efc0d92c1770" providerId="ADAL" clId="{B7BF07C5-55BE-4A63-A797-64077BB8B758}" dt="2026-06-09T02:22:29.282" v="798" actId="20577"/>
          <ac:spMkLst>
            <pc:docMk/>
            <pc:sldMk cId="834736343" sldId="351"/>
            <ac:spMk id="2" creationId="{C03DB1DC-F0EF-3B15-C608-74C4A0F0162D}"/>
          </ac:spMkLst>
        </pc:spChg>
        <pc:graphicFrameChg chg="add mod modGraphic">
          <ac:chgData name="Vanderlei Barbosa da Silva" userId="24e62a6a-a92d-4f90-9f09-efc0d92c1770" providerId="ADAL" clId="{B7BF07C5-55BE-4A63-A797-64077BB8B758}" dt="2026-06-09T02:27:50.088" v="824" actId="14100"/>
          <ac:graphicFrameMkLst>
            <pc:docMk/>
            <pc:sldMk cId="834736343" sldId="351"/>
            <ac:graphicFrameMk id="7" creationId="{FD682DF2-FDC2-7D6F-91F0-A8E43340234D}"/>
          </ac:graphicFrameMkLst>
        </pc:graphicFrameChg>
      </pc:sldChg>
      <pc:sldChg chg="addSp delSp modSp add mod">
        <pc:chgData name="Vanderlei Barbosa da Silva" userId="24e62a6a-a92d-4f90-9f09-efc0d92c1770" providerId="ADAL" clId="{B7BF07C5-55BE-4A63-A797-64077BB8B758}" dt="2026-06-09T12:55:30.591" v="903" actId="1076"/>
        <pc:sldMkLst>
          <pc:docMk/>
          <pc:sldMk cId="1724249474" sldId="352"/>
        </pc:sldMkLst>
        <pc:spChg chg="mod">
          <ac:chgData name="Vanderlei Barbosa da Silva" userId="24e62a6a-a92d-4f90-9f09-efc0d92c1770" providerId="ADAL" clId="{B7BF07C5-55BE-4A63-A797-64077BB8B758}" dt="2026-06-09T03:01:46.582" v="895" actId="20577"/>
          <ac:spMkLst>
            <pc:docMk/>
            <pc:sldMk cId="1724249474" sldId="352"/>
            <ac:spMk id="2" creationId="{F3E115AB-0E6A-E75B-7042-9D525A9CC0AF}"/>
          </ac:spMkLst>
        </pc:spChg>
        <pc:picChg chg="add mod">
          <ac:chgData name="Vanderlei Barbosa da Silva" userId="24e62a6a-a92d-4f90-9f09-efc0d92c1770" providerId="ADAL" clId="{B7BF07C5-55BE-4A63-A797-64077BB8B758}" dt="2026-06-09T12:55:30.591" v="903" actId="1076"/>
          <ac:picMkLst>
            <pc:docMk/>
            <pc:sldMk cId="1724249474" sldId="352"/>
            <ac:picMk id="8" creationId="{1E756564-1C87-CE0D-CAD0-FFCB25C8C221}"/>
          </ac:picMkLst>
        </pc:picChg>
      </pc:sldChg>
    </pc:docChg>
  </pc:docChgLst>
  <pc:docChgLst>
    <pc:chgData name="Vanderlei Barbosa da Silva" userId="24e62a6a-a92d-4f90-9f09-efc0d92c1770" providerId="ADAL" clId="{26A2EC59-7300-4526-A9AE-3A4D8AA35A8E}"/>
    <pc:docChg chg="undo custSel delSld modSld modSection">
      <pc:chgData name="Vanderlei Barbosa da Silva" userId="24e62a6a-a92d-4f90-9f09-efc0d92c1770" providerId="ADAL" clId="{26A2EC59-7300-4526-A9AE-3A4D8AA35A8E}" dt="2026-06-09T17:00:32.751" v="138" actId="6549"/>
      <pc:docMkLst>
        <pc:docMk/>
      </pc:docMkLst>
      <pc:sldChg chg="modNotesTx">
        <pc:chgData name="Vanderlei Barbosa da Silva" userId="24e62a6a-a92d-4f90-9f09-efc0d92c1770" providerId="ADAL" clId="{26A2EC59-7300-4526-A9AE-3A4D8AA35A8E}" dt="2026-06-09T16:41:33.083" v="4" actId="20577"/>
        <pc:sldMkLst>
          <pc:docMk/>
          <pc:sldMk cId="4105379344" sldId="280"/>
        </pc:sldMkLst>
      </pc:sldChg>
      <pc:sldChg chg="modNotesTx">
        <pc:chgData name="Vanderlei Barbosa da Silva" userId="24e62a6a-a92d-4f90-9f09-efc0d92c1770" providerId="ADAL" clId="{26A2EC59-7300-4526-A9AE-3A4D8AA35A8E}" dt="2026-06-09T16:46:21.672" v="64" actId="20577"/>
        <pc:sldMkLst>
          <pc:docMk/>
          <pc:sldMk cId="3477721612" sldId="301"/>
        </pc:sldMkLst>
      </pc:sldChg>
      <pc:sldChg chg="modNotesTx">
        <pc:chgData name="Vanderlei Barbosa da Silva" userId="24e62a6a-a92d-4f90-9f09-efc0d92c1770" providerId="ADAL" clId="{26A2EC59-7300-4526-A9AE-3A4D8AA35A8E}" dt="2026-06-09T16:50:40.331" v="86" actId="20577"/>
        <pc:sldMkLst>
          <pc:docMk/>
          <pc:sldMk cId="1234460983" sldId="302"/>
        </pc:sldMkLst>
      </pc:sldChg>
      <pc:sldChg chg="modNotesTx">
        <pc:chgData name="Vanderlei Barbosa da Silva" userId="24e62a6a-a92d-4f90-9f09-efc0d92c1770" providerId="ADAL" clId="{26A2EC59-7300-4526-A9AE-3A4D8AA35A8E}" dt="2026-06-09T16:53:03.296" v="87" actId="6549"/>
        <pc:sldMkLst>
          <pc:docMk/>
          <pc:sldMk cId="3989337020" sldId="310"/>
        </pc:sldMkLst>
      </pc:sldChg>
      <pc:sldChg chg="modNotesTx">
        <pc:chgData name="Vanderlei Barbosa da Silva" userId="24e62a6a-a92d-4f90-9f09-efc0d92c1770" providerId="ADAL" clId="{26A2EC59-7300-4526-A9AE-3A4D8AA35A8E}" dt="2026-06-09T16:53:56.131" v="91" actId="20577"/>
        <pc:sldMkLst>
          <pc:docMk/>
          <pc:sldMk cId="2518470170" sldId="311"/>
        </pc:sldMkLst>
      </pc:sldChg>
      <pc:sldChg chg="modNotesTx">
        <pc:chgData name="Vanderlei Barbosa da Silva" userId="24e62a6a-a92d-4f90-9f09-efc0d92c1770" providerId="ADAL" clId="{26A2EC59-7300-4526-A9AE-3A4D8AA35A8E}" dt="2026-06-09T17:00:32.751" v="138" actId="6549"/>
        <pc:sldMkLst>
          <pc:docMk/>
          <pc:sldMk cId="2753903397" sldId="312"/>
        </pc:sldMkLst>
      </pc:sldChg>
      <pc:sldChg chg="modNotesTx">
        <pc:chgData name="Vanderlei Barbosa da Silva" userId="24e62a6a-a92d-4f90-9f09-efc0d92c1770" providerId="ADAL" clId="{26A2EC59-7300-4526-A9AE-3A4D8AA35A8E}" dt="2026-06-09T16:45:53.935" v="57" actId="6549"/>
        <pc:sldMkLst>
          <pc:docMk/>
          <pc:sldMk cId="2588760046" sldId="332"/>
        </pc:sldMkLst>
      </pc:sldChg>
      <pc:sldChg chg="modNotesTx">
        <pc:chgData name="Vanderlei Barbosa da Silva" userId="24e62a6a-a92d-4f90-9f09-efc0d92c1770" providerId="ADAL" clId="{26A2EC59-7300-4526-A9AE-3A4D8AA35A8E}" dt="2026-06-09T16:44:31.010" v="48" actId="20577"/>
        <pc:sldMkLst>
          <pc:docMk/>
          <pc:sldMk cId="2195579995" sldId="333"/>
        </pc:sldMkLst>
      </pc:sldChg>
      <pc:sldChg chg="modNotesTx">
        <pc:chgData name="Vanderlei Barbosa da Silva" userId="24e62a6a-a92d-4f90-9f09-efc0d92c1770" providerId="ADAL" clId="{26A2EC59-7300-4526-A9AE-3A4D8AA35A8E}" dt="2026-06-09T16:57:24.218" v="104" actId="20577"/>
        <pc:sldMkLst>
          <pc:docMk/>
          <pc:sldMk cId="2271119202" sldId="334"/>
        </pc:sldMkLst>
      </pc:sldChg>
      <pc:sldChg chg="modNotesTx">
        <pc:chgData name="Vanderlei Barbosa da Silva" userId="24e62a6a-a92d-4f90-9f09-efc0d92c1770" providerId="ADAL" clId="{26A2EC59-7300-4526-A9AE-3A4D8AA35A8E}" dt="2026-06-09T16:57:41.183" v="108" actId="20577"/>
        <pc:sldMkLst>
          <pc:docMk/>
          <pc:sldMk cId="1160404001" sldId="335"/>
        </pc:sldMkLst>
      </pc:sldChg>
      <pc:sldChg chg="modNotesTx">
        <pc:chgData name="Vanderlei Barbosa da Silva" userId="24e62a6a-a92d-4f90-9f09-efc0d92c1770" providerId="ADAL" clId="{26A2EC59-7300-4526-A9AE-3A4D8AA35A8E}" dt="2026-06-09T16:58:12.659" v="120" actId="6549"/>
        <pc:sldMkLst>
          <pc:docMk/>
          <pc:sldMk cId="2306077870" sldId="336"/>
        </pc:sldMkLst>
      </pc:sldChg>
    </pc:docChg>
  </pc:docChgLst>
</pc:chgInfo>
</file>

<file path=ppt/comments/modernComment_100_E097E73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73E03D-DC4A-48E0-9AB2-B5CF1C3D71F7}" authorId="{EBE20E93-A1BB-F6E1-9F9B-1B60787748C4}" created="2026-06-07T20:21:2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68051510" sldId="256"/>
      <ac:picMk id="5" creationId="{8A30E2B3-F0B9-3248-BAE6-F1209292D2C1}"/>
    </ac:deMkLst>
    <p188:txBody>
      <a:bodyPr/>
      <a:lstStyle/>
      <a:p>
        <a:r>
          <a:rPr lang="pt-BR"/>
          <a:t>O que você vai falar: "Boa tarde aos ilustres membros da banca. É com grande satisfação que apresento o meu projeto de dissertação, focado em decodificar o sentimento da mídia financeira para antecipar a direção e a volatilidade da PETR4."</a:t>
        </a:r>
      </a:p>
    </p188:txBody>
  </p188:cm>
</p188:cmLst>
</file>

<file path=ppt/comments/modernComment_118_F4B31E1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211D-DD02-488F-91A7-57AE743F0533}" authorId="{EBE20E93-A1BB-F6E1-9F9B-1B60787748C4}" created="2026-06-07T20:22:49.56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105379344" sldId="280"/>
      <ac:spMk id="3" creationId="{6839AE1B-246E-532F-BF47-E0660174E08B}"/>
    </ac:deMkLst>
    <p188:txBody>
      <a:bodyPr/>
      <a:lstStyle/>
      <a:p>
        <a:r>
          <a:rPr lang="pt-BR"/>
          <a:t>"Para otimizar o nosso tempo, estruturei esta apresentação seguindo o rigor do nosso documento escrito. Passaremos pela problematização e hipóteses, avançaremos para a revisão da literatura e, na segunda metade, detalharemos a nossa arquitetura de Data Fusion e os resultados preliminares."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C85A01-7F43-DF4B-A56A-D56FBC29A924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973500-FE24-774E-8932-3833A078E1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15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Boa tarde aos ilustres membros da banca. É com grande satisfação que apresento o meu projeto de dissertação, focado em decodificar o sentimento da mídia financeira para antecipar a direção e a volatilidade da PETR4.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33982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1AED1-8309-D999-0F13-E55F50E6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70E48F7-D390-BB36-DD09-AB396925A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B999DAC-6A58-472F-EDEB-59E9998F5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Professores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,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observem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a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anatomia do choque informacional na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PETR4. </a:t>
            </a:r>
          </a:p>
          <a:p>
            <a:endParaRPr lang="pt-BR" b="0" i="1" kern="1200" dirty="0">
              <a:solidFill>
                <a:srgbClr val="303030"/>
              </a:solidFill>
              <a:effectLst/>
              <a:highlight>
                <a:srgbClr val="FFFFFF"/>
              </a:highlight>
            </a:endParaRPr>
          </a:p>
          <a:p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Quando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a denúncia da Lava Jato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atinge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a mídia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, o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investidor age guiado pelo Viés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de Negatividade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. </a:t>
            </a:r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A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razão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 desaparece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,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o preço desaba abruptamente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e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a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volatilidade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 explode. </a:t>
            </a:r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Modelos estáticos ficam cegos diante dessa anomalia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. </a:t>
            </a:r>
          </a:p>
          <a:p>
            <a:endParaRPr lang="pt-BR" b="0" i="1" kern="1200" dirty="0">
              <a:solidFill>
                <a:srgbClr val="303030"/>
              </a:solidFill>
              <a:effectLst/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É exatamente para prever esse ponto de inflexão que a nossa arquitetura de Data Fusion foi construída.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4215B7-BCD7-1F37-EB1A-088E351D1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46064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"Professores, a literatura clássica já nos diz que notícias impactam os preços. </a:t>
            </a:r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O problema é que a maioria dos sistemas preditivos do passado tentava ler essas notícias contando palavras isoladas, esbarrando na ironia e na complexidade do nosso idioma, além de diluir a análise no IBOVESPA inteiro.</a:t>
            </a:r>
            <a:endParaRPr lang="pt-BR" dirty="0"/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Portanto, a nossa Questão Central não é perguntar SE a notícia move o mercado, mas sim COMO nós podemos prever a direção e a volatilidade da PETR4 utilizando o atual estado da arte da Inteligência Artificial. </a:t>
            </a:r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Nós queremos testar se arquiteturas avançadas, como os Transformers e o </a:t>
            </a:r>
            <a:r>
              <a:rPr lang="pt-BR" i="1" dirty="0" err="1">
                <a:solidFill>
                  <a:srgbClr val="303030"/>
                </a:solidFill>
                <a:highlight>
                  <a:srgbClr val="FFFFFF"/>
                </a:highlight>
              </a:rPr>
              <a:t>BERTimbau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, conseguem ler o noticiário do Valor Econômico e nos dar uma vantagem preditiva.</a:t>
            </a:r>
            <a:endParaRPr lang="pt-BR" dirty="0"/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Para desdobrar essa questão central, investigamos três questões secundárias: primeiro, se a máquina consegue prever a direção de Alta ou Baixa; segundo, se a notícia consegue antecipar o agrupamento de risco e volatilidade antes dele acontecer; e, terceiro, se o mercado penaliza a PETR4 de forma assimétrica quando a notícia é negativa, o que chamamos nas Finanças Comportamentais de Viés de Negatividade."</a:t>
            </a:r>
            <a:endParaRPr lang="pt-BR" dirty="0"/>
          </a:p>
          <a:p>
            <a:endParaRPr lang="pt-BR" i="1" dirty="0">
              <a:ea typeface="Calibri"/>
              <a:cs typeface="Calibri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0569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Nosso Objetivo Geral é construir uma arquitetura de Data Fusion que una o sentimento extraído de notícias com algoritmos preditivos para antecipar a direção e a volatilidade da PETR4. 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que isso seja possível, nossos objetivos específicos englobam: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1. a coleta e higienização de um Big Data do Valor Econômico;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2. a extração do índice de polaridade (otimismo/pessimismo) via modelo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BERTimbau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3. o isolamento da inércia do risco via modelo econométrico GARCH(1,1);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4. e a aplicação de classificadores não-lineares, validados rigorosamente pelo protocolo Walk-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Forward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impedir qualquer vazamento de dados do futuro.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4133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21042-85A6-F6EA-F0F4-CEF306CCB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A1F483B-E2CF-9D59-C83C-2426D3A6A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1A6A614-6F8F-19E9-1A38-70DC36123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Nossa pesquisa se ancora em 4 hipóteses. </a:t>
            </a:r>
            <a:b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H1: O texto afeta o retorno de forma direcional. 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H2: O texto atua como previsor antecipado da volatilidade. 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H3: As notícias pessimistas geram ineficiências mais agudas que as otimistas (Viés de Negatividade). E a nossa hipótese de controle, 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H4: se desalinharmos as datas das notícias (imputação estocástica), os modelos devem se comportar como um passeio aleatório, cravando 50% de acurácia, provando que não há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9BBA3A-A8F6-D569-F73E-93C3ECF8D8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86630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69BC7-0249-3D0C-8F7B-E972E0D82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5B78F0A-C150-A709-1742-A04349CE0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2A5C02-CDB4-CA6F-F919-FFB5ED057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Professores, a nossa contribuição principal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transcende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a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teoria. </a:t>
            </a:r>
            <a:endParaRPr lang="pt-BR" dirty="0">
              <a:solidFill>
                <a:srgbClr val="000000"/>
              </a:solidFill>
            </a:endParaRPr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Nós entregamos à comunidade científica um </a:t>
            </a:r>
            <a:r>
              <a:rPr lang="pt-BR" b="1" i="1" dirty="0">
                <a:solidFill>
                  <a:srgbClr val="303030"/>
                </a:solidFill>
                <a:highlight>
                  <a:srgbClr val="FFFFFF"/>
                </a:highlight>
              </a:rPr>
              <a:t>Framework Preditivo </a:t>
            </a:r>
            <a:r>
              <a:rPr lang="pt-BR" b="1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de Data Fusion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. O que isso significa na prática? </a:t>
            </a:r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Significa que nós construímos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 e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validamos um pipeline computacional capaz de ingerir as notícias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do Valor Econômico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 diariamente, cruzar essa semântica com a volatilidade econométrica do GARCH, e fornecer aos algoritmos de Machine Learning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o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sinal claro se a PETR4 tem maior probabilidade de alta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ou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de baixa no pregão seguinte.</a:t>
            </a:r>
          </a:p>
          <a:p>
            <a:endParaRPr lang="pt-BR" i="1" dirty="0">
              <a:solidFill>
                <a:srgbClr val="303030"/>
              </a:solidFill>
              <a:highlight>
                <a:srgbClr val="FFFFFF"/>
              </a:highlight>
            </a:endParaRPr>
          </a:p>
          <a:p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 Não é apenas uma análise </a:t>
            </a:r>
            <a:r>
              <a:rPr lang="pt-BR" b="0" i="1" kern="1200" dirty="0">
                <a:solidFill>
                  <a:srgbClr val="303030"/>
                </a:solidFill>
                <a:effectLst/>
                <a:highlight>
                  <a:srgbClr val="FFFFFF"/>
                </a:highlight>
              </a:rPr>
              <a:t>do </a:t>
            </a:r>
            <a:r>
              <a:rPr lang="pt-BR" i="1" dirty="0">
                <a:solidFill>
                  <a:srgbClr val="303030"/>
                </a:solidFill>
                <a:highlight>
                  <a:srgbClr val="FFFFFF"/>
                </a:highlight>
              </a:rPr>
              <a:t>passado, é um framework arquitetural validado para uso preditivo diário no mercado brasileiro.</a:t>
            </a:r>
            <a:endParaRPr lang="pt-BR" dirty="0">
              <a:ea typeface="Calibri"/>
              <a:cs typeface="Calibri"/>
            </a:endParaRPr>
          </a:p>
          <a:p>
            <a:br>
              <a:rPr lang="pt-BR" dirty="0"/>
            </a:b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2C54395-07B6-C685-7AF3-7185432C0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15805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A14D8-7651-932E-621A-DBF0DF9B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632E9C4-259B-EF49-5C3F-5CCD8E0D2C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DFF1A9C-0765-928F-4B5A-77691386F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Preenchemos a lacuna ao abandonar as médias do IBOVESPA para focar cirurgicamente na PETR4, criando um ecossistema de Data Fusion que o estado da arte ainda não havia unificado no Brasil."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8722551-488B-934B-354B-78D61CE99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73614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EBBA8-95FE-7190-8C19-4BBE90E25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58BC06E-3A4A-BEF5-48D0-4B4E76CF6C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B0496B-5902-9EDB-7363-5FE9DDFFD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D8B64F-81E2-B051-549F-782FC943E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8879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228DC-2AB7-3538-C141-0F456505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8F794ED-C169-EF39-731A-1D465F242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1E1AD87-6027-B920-93E5-291430BDC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030CF3D-7CAD-6A01-F2BB-25D05C388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05222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CE52-5AE2-F15D-B6B1-1ABB37E49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333ADE-85F3-1E4D-9961-1C3B63B707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A3814F-EA1A-5334-0DF1-FD978955B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4EAA8-D8A7-FC70-D316-C581E62CA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92011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Professores, apresento agora o diagrama da nossa Arquitetura de Data Fusion, que é o verdadeiro motor desta dissertação. 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nosso objetivo foi construir um pipeline computacional capaz de ingerir dados caóticos, purificá-los e prever a direção da PETR4. Nós dividimos essa arquitetura em passos lógicos, e vou explicar o porquê de cada escolha tecnológica que fizemos.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2897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otimizar o nosso tempo, estruturei esta apresentação seguindo o rigor do nosso documento escrito. 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Passaremos pela problematização e hipóteses, avançaremos para a revisão da literatura e, na segunda metade, detalharemos a nossa arquitetura de Data Fusion e os resultados preliminares.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18663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84F89-A1E4-493C-3194-A8FA714AF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6FDEB6C-CF90-9DAA-27DC-0EF711CF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674DFE-75A1-6688-BD36-021D2EEA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Professores, o primeiro grande resultado do nosso laboratório quebra o mito de que 'toda notícia move o mercado’.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nosso robô capturou mais de 9 mil manchetes do Valor Econômico.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nós jogássemos tudo isso no algoritmo, a máquina enlouqueceria com o ruído branco.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Nós utilizamos o modelo GARCH como um filtro de relevância.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resultado empírico demonstrou que expressivos 85,6% do fluxo jornalístico não deslocaram o preço da PETR4 de forma anormal.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Apenas 14,4% das notícias coincidiram com choques reais de volatilidade, onde o estresse superou o percentil 75 da nossa distribuição.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Isso prova à banca que a nossa máquina não lê tudo cegamente; ela foca exclusivamente nos eventos que causam anomalia de precificação."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E44C879-0EA4-ED92-D8C7-57778C8B51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3718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8A665-CEC8-31FF-ABC9-4420B718D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AFCF42D-5F30-8DCD-EED6-CB6A5C990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C163ADD-FABB-C00C-D1C5-EA892ABA4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você vai falar (Roteiro de Autoridade):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"Finalmente, apresento o desempenho preliminar dos nossos classificadores não-lineares, SVM e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encarregados de prever o movimento de alta ou baixa da PETR4 no pregão seguinte.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datas de publicação originais foram imputadas de forma estocástica (aleatória) para testar a nossa engenharia de dados, nós introduzimos intencionalmente um descompasso entre a notícia e o mercado.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ser alimentada com esse ruído, observem a tabela: a máquina apresentou uma acurácia próxima a 50% e um AUC-ROC em torno de 0.50.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Ciência de Dados pura isso parece insuficiente, mas em Finanças Quantitativas esta é a prova absoluta de que o nosso algoritmo é íntegro.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Nós provamos a Hipótese 4. Na ausência do evento causal genuíno, a máquina não tentou decorar o passado; ela se comportou como um Passeio Aleatório (Random Walk).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protocolo Walk-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Forward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impediu qualquer vazamento de dados (Data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Leakage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ou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</a:t>
            </a:r>
          </a:p>
          <a:p>
            <a:endParaRPr lang="pt-BR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restabelecermos o alinhamento de alta frequência das notícias na próxima etapa da pesquisa, nossa expectativa é que a acurácia direcional atinja a faixa do estado da arte, entre 56% e 60%."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E5161C-0282-2A1D-31FE-7ECA9859A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96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DC27F-9972-AE56-C47D-F986767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F36F60-0217-7D7E-6696-F27B7D9A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E8BA4F-1444-6FC0-838F-C54F855E8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você vai falar: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"Neste cronograma, já vencemos a extração bruta e a validação laboratorial (Qualificação). Os próximos meses até a defesa em março de 2027 serão focados no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Tuning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a nova base temporal. O meu laboratório já está operacional e reproduzível. Muito obrigado pela atenção, devolvo a palavra ao meu orientador e à ilustre banca."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29FF77-350C-956F-D493-AAB111D50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00852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57696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472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53237F-C3FC-4846-88E0-7F628DC7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0B2D18-5336-3F45-A5DB-1609F1E58D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0B02B42-5A8D-FF47-BDF8-AE1E10AEB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9E43636-7209-6E4C-81DD-C079EDAC7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8ACC670-E9EE-C9BF-9113-43D54ED59BCC}"/>
              </a:ext>
            </a:extLst>
          </p:cNvPr>
          <p:cNvSpPr/>
          <p:nvPr userDrawn="1"/>
        </p:nvSpPr>
        <p:spPr>
          <a:xfrm>
            <a:off x="1540565" y="6281530"/>
            <a:ext cx="1649896" cy="4399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061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07557D-2F6C-584C-B08B-7202F22D0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0E6E12D-21CE-3E4E-93DC-0566C4A50E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00FD01-9FAB-5242-8832-DFD74E4EF6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4022E12-6641-AD45-9AD7-63AA2BC2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E509A8-81B3-BC42-A17A-03D5B4E67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4683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71B042-FA96-0046-AC8F-02FB6106E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2A7980-B797-0340-AFC1-3BA1AEFB33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3B2D33B-7689-BB49-AF3C-FBA30A7DD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0496422-2012-BF45-9BF9-9F03B98994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12A5800-465D-6343-9B9F-E5074AAA6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320169E-FDBE-2642-B1C6-F396D6733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7046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0568DE-CA90-8943-8E3B-6BCA9A7D5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28A109C-4E7E-C249-8663-BA034C92C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DA00E26-49F5-7C46-9807-E710126D9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E89714D-340E-1042-9716-75122060B6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8E22C24-80CC-B64D-958F-861C6E932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7CC4025-A95C-EE46-93C7-113D1DB5DB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9DDF7E4-26B3-5640-B02E-5A059C246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282619A-E153-F64D-8A0A-90ADB5261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1644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6886D7-2029-3849-B2AF-D4254BD8F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56AD631-D12E-0A43-A4B2-34BD5F7932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B8894AF-CD21-A54A-B1AC-F22EA77D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8E2A004-569A-A846-96B5-268E84C76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972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BF9C40E-F3D8-174D-8897-E1286A7FD8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BAF9C72-0176-2D49-A135-74D9BB1B3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B7EBAD3-7AFF-1446-9614-B1000EEB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247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8B91D1-933F-D442-96F2-7E417F637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645735-AA08-F84B-9AB6-9157ABFA9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17CD056-3CFC-B048-931E-78B888DCF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FAC4021-4831-AE4A-A75A-DEAEB5A403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7017886-1037-0F49-A3A4-76BA3091A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C1A5089-28A6-524F-B561-0E2F5CFFC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6065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331552-DD45-F849-A82E-F03ECC12F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B5D5D9D-9878-5649-A589-7F11E93050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3C43375-1CF7-704D-B9D3-077EE12578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8F0DC97-29D9-3741-A824-D0AF639F0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9CC0792-30AF-1549-B8B6-0732B7AE3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1514C85-FE9E-B44D-8558-BF8DCF40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5953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E5851E-50B9-204A-A492-C895127D6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6BC6D9D-4803-9640-B977-C6758177C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32B5CE2-B28F-414A-A36D-9FEFEDB605C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0ECE862-E922-594C-8E24-3C3D2282E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6BB98F9-4304-7A4D-A8AC-5993D6E84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52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D91FE92-8621-A249-A763-1AB686BE22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6F2C073-A6A6-5544-B957-9E9641579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17AEB8-8067-D943-B83B-1AC63A2EE7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EF7C2E-9C27-114D-BE41-5B2070619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33FF784-4316-8748-B63B-6CDF55797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02219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Padrão do plano de fundo&#10;&#10;Descrição gerada automaticamente com confiança baixa">
            <a:extLst>
              <a:ext uri="{FF2B5EF4-FFF2-40B4-BE49-F238E27FC236}">
                <a16:creationId xmlns:a16="http://schemas.microsoft.com/office/drawing/2014/main" id="{DA6EB240-15CE-7D46-A968-108AB86B7A5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 descr="Uma imagem contendo Logotipo&#10;&#10;Descrição gerada automaticamente">
            <a:extLst>
              <a:ext uri="{FF2B5EF4-FFF2-40B4-BE49-F238E27FC236}">
                <a16:creationId xmlns:a16="http://schemas.microsoft.com/office/drawing/2014/main" id="{E61E87A7-A503-43EA-BA4B-19D3E975F3E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4904" y="6192982"/>
            <a:ext cx="3076861" cy="55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210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microsoft.com/office/2018/10/relationships/comments" Target="../comments/modernComment_100_E097E736.xml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microsoft.com/office/2018/10/relationships/comments" Target="../comments/modernComment_118_F4B31E10.xml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Uma imagem contendo Forma&#10;&#10;Descrição gerada automaticamente">
            <a:extLst>
              <a:ext uri="{FF2B5EF4-FFF2-40B4-BE49-F238E27FC236}">
                <a16:creationId xmlns:a16="http://schemas.microsoft.com/office/drawing/2014/main" id="{8A30E2B3-F0B9-3248-BAE6-F1209292D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F04B612-E1A1-EB45-9FBD-335732929D7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3797564" y="1943099"/>
            <a:ext cx="7441324" cy="3098380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br>
              <a:rPr lang="pt-BR" sz="5000" b="1" spc="-300" dirty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</a:br>
            <a:r>
              <a:rPr lang="pt-BR" sz="3300" dirty="0">
                <a:solidFill>
                  <a:schemeClr val="bg1"/>
                </a:solidFill>
                <a:latin typeface="Arial Black" panose="020B0A04020102020204" pitchFamily="34" charset="0"/>
              </a:rPr>
              <a:t>O Impacto do Sentimento de Notícias Financeiras na Previsão de Direção e Volatilidade do Ativo PETR4: Uma Abordagem via Transformers e Machine Learning</a:t>
            </a:r>
            <a:br>
              <a:rPr lang="pt-BR" sz="5400" dirty="0"/>
            </a:br>
            <a:endParaRPr lang="pt-BR" sz="5000" b="1" spc="-300" dirty="0">
              <a:solidFill>
                <a:schemeClr val="bg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42A33A-D40D-D94A-A311-D61290DA0B7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47597" y="5855049"/>
            <a:ext cx="7601406" cy="423424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Orientador: Júlio Cesar </a:t>
            </a:r>
            <a:r>
              <a:rPr lang="pt-BR" sz="1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Nievola</a:t>
            </a:r>
            <a:endParaRPr lang="pt-BR" sz="1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 descr="Texto, Aplicativo&#10;&#10;Descrição gerada automaticamente">
            <a:extLst>
              <a:ext uri="{FF2B5EF4-FFF2-40B4-BE49-F238E27FC236}">
                <a16:creationId xmlns:a16="http://schemas.microsoft.com/office/drawing/2014/main" id="{6B1950E5-AADD-F143-85B7-CCB042F31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013" y="3099030"/>
            <a:ext cx="3008993" cy="1049821"/>
          </a:xfrm>
          <a:prstGeom prst="rect">
            <a:avLst/>
          </a:prstGeom>
        </p:spPr>
      </p:pic>
      <p:sp>
        <p:nvSpPr>
          <p:cNvPr id="6" name="Subtítulo 2">
            <a:extLst>
              <a:ext uri="{FF2B5EF4-FFF2-40B4-BE49-F238E27FC236}">
                <a16:creationId xmlns:a16="http://schemas.microsoft.com/office/drawing/2014/main" id="{C0939EFC-3A1F-0D2C-770C-747BC7C55472}"/>
              </a:ext>
            </a:extLst>
          </p:cNvPr>
          <p:cNvSpPr txBox="1">
            <a:spLocks/>
          </p:cNvSpPr>
          <p:nvPr/>
        </p:nvSpPr>
        <p:spPr>
          <a:xfrm>
            <a:off x="2194560" y="6144812"/>
            <a:ext cx="7601406" cy="42342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Vanderlei Barbosa da Silva</a:t>
            </a:r>
          </a:p>
        </p:txBody>
      </p:sp>
    </p:spTree>
    <p:extLst>
      <p:ext uri="{BB962C8B-B14F-4D97-AF65-F5344CB8AC3E}">
        <p14:creationId xmlns:p14="http://schemas.microsoft.com/office/powerpoint/2010/main" val="37680515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Estrutura da Apresentação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463040" y="182880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800" b="1"/>
              <a:t>1.  </a:t>
            </a:r>
            <a:r>
              <a:rPr sz="1800"/>
              <a:t>Introdução e Motivação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800" b="1"/>
              <a:t>2.  </a:t>
            </a:r>
            <a:r>
              <a:rPr sz="1800"/>
              <a:t>Perguntas de Pesquisa, Objetivos e Hipóteses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800" b="1"/>
              <a:t>3.  </a:t>
            </a:r>
            <a:r>
              <a:rPr sz="1800"/>
              <a:t>Contribuições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800" b="1"/>
              <a:t>4.  </a:t>
            </a:r>
            <a:r>
              <a:rPr sz="1800"/>
              <a:t>Fundamentação Teórica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800" b="1"/>
              <a:t>5.  </a:t>
            </a:r>
            <a:r>
              <a:rPr sz="1800"/>
              <a:t>Trabalhos Relacionados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800" b="1"/>
              <a:t>6.  </a:t>
            </a:r>
            <a:r>
              <a:rPr sz="1800"/>
              <a:t>Método — Dados, Arquitetura e Métricas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800" b="1"/>
              <a:t>7.  </a:t>
            </a:r>
            <a:r>
              <a:rPr sz="1800"/>
              <a:t>Resultados Preliminares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800" b="1"/>
              <a:t>8.  </a:t>
            </a:r>
            <a:r>
              <a:rPr sz="1800"/>
              <a:t>Cronograma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02E5FD-3598-88E8-1AF9-8A2A3FB33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529" y="2653291"/>
            <a:ext cx="10515600" cy="1325563"/>
          </a:xfrm>
        </p:spPr>
        <p:txBody>
          <a:bodyPr/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Introdução</a:t>
            </a:r>
            <a:endParaRPr lang="pt-BR" dirty="0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06751E19-69DE-28D0-FE73-501773B16FE7}"/>
              </a:ext>
            </a:extLst>
          </p:cNvPr>
          <p:cNvCxnSpPr>
            <a:cxnSpLocks/>
          </p:cNvCxnSpPr>
          <p:nvPr/>
        </p:nvCxnSpPr>
        <p:spPr>
          <a:xfrm>
            <a:off x="843379" y="3315810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5378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8CAB-5689-0F52-4031-41AC95260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B4A312-9B5F-FAC3-8CAD-AFA3F997C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8230"/>
          </a:xfrm>
        </p:spPr>
        <p:txBody>
          <a:bodyPr lIns="91440" tIns="45720" rIns="91440" bIns="45720" anchor="t"/>
          <a:lstStyle/>
          <a:p>
            <a:r>
              <a:rPr lang="pt-BR" sz="2600" b="1">
                <a:solidFill>
                  <a:srgbClr val="810539"/>
                </a:solidFill>
                <a:latin typeface="Arial Black"/>
              </a:rPr>
              <a:t>Choque Informacional: Geopolítica e a Volatilidade da PETR4</a:t>
            </a:r>
            <a:endParaRPr lang="pt-BR">
              <a:latin typeface="Arial Black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08760"/>
            <a:ext cx="4266951" cy="46177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2117" y="5573268"/>
            <a:ext cx="2797273" cy="346329"/>
          </a:xfrm>
          <a:prstGeom prst="rect">
            <a:avLst/>
          </a:prstGeom>
          <a:solidFill>
            <a:srgbClr val="050A14"/>
          </a:solidFill>
          <a:ln w="6350">
            <a:solidFill>
              <a:srgbClr val="050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Dia 27/02/26 (sex): PETR4 fecha em queda de −1,53%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570" y="2238741"/>
            <a:ext cx="1665044" cy="599415"/>
          </a:xfrm>
          <a:prstGeom prst="roundRect">
            <a:avLst/>
          </a:prstGeom>
          <a:solidFill>
            <a:srgbClr val="E87D0D"/>
          </a:solidFill>
          <a:ln w="6350">
            <a:solidFill>
              <a:srgbClr val="E87D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28/02 (sáb): EUA atacam o Irã — início da guerra (mercado fechado)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320384" y="2838156"/>
            <a:ext cx="190925" cy="2530866"/>
          </a:xfrm>
          <a:prstGeom prst="line">
            <a:avLst/>
          </a:prstGeom>
          <a:ln w="28575">
            <a:solidFill>
              <a:srgbClr val="E87D0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87570" y="3082363"/>
            <a:ext cx="1665044" cy="555014"/>
          </a:xfrm>
          <a:prstGeom prst="roundRect">
            <a:avLst/>
          </a:prstGeom>
          <a:solidFill>
            <a:srgbClr val="1E7E34"/>
          </a:solidFill>
          <a:ln w="6350">
            <a:solidFill>
              <a:srgbClr val="1E7E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02/03 (seg): abre em GAP de alta de +4,58%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97794" y="3637377"/>
            <a:ext cx="0" cy="1221032"/>
          </a:xfrm>
          <a:prstGeom prst="line">
            <a:avLst/>
          </a:prstGeom>
          <a:ln w="31750">
            <a:solidFill>
              <a:srgbClr val="1E7E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74920" y="1600200"/>
            <a:ext cx="6720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buNone/>
            </a:pPr>
            <a:r>
              <a:rPr sz="1600">
                <a:solidFill>
                  <a:srgbClr val="C0392B"/>
                </a:solidFill>
              </a:rPr>
              <a:t>■  </a:t>
            </a:r>
            <a:r>
              <a:rPr sz="1700" b="1">
                <a:solidFill>
                  <a:srgbClr val="C0392B"/>
                </a:solidFill>
              </a:rPr>
              <a:t>27/02 (sex): </a:t>
            </a:r>
            <a:r>
              <a:rPr sz="1600">
                <a:solidFill>
                  <a:srgbClr val="333333"/>
                </a:solidFill>
              </a:rPr>
              <a:t>mercado calmo, sem o evento — PETR4 fecha em queda de −1,53%.</a:t>
            </a:r>
          </a:p>
          <a:p>
            <a:pPr>
              <a:spcAft>
                <a:spcPts val="1400"/>
              </a:spcAft>
              <a:buNone/>
            </a:pPr>
            <a:r>
              <a:rPr sz="1600">
                <a:solidFill>
                  <a:srgbClr val="E87D0D"/>
                </a:solidFill>
              </a:rPr>
              <a:t>■  </a:t>
            </a:r>
            <a:r>
              <a:rPr sz="1700" b="1">
                <a:solidFill>
                  <a:srgbClr val="E87D0D"/>
                </a:solidFill>
              </a:rPr>
              <a:t>28/02 (sáb): </a:t>
            </a:r>
            <a:r>
              <a:rPr sz="1600">
                <a:solidFill>
                  <a:srgbClr val="333333"/>
                </a:solidFill>
              </a:rPr>
              <a:t>EUA realizam o primeiro ataque ao Irã. Choque geopolítico com a bolsa fechada.</a:t>
            </a:r>
          </a:p>
          <a:p>
            <a:pPr>
              <a:spcAft>
                <a:spcPts val="1400"/>
              </a:spcAft>
              <a:buNone/>
            </a:pPr>
            <a:r>
              <a:rPr sz="1600">
                <a:solidFill>
                  <a:srgbClr val="1E7E34"/>
                </a:solidFill>
              </a:rPr>
              <a:t>■  </a:t>
            </a:r>
            <a:r>
              <a:rPr sz="1700" b="1">
                <a:solidFill>
                  <a:srgbClr val="1E7E34"/>
                </a:solidFill>
              </a:rPr>
              <a:t>02/03 (seg): </a:t>
            </a:r>
            <a:r>
              <a:rPr sz="1600">
                <a:solidFill>
                  <a:srgbClr val="333333"/>
                </a:solidFill>
              </a:rPr>
              <a:t>a notícia é precificada de uma vez — o pregão abre em GAP de alta de +4,58%.</a:t>
            </a:r>
          </a:p>
          <a:p>
            <a:pPr>
              <a:spcAft>
                <a:spcPts val="1400"/>
              </a:spcAft>
              <a:buNone/>
            </a:pPr>
            <a:r>
              <a:rPr sz="1600">
                <a:solidFill>
                  <a:srgbClr val="6B0F2A"/>
                </a:solidFill>
              </a:rPr>
              <a:t>■  </a:t>
            </a:r>
            <a:r>
              <a:rPr sz="1700" b="1">
                <a:solidFill>
                  <a:srgbClr val="6B0F2A"/>
                </a:solidFill>
              </a:rPr>
              <a:t>Março/2026: </a:t>
            </a:r>
            <a:r>
              <a:rPr sz="1600">
                <a:solidFill>
                  <a:srgbClr val="333333"/>
                </a:solidFill>
              </a:rPr>
              <a:t>a alta se sustenta e o mês fecha em +28,23%.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5074920"/>
            <a:ext cx="6720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B0F2A"/>
                </a:solidFill>
              </a:rPr>
              <a:t>Uma notícia exógena de alto impacto (geopolítica/petróleo) precifica-se de uma vez, em gap, deslocando preço e volatilidade num salto.</a:t>
            </a:r>
          </a:p>
          <a:p>
            <a:pPr>
              <a:spcBef>
                <a:spcPts val="600"/>
              </a:spcBef>
            </a:pPr>
            <a:r>
              <a:rPr sz="1500" i="1">
                <a:solidFill>
                  <a:srgbClr val="333333"/>
                </a:solidFill>
              </a:rPr>
              <a:t>É esse tipo de evento que o modelo busca antecipar — e que sustenta o achado de Granger (sentimento → volatilidade).</a:t>
            </a:r>
          </a:p>
        </p:txBody>
      </p:sp>
    </p:spTree>
    <p:extLst>
      <p:ext uri="{BB962C8B-B14F-4D97-AF65-F5344CB8AC3E}">
        <p14:creationId xmlns:p14="http://schemas.microsoft.com/office/powerpoint/2010/main" val="2588760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163C7-AFB6-CDA5-1683-AFFA5C666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Perguntas de Pesquisa</a:t>
            </a:r>
            <a:endParaRPr lang="pt-BR" sz="3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15178B-DC19-AC93-988F-C71302598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267"/>
            <a:ext cx="10514138" cy="1325757"/>
          </a:xfrm>
        </p:spPr>
        <p:txBody>
          <a:bodyPr lIns="91440" tIns="45720" rIns="91440" bIns="45720" anchor="t"/>
          <a:lstStyle/>
          <a:p>
            <a:r>
              <a:rPr lang="pt-BR" sz="2200" b="1" dirty="0"/>
              <a:t>Questão Principal:</a:t>
            </a:r>
            <a:r>
              <a:rPr lang="pt-BR" sz="2200" dirty="0"/>
              <a:t> </a:t>
            </a:r>
            <a:r>
              <a:rPr lang="pt-BR" sz="2200" i="1" dirty="0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Como o sentimento extraído de notícias financeiras, processado por modelos avançados de Inteligência Artificial (Transformers), impacta a previsão de direção e volatilidade do ativo PETR4 na B3?</a:t>
            </a:r>
            <a:endParaRPr lang="pt-BR" sz="2200" i="1">
              <a:solidFill>
                <a:srgbClr val="810539"/>
              </a:solidFill>
              <a:highlight>
                <a:srgbClr val="FFFFFF"/>
              </a:highlight>
              <a:ea typeface="+mn-lt"/>
              <a:cs typeface="+mn-lt"/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3BA3085-E847-C63A-217B-C83520C24B43}"/>
              </a:ext>
            </a:extLst>
          </p:cNvPr>
          <p:cNvCxnSpPr>
            <a:cxnSpLocks/>
          </p:cNvCxnSpPr>
          <p:nvPr/>
        </p:nvCxnSpPr>
        <p:spPr>
          <a:xfrm>
            <a:off x="843379" y="1001055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0F8293F8-E86F-05F2-F7A6-718F90612ECE}"/>
              </a:ext>
            </a:extLst>
          </p:cNvPr>
          <p:cNvSpPr txBox="1">
            <a:spLocks/>
          </p:cNvSpPr>
          <p:nvPr/>
        </p:nvSpPr>
        <p:spPr>
          <a:xfrm>
            <a:off x="831629" y="2590341"/>
            <a:ext cx="10515600" cy="1317716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200" b="1" dirty="0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Questão Secundária 1: </a:t>
            </a:r>
            <a:r>
              <a:rPr lang="pt-BR" sz="2200" i="1" dirty="0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O nível de pessimismo ou otimismo textual consegue prever matematicamente a direção de fechamento do ativo (Alta/Baixa)?</a:t>
            </a:r>
            <a:endParaRPr lang="pt-BR" sz="2200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FFDA10C-BFA4-07CD-51E2-EB07AC219F82}"/>
              </a:ext>
            </a:extLst>
          </p:cNvPr>
          <p:cNvSpPr txBox="1">
            <a:spLocks/>
          </p:cNvSpPr>
          <p:nvPr/>
        </p:nvSpPr>
        <p:spPr>
          <a:xfrm>
            <a:off x="846826" y="3802123"/>
            <a:ext cx="10515600" cy="930669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200" b="1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Questão Secundária 2:</a:t>
            </a:r>
            <a:r>
              <a:rPr lang="pt-BR" sz="2200" dirty="0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pt-BR" sz="2200" i="1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O sentimento das notícias atua como um previsor antecipado da inércia do risco (volatilidade)?</a:t>
            </a:r>
            <a:endParaRPr lang="pt-BR" sz="1800" i="1">
              <a:solidFill>
                <a:srgbClr val="810539"/>
              </a:solidFill>
              <a:highlight>
                <a:srgbClr val="FFFFFF"/>
              </a:highlight>
              <a:ea typeface="Calibri"/>
              <a:cs typeface="Calibri"/>
            </a:endParaRP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D3C6366D-A8A4-126C-35A0-61DA138F2D60}"/>
              </a:ext>
            </a:extLst>
          </p:cNvPr>
          <p:cNvSpPr txBox="1">
            <a:spLocks/>
          </p:cNvSpPr>
          <p:nvPr/>
        </p:nvSpPr>
        <p:spPr>
          <a:xfrm>
            <a:off x="846825" y="5011646"/>
            <a:ext cx="10515600" cy="930669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200" b="1" dirty="0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Questão Secundária 3: </a:t>
            </a:r>
            <a:r>
              <a:rPr lang="pt-BR" sz="2200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O Mercado</a:t>
            </a:r>
            <a:r>
              <a:rPr lang="pt-BR" sz="2200" dirty="0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 precifica as notícias de forma assimétrica (Viés de </a:t>
            </a:r>
            <a:r>
              <a:rPr lang="pt-BR" sz="2200">
                <a:solidFill>
                  <a:srgbClr val="303030"/>
                </a:solidFill>
                <a:highlight>
                  <a:srgbClr val="FFFFFF"/>
                </a:highlight>
                <a:ea typeface="+mn-lt"/>
                <a:cs typeface="+mn-lt"/>
              </a:rPr>
              <a:t>Negatividade)?</a:t>
            </a:r>
            <a:endParaRPr lang="pt-BR" sz="1800" b="1" i="1">
              <a:solidFill>
                <a:srgbClr val="810539"/>
              </a:solidFill>
              <a:highlight>
                <a:srgbClr val="FFFFFF"/>
              </a:highlight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77721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FF190-2A0E-6F43-28D4-C6CD94623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050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Objetivos e Hipóteses</a:t>
            </a:r>
            <a:endParaRPr lang="pt-BR" sz="3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D8D04EC-F6B4-4A30-83F4-A3281570D9DF}"/>
              </a:ext>
            </a:extLst>
          </p:cNvPr>
          <p:cNvSpPr txBox="1"/>
          <p:nvPr/>
        </p:nvSpPr>
        <p:spPr>
          <a:xfrm>
            <a:off x="869272" y="1145628"/>
            <a:ext cx="8984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810539"/>
                </a:solidFill>
              </a:rPr>
              <a:t>Objetivo Geral</a:t>
            </a:r>
          </a:p>
        </p:txBody>
      </p:sp>
      <p:graphicFrame>
        <p:nvGraphicFramePr>
          <p:cNvPr id="16" name="Tabela 15">
            <a:extLst>
              <a:ext uri="{FF2B5EF4-FFF2-40B4-BE49-F238E27FC236}">
                <a16:creationId xmlns:a16="http://schemas.microsoft.com/office/drawing/2014/main" id="{27CFFB09-FF7B-6F64-91F8-C71E08FF5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3081798"/>
              </p:ext>
            </p:extLst>
          </p:nvPr>
        </p:nvGraphicFramePr>
        <p:xfrm>
          <a:off x="1375298" y="1514961"/>
          <a:ext cx="9441404" cy="868694"/>
        </p:xfrm>
        <a:graphic>
          <a:graphicData uri="http://schemas.openxmlformats.org/drawingml/2006/table">
            <a:tbl>
              <a:tblPr>
                <a:effectLst>
                  <a:innerShdw blurRad="63500" dist="50800" dir="13500000">
                    <a:srgbClr val="810539">
                      <a:alpha val="50000"/>
                    </a:srgbClr>
                  </a:innerShdw>
                </a:effectLst>
              </a:tblPr>
              <a:tblGrid>
                <a:gridCol w="9441404">
                  <a:extLst>
                    <a:ext uri="{9D8B030D-6E8A-4147-A177-3AD203B41FA5}">
                      <a16:colId xmlns:a16="http://schemas.microsoft.com/office/drawing/2014/main" val="733255789"/>
                    </a:ext>
                  </a:extLst>
                </a:gridCol>
              </a:tblGrid>
              <a:tr h="868694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Investigar o impacto do sentimento extraído de notícias financeiras, processado via arquitetura Transformers (FinBERT-PT-BR), sobre a previsão da direção do preço e da volatilidade do ativo PETR4 no mercado acionário brasileiro, estruturando uma arquitetura de fusão de dados (Data Fusion) com algoritmos de Machine Learning.</a:t>
                      </a:r>
                      <a:endParaRPr lang="pt-BR" sz="1400" dirty="0">
                        <a:ln>
                          <a:solidFill>
                            <a:schemeClr val="bg1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mpd="sng">
                      <a:noFill/>
                      <a:prstDash val="sysDot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3234304"/>
                  </a:ext>
                </a:extLst>
              </a:tr>
            </a:tbl>
          </a:graphicData>
        </a:graphic>
      </p:graphicFrame>
      <p:sp>
        <p:nvSpPr>
          <p:cNvPr id="17" name="CaixaDeTexto 16">
            <a:extLst>
              <a:ext uri="{FF2B5EF4-FFF2-40B4-BE49-F238E27FC236}">
                <a16:creationId xmlns:a16="http://schemas.microsoft.com/office/drawing/2014/main" id="{D4CAF4C5-0EAE-E7AC-B70F-B4D17E90CD61}"/>
              </a:ext>
            </a:extLst>
          </p:cNvPr>
          <p:cNvSpPr txBox="1"/>
          <p:nvPr/>
        </p:nvSpPr>
        <p:spPr>
          <a:xfrm>
            <a:off x="931416" y="2752988"/>
            <a:ext cx="8984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810539"/>
                </a:solidFill>
              </a:rPr>
              <a:t>Objetivos Específicos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B303B58-1B4F-6062-5476-CC02F71F19B6}"/>
              </a:ext>
            </a:extLst>
          </p:cNvPr>
          <p:cNvSpPr txBox="1"/>
          <p:nvPr/>
        </p:nvSpPr>
        <p:spPr>
          <a:xfrm>
            <a:off x="1332759" y="3122320"/>
            <a:ext cx="9526481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Clr>
                <a:srgbClr val="810539"/>
              </a:buClr>
              <a:buFont typeface="Wingdings" panose="05000000000000000000" pitchFamily="2" charset="2"/>
              <a:buChar char="Ø"/>
            </a:pPr>
            <a:r>
              <a:rPr lang="pt-BR" sz="1300" dirty="0"/>
              <a:t>Coletar e higienizar um corpus de notícias de cinco portais de economia referentes ao contexto macroeconômico e à Petrobras.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pt-BR" sz="1300" dirty="0"/>
          </a:p>
          <a:p>
            <a:pPr marL="285750" indent="-285750" algn="just">
              <a:buClr>
                <a:srgbClr val="810539"/>
              </a:buClr>
              <a:buFont typeface="Wingdings" panose="05000000000000000000" pitchFamily="2" charset="2"/>
              <a:buChar char="Ø"/>
            </a:pPr>
            <a:r>
              <a:rPr lang="pt-BR" sz="1300" dirty="0"/>
              <a:t>Aplicar uma taxonomia temática supervisionada (sete categorias, 152 termos) para diagnosticar as principais forças temáticas que orbitam o ativo.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pt-BR" sz="1300" dirty="0"/>
          </a:p>
          <a:p>
            <a:pPr marL="285750" indent="-285750" algn="just">
              <a:buClr>
                <a:srgbClr val="810539"/>
              </a:buClr>
              <a:buFont typeface="Wingdings" panose="05000000000000000000" pitchFamily="2" charset="2"/>
              <a:buChar char="Ø"/>
            </a:pPr>
            <a:r>
              <a:rPr lang="pt-BR" sz="1300" dirty="0"/>
              <a:t>Utilizar o modelo estado da arte em NLP (FinBERT-PT-BR) para extrair o Índice de Polaridade Semântica (sentimento positivo, negativo ou neutro) das manchetes.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pt-BR" sz="1300" dirty="0"/>
          </a:p>
          <a:p>
            <a:pPr marL="285750" indent="-285750" algn="just">
              <a:buClr>
                <a:srgbClr val="810539"/>
              </a:buClr>
              <a:buFont typeface="Wingdings" panose="05000000000000000000" pitchFamily="2" charset="2"/>
              <a:buChar char="Ø"/>
            </a:pPr>
            <a:r>
              <a:rPr lang="pt-BR" sz="1300" dirty="0"/>
              <a:t>Modelar a inércia do risco do mercado acionário brasileiro por meio da variância condicional estimada pelo modelo econométrico </a:t>
            </a:r>
            <a:r>
              <a:rPr lang="pt-BR" sz="1300" b="1" dirty="0"/>
              <a:t>GARCH(1,1)</a:t>
            </a:r>
            <a:r>
              <a:rPr lang="pt-BR" sz="1300" dirty="0"/>
              <a:t>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pt-BR" sz="1300" dirty="0"/>
          </a:p>
          <a:p>
            <a:pPr marL="285750" indent="-285750" algn="just">
              <a:buClr>
                <a:srgbClr val="810539"/>
              </a:buClr>
              <a:buFont typeface="Wingdings" panose="05000000000000000000" pitchFamily="2" charset="2"/>
              <a:buChar char="Ø"/>
            </a:pPr>
            <a:r>
              <a:rPr lang="pt-BR" sz="1300" dirty="0"/>
              <a:t>Treinar e avaliar modelos preditivos não-lineares de Machine Learning(como </a:t>
            </a:r>
            <a:r>
              <a:rPr lang="pt-BR" sz="1300" b="1" dirty="0" err="1"/>
              <a:t>XGBoost</a:t>
            </a:r>
            <a:r>
              <a:rPr lang="pt-BR" sz="1300" b="1" dirty="0"/>
              <a:t> e </a:t>
            </a:r>
            <a:r>
              <a:rPr lang="pt-BR" sz="1300" b="1" dirty="0" err="1"/>
              <a:t>Support</a:t>
            </a:r>
            <a:r>
              <a:rPr lang="pt-BR" sz="1300" b="1" dirty="0"/>
              <a:t> Vector </a:t>
            </a:r>
            <a:r>
              <a:rPr lang="pt-BR" sz="1300" b="1" dirty="0" err="1"/>
              <a:t>Machines</a:t>
            </a:r>
            <a:r>
              <a:rPr lang="pt-BR" sz="1300" dirty="0"/>
              <a:t>), sob o protocolo de validação cruzada cronológica (</a:t>
            </a:r>
            <a:r>
              <a:rPr lang="pt-BR" sz="1300" b="1" dirty="0"/>
              <a:t>Walk-</a:t>
            </a:r>
            <a:r>
              <a:rPr lang="pt-BR" sz="1300" b="1" dirty="0" err="1"/>
              <a:t>Forward</a:t>
            </a:r>
            <a:r>
              <a:rPr lang="pt-BR" sz="1300" b="1" dirty="0"/>
              <a:t> </a:t>
            </a:r>
            <a:r>
              <a:rPr lang="pt-BR" sz="1300" b="1" dirty="0" err="1"/>
              <a:t>Validation</a:t>
            </a:r>
            <a:r>
              <a:rPr lang="pt-BR" sz="1300" dirty="0"/>
              <a:t>), para classificar a direção futura do ativo (alta/baixa).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5A20972B-6B3B-15E6-D45B-5B0BF8A78965}"/>
              </a:ext>
            </a:extLst>
          </p:cNvPr>
          <p:cNvSpPr/>
          <p:nvPr/>
        </p:nvSpPr>
        <p:spPr>
          <a:xfrm>
            <a:off x="1704109" y="6224155"/>
            <a:ext cx="1620982" cy="6338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202BC76F-FDAB-2C22-27B2-C953E87478B2}"/>
              </a:ext>
            </a:extLst>
          </p:cNvPr>
          <p:cNvCxnSpPr>
            <a:cxnSpLocks/>
          </p:cNvCxnSpPr>
          <p:nvPr/>
        </p:nvCxnSpPr>
        <p:spPr>
          <a:xfrm>
            <a:off x="929643" y="1044187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460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6CF08-227A-A4B1-7FC0-3B4BAE11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62D2D6-0F6A-4AC3-0D02-AD07D10DD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3200" b="1" kern="1200" dirty="0">
                <a:solidFill>
                  <a:srgbClr val="810539"/>
                </a:solidFill>
                <a:latin typeface="Arial Black" panose="020B0A04020102020204" pitchFamily="34" charset="0"/>
              </a:rPr>
              <a:t>Hipóteses</a:t>
            </a:r>
            <a:endParaRPr lang="pt-BR" sz="32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  <a:buNone/>
            </a:pPr>
            <a:r>
              <a:rPr sz="1800" b="1"/>
              <a:t>H1 — Impacto Direcional:  </a:t>
            </a:r>
            <a:r>
              <a:rPr sz="1500"/>
              <a:t>o sentimento textual das notícias, quando fundido aos preços, melhora a previsão da direção dos log-retornos da PETR4 frente a um modelo que usa apenas preços.</a:t>
            </a:r>
          </a:p>
          <a:p>
            <a:pPr>
              <a:spcBef>
                <a:spcPts val="0"/>
              </a:spcBef>
              <a:spcAft>
                <a:spcPts val="1800"/>
              </a:spcAft>
              <a:buNone/>
            </a:pPr>
            <a:r>
              <a:rPr sz="1800" b="1"/>
              <a:t>H2 — Antecipação de Risco:  </a:t>
            </a:r>
            <a:r>
              <a:rPr sz="1500"/>
              <a:t>o sentimento das notícias antecede a volatilidade condicional da PETR4, exercendo poder preditivo sobre o risco do ativo.</a:t>
            </a:r>
          </a:p>
          <a:p>
            <a:pPr>
              <a:spcBef>
                <a:spcPts val="0"/>
              </a:spcBef>
              <a:spcAft>
                <a:spcPts val="1800"/>
              </a:spcAft>
              <a:buNone/>
            </a:pPr>
            <a:r>
              <a:rPr sz="1800" b="1"/>
              <a:t>H3 — Viés de Negatividade:  </a:t>
            </a:r>
            <a:r>
              <a:rPr sz="1500"/>
              <a:t>notícias de polaridade negativa associam-se a reações de mercado mais intensas do que notícias positivas de magnitude comparável.</a:t>
            </a:r>
          </a:p>
        </p:txBody>
      </p:sp>
    </p:spTree>
    <p:extLst>
      <p:ext uri="{BB962C8B-B14F-4D97-AF65-F5344CB8AC3E}">
        <p14:creationId xmlns:p14="http://schemas.microsoft.com/office/powerpoint/2010/main" val="3989337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942FF-C53D-557A-246F-A2F05142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494E86-5AA7-CEE7-7E94-1D15F45AB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3200" b="1" kern="1200" dirty="0">
                <a:solidFill>
                  <a:srgbClr val="810539"/>
                </a:solidFill>
                <a:latin typeface="Arial Black" panose="020B0A04020102020204" pitchFamily="34" charset="0"/>
              </a:rPr>
              <a:t>Contribuições</a:t>
            </a:r>
            <a:endParaRPr lang="pt-BR" sz="32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5C417E5-C321-7377-478E-D95D9BEDF1C0}"/>
              </a:ext>
            </a:extLst>
          </p:cNvPr>
          <p:cNvCxnSpPr>
            <a:cxnSpLocks/>
          </p:cNvCxnSpPr>
          <p:nvPr/>
        </p:nvCxnSpPr>
        <p:spPr>
          <a:xfrm>
            <a:off x="843379" y="1029810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294295A1-5231-13FF-A88E-8B44EF05AB22}"/>
              </a:ext>
            </a:extLst>
          </p:cNvPr>
          <p:cNvSpPr txBox="1"/>
          <p:nvPr/>
        </p:nvSpPr>
        <p:spPr>
          <a:xfrm>
            <a:off x="869272" y="1145628"/>
            <a:ext cx="8984202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b="1">
                <a:solidFill>
                  <a:srgbClr val="810539"/>
                </a:solidFill>
              </a:rPr>
              <a:t>CONTRIBUIÇÃO PRINCIPAL</a:t>
            </a:r>
            <a:endParaRPr lang="pt-BR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A8B218D5-DDA1-AB53-7604-A31FCF8BC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890916"/>
              </p:ext>
            </p:extLst>
          </p:nvPr>
        </p:nvGraphicFramePr>
        <p:xfrm>
          <a:off x="1375298" y="1514961"/>
          <a:ext cx="9441404" cy="868694"/>
        </p:xfrm>
        <a:graphic>
          <a:graphicData uri="http://schemas.openxmlformats.org/drawingml/2006/table">
            <a:tbl>
              <a:tblPr>
                <a:effectLst>
                  <a:innerShdw blurRad="63500" dist="50800" dir="13500000">
                    <a:srgbClr val="810539">
                      <a:alpha val="50000"/>
                    </a:srgbClr>
                  </a:innerShdw>
                </a:effectLst>
              </a:tblPr>
              <a:tblGrid>
                <a:gridCol w="9441404">
                  <a:extLst>
                    <a:ext uri="{9D8B030D-6E8A-4147-A177-3AD203B41FA5}">
                      <a16:colId xmlns:a16="http://schemas.microsoft.com/office/drawing/2014/main" val="733255789"/>
                    </a:ext>
                  </a:extLst>
                </a:gridCol>
              </a:tblGrid>
              <a:tr h="868694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pt-BR" sz="1800" b="1" i="0" u="none" strike="noStrike" noProof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/>
                          <a:ea typeface="Calibri"/>
                          <a:cs typeface="Calibri"/>
                        </a:rPr>
                        <a:t>Framework Preditivo de Data Fusion Híbrido</a:t>
                      </a:r>
                      <a:r>
                        <a:rPr lang="pt-BR" sz="1800" b="0" i="0" u="none" strike="noStrike" noProof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endParaRPr lang="pt-BR" sz="18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pt-BR" sz="1500" b="0" i="0" u="none" strike="noStrike" noProof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/>
                          <a:ea typeface="Calibri"/>
                          <a:cs typeface="Calibri"/>
                        </a:rPr>
                        <a:t>Desenvolvimento de um pipeline computacional diário que funde NLP Transformers com Risco GARCH para predição direcional da PETR4.</a:t>
                      </a:r>
                      <a:endParaRPr lang="pt-BR" sz="15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mpd="sng">
                      <a:noFill/>
                      <a:prstDash val="sysDot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3234304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A5BCCFAB-C8EF-5B00-0A01-BC7A41BF3159}"/>
              </a:ext>
            </a:extLst>
          </p:cNvPr>
          <p:cNvSpPr txBox="1"/>
          <p:nvPr/>
        </p:nvSpPr>
        <p:spPr>
          <a:xfrm>
            <a:off x="931416" y="2752988"/>
            <a:ext cx="8984202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b="1">
                <a:solidFill>
                  <a:srgbClr val="810539"/>
                </a:solidFill>
              </a:rPr>
              <a:t>CONTRIBUIÇÕES COMPLEMENTARES</a:t>
            </a:r>
            <a:endParaRPr lang="pt-BR" b="1" dirty="0">
              <a:solidFill>
                <a:srgbClr val="810539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DC7200A-9C17-5991-6D14-2D08EDBB0E4A}"/>
              </a:ext>
            </a:extLst>
          </p:cNvPr>
          <p:cNvSpPr txBox="1"/>
          <p:nvPr/>
        </p:nvSpPr>
        <p:spPr>
          <a:xfrm>
            <a:off x="1375890" y="3409867"/>
            <a:ext cx="2869765" cy="1261884"/>
          </a:xfrm>
          <a:prstGeom prst="rect">
            <a:avLst/>
          </a:prstGeom>
          <a:noFill/>
          <a:ln w="6350">
            <a:solidFill>
              <a:schemeClr val="tx1"/>
            </a:solidFill>
          </a:ln>
          <a:effectLst>
            <a:reflection stA="40000" endPos="54000" dist="50800" dir="5400000" sy="-100000" algn="bl" rotWithShape="0"/>
          </a:effectLst>
        </p:spPr>
        <p:txBody>
          <a:bodyPr wrap="square" lIns="91440" tIns="45720" rIns="91440" bIns="45720" rtlCol="0" anchor="t">
            <a:spAutoFit/>
          </a:bodyPr>
          <a:lstStyle/>
          <a:p>
            <a:pPr>
              <a:buClr>
                <a:srgbClr val="810539"/>
              </a:buClr>
            </a:pPr>
            <a:r>
              <a:rPr lang="pt-BR" b="1" dirty="0"/>
              <a:t>Corpus de notícias</a:t>
            </a:r>
            <a:br>
              <a:rPr lang="pt-BR" b="1" dirty="0">
                <a:ea typeface="Calibri"/>
                <a:cs typeface="Calibri"/>
              </a:rPr>
            </a:br>
            <a:br>
              <a:rPr lang="pt-BR" sz="1300" dirty="0"/>
            </a:br>
            <a:r>
              <a:rPr lang="pt-BR" sz="1500" dirty="0"/>
              <a:t>Coletar e higienizar um corpus  de </a:t>
            </a:r>
            <a:r>
              <a:rPr lang="pt-BR" sz="1500"/>
              <a:t>notícias referentes </a:t>
            </a:r>
            <a:r>
              <a:rPr lang="pt-BR" sz="1500" dirty="0"/>
              <a:t>ao contexto macroeconômico e à Petrobras.</a:t>
            </a:r>
            <a:endParaRPr lang="pt-BR" sz="1500" dirty="0">
              <a:ea typeface="Calibri"/>
              <a:cs typeface="Calibri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74FB233-3AA5-14FC-4967-CDD12E4043A3}"/>
              </a:ext>
            </a:extLst>
          </p:cNvPr>
          <p:cNvSpPr txBox="1"/>
          <p:nvPr/>
        </p:nvSpPr>
        <p:spPr>
          <a:xfrm>
            <a:off x="5358418" y="3424242"/>
            <a:ext cx="2884142" cy="1523494"/>
          </a:xfrm>
          <a:prstGeom prst="rect">
            <a:avLst/>
          </a:prstGeom>
          <a:noFill/>
          <a:ln w="6350">
            <a:solidFill>
              <a:schemeClr val="tx1"/>
            </a:solidFill>
          </a:ln>
          <a:effectLst>
            <a:reflection stA="40000" endPos="54000" dist="50800" dir="5400000" sy="-100000" algn="bl" rotWithShape="0"/>
          </a:effectLst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b="1"/>
              <a:t>Modelo</a:t>
            </a:r>
            <a:endParaRPr lang="pt-BR" sz="1300"/>
          </a:p>
          <a:p>
            <a:pPr algn="just"/>
            <a:br>
              <a:rPr lang="pt-BR" sz="1500" dirty="0"/>
            </a:br>
            <a:r>
              <a:rPr lang="pt-BR" sz="1500">
                <a:ea typeface="+mn-lt"/>
                <a:cs typeface="+mn-lt"/>
              </a:rPr>
              <a:t>Um modelo que comprova </a:t>
            </a:r>
            <a:r>
              <a:rPr lang="pt-BR" sz="1500" dirty="0">
                <a:ea typeface="+mn-lt"/>
                <a:cs typeface="+mn-lt"/>
              </a:rPr>
              <a:t>numericamente o 'Viés' na B3, demonstrando como o investidor da PETR4 </a:t>
            </a:r>
            <a:r>
              <a:rPr lang="pt-BR" sz="1500">
                <a:ea typeface="+mn-lt"/>
                <a:cs typeface="+mn-lt"/>
              </a:rPr>
              <a:t>reage às notícias.</a:t>
            </a:r>
            <a:endParaRPr lang="pt-BR" sz="15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18470170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Contribuições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40280" y="638251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888888"/>
                </a:solidFill>
              </a:rPr>
              <a:t>Fonte: Elaborado pelo autor. * corpus em recoleta/consolidação (2016–2026).</a:t>
            </a:r>
          </a:p>
        </p:txBody>
      </p:sp>
      <p:pic>
        <p:nvPicPr>
          <p:cNvPr id="9" name="Picture 8" descr="fig_contribuico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1600200"/>
            <a:ext cx="11064240" cy="47129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D75D9-7C13-31A6-3E8B-4B07B159D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1A48F1-4D57-876A-A911-DB44B32BE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529" y="2653291"/>
            <a:ext cx="10515600" cy="1325563"/>
          </a:xfrm>
        </p:spPr>
        <p:txBody>
          <a:bodyPr/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Fundamentação Teórica</a:t>
            </a:r>
            <a:endParaRPr lang="pt-BR" dirty="0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83D1101-E3C6-71A6-2F7F-0E733DB790FD}"/>
              </a:ext>
            </a:extLst>
          </p:cNvPr>
          <p:cNvCxnSpPr>
            <a:cxnSpLocks/>
          </p:cNvCxnSpPr>
          <p:nvPr/>
        </p:nvCxnSpPr>
        <p:spPr>
          <a:xfrm>
            <a:off x="843379" y="3315810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903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163C7-AFB6-CDA5-1683-AFFA5C666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Conceitos Fundamentais</a:t>
            </a:r>
            <a:endParaRPr lang="pt-BR" sz="3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3BA3085-E847-C63A-217B-C83520C24B43}"/>
              </a:ext>
            </a:extLst>
          </p:cNvPr>
          <p:cNvCxnSpPr>
            <a:cxnSpLocks/>
          </p:cNvCxnSpPr>
          <p:nvPr/>
        </p:nvCxnSpPr>
        <p:spPr>
          <a:xfrm>
            <a:off x="843379" y="1001055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002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b="1" sz="1500"/>
              <a:t>FinBERT-PT-BR:  </a:t>
            </a:r>
            <a:r>
              <a:rPr sz="1300"/>
              <a:t>modelo Transformer (BERTimbau ajustado a finanças) que converte texto em sentimento contextual no intervalo [−1, +1].</a:t>
            </a:r>
          </a:p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b="1" sz="1500"/>
              <a:t>GARCH(1,1):  </a:t>
            </a:r>
            <a:r>
              <a:rPr sz="1300"/>
              <a:t>modelo econométrico que estima a volatilidade condicional (o risco) da série, capturando o agrupamento de volatilidade.</a:t>
            </a:r>
          </a:p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b="1" sz="1500"/>
              <a:t>SVM (Support Vector Machine):  </a:t>
            </a:r>
            <a:r>
              <a:rPr sz="1300"/>
              <a:t>classificador que separa as classes maximizando a margem de decisão; avaliado como comparação.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6002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b="1" sz="1500"/>
              <a:t>XGBoost (Extreme Gradient Boosting):  </a:t>
            </a:r>
            <a:r>
              <a:rPr sz="1300"/>
              <a:t>ensemble de árvores de decisão por gradient boosting; é o classificador principal da direção.</a:t>
            </a:r>
          </a:p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b="1" sz="1500"/>
              <a:t>Data Fusion:  </a:t>
            </a:r>
            <a:r>
              <a:rPr sz="1300"/>
              <a:t>fusão dos atributos heterogêneos (sentimento, risco, retorno, categorias) em um único vetor preditivo.</a:t>
            </a:r>
          </a:p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b="1" sz="1500"/>
              <a:t>Walk-Forward Validation:  </a:t>
            </a:r>
            <a:r>
              <a:rPr sz="1300"/>
              <a:t>validação cronológica em janelas deslizantes — treina no passado, testa no futuro, sem vazamento de dados.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1A48F1-4D57-876A-A911-DB44B32BE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529" y="2653291"/>
            <a:ext cx="10515600" cy="1325563"/>
          </a:xfrm>
        </p:spPr>
        <p:txBody>
          <a:bodyPr/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Trabalhos Relacionados</a:t>
            </a:r>
            <a:endParaRPr lang="pt-BR" dirty="0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83D1101-E3C6-71A6-2F7F-0E733DB790FD}"/>
              </a:ext>
            </a:extLst>
          </p:cNvPr>
          <p:cNvCxnSpPr>
            <a:cxnSpLocks/>
          </p:cNvCxnSpPr>
          <p:nvPr/>
        </p:nvCxnSpPr>
        <p:spPr>
          <a:xfrm>
            <a:off x="843379" y="3315810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163C7-AFB6-CDA5-1683-AFFA5C666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Protocolo da Revisão Sistemática</a:t>
            </a:r>
            <a:endParaRPr lang="pt-BR" sz="3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3BA3085-E847-C63A-217B-C83520C24B43}"/>
              </a:ext>
            </a:extLst>
          </p:cNvPr>
          <p:cNvCxnSpPr>
            <a:cxnSpLocks/>
          </p:cNvCxnSpPr>
          <p:nvPr/>
        </p:nvCxnSpPr>
        <p:spPr>
          <a:xfrm>
            <a:off x="843379" y="1001055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417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500"/>
              <a:t>Bases consultadas:  </a:t>
            </a:r>
            <a:r>
              <a:rPr sz="1300"/>
              <a:t>ACM Digital Library, IEEE Xplore, Scopus, Web of Science e Periódicos CAPES.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500"/>
              <a:t>Strings de busca (PT/EN):  </a:t>
            </a:r>
            <a:r>
              <a:rPr sz="1300"/>
              <a:t>“projeção de preço de ativos”, “prever preço de ação”, “volatilidade de ações”, “sentimento de notícias”, “interpretando notícias”; “stock price prediction”, “news sentiment”, “stock volatility forecasting”, “financial text mining”.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500"/>
              <a:t>Janela da busca de literatura:  </a:t>
            </a:r>
            <a:r>
              <a:rPr sz="1300"/>
              <a:t>2007–2026 (do estudo seminal de Tetlock, 2007, aos trabalhos mais recentes).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500"/>
              <a:t>Janela dos dados empíricos:  </a:t>
            </a:r>
            <a:r>
              <a:rPr sz="1300"/>
              <a:t>2016–2026 (coleta de notícias e das cotações da PETR4).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500"/>
              <a:t>Critérios de exclusão:  </a:t>
            </a:r>
            <a:r>
              <a:rPr sz="1300"/>
              <a:t>sem revisão por pares; sem aplicação a mercados de ações reais; sem uso de PLN.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500"/>
              <a:t>Resultado:  </a:t>
            </a:r>
            <a:r>
              <a:rPr sz="1300"/>
              <a:t>452 publicações identificadas → 427 excluídas → 29 estudos selecionados.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888888"/>
                </a:solidFill>
              </a:rPr>
              <a:t>Distinção importante: a literatura é revisada de 2007 a 2026; os dados (notícias e preços) cobrem 2016 a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8D08A-F07E-EA18-DABC-CB880A3C2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E6AF1D-C066-6530-67FC-8459E9438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3200" b="1" kern="1200" dirty="0">
                <a:solidFill>
                  <a:srgbClr val="810539"/>
                </a:solidFill>
                <a:latin typeface="Arial Black" panose="020B0A04020102020204" pitchFamily="34" charset="0"/>
              </a:rPr>
              <a:t>Trabalhos Relacionados</a:t>
            </a:r>
            <a:endParaRPr lang="pt-BR" sz="32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81DC61A-CDFE-4E70-B2EF-6AA01F107DDB}"/>
              </a:ext>
            </a:extLst>
          </p:cNvPr>
          <p:cNvSpPr txBox="1"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endParaRPr lang="pt-BR" sz="1500" dirty="0"/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1EAAD73F-D7CA-2F73-8D94-3EADAD21EB05}"/>
              </a:ext>
            </a:extLst>
          </p:cNvPr>
          <p:cNvCxnSpPr>
            <a:cxnSpLocks/>
          </p:cNvCxnSpPr>
          <p:nvPr/>
        </p:nvCxnSpPr>
        <p:spPr>
          <a:xfrm>
            <a:off x="838200" y="893559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m 8">
            <a:extLst>
              <a:ext uri="{FF2B5EF4-FFF2-40B4-BE49-F238E27FC236}">
                <a16:creationId xmlns:a16="http://schemas.microsoft.com/office/drawing/2014/main" id="{625FEBA0-B140-D2FA-7163-B3C1AFC32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30" y="1008664"/>
            <a:ext cx="9958755" cy="5365056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A4EA7229-EA26-D1F4-E468-EE219047DA97}"/>
              </a:ext>
            </a:extLst>
          </p:cNvPr>
          <p:cNvSpPr/>
          <p:nvPr/>
        </p:nvSpPr>
        <p:spPr>
          <a:xfrm>
            <a:off x="982730" y="5576003"/>
            <a:ext cx="9914914" cy="277681"/>
          </a:xfrm>
          <a:prstGeom prst="rect">
            <a:avLst/>
          </a:prstGeom>
          <a:noFill/>
          <a:ln w="28575">
            <a:solidFill>
              <a:srgbClr val="CC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B4A1770-4AA2-844E-2003-A039648C98A4}"/>
              </a:ext>
            </a:extLst>
          </p:cNvPr>
          <p:cNvSpPr/>
          <p:nvPr/>
        </p:nvSpPr>
        <p:spPr>
          <a:xfrm>
            <a:off x="1004650" y="3943590"/>
            <a:ext cx="9914914" cy="277681"/>
          </a:xfrm>
          <a:prstGeom prst="rect">
            <a:avLst/>
          </a:prstGeom>
          <a:noFill/>
          <a:ln w="28575">
            <a:solidFill>
              <a:srgbClr val="CC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0519DEB-E160-9B02-25FA-BDD82ACCC647}"/>
              </a:ext>
            </a:extLst>
          </p:cNvPr>
          <p:cNvSpPr/>
          <p:nvPr/>
        </p:nvSpPr>
        <p:spPr>
          <a:xfrm>
            <a:off x="1004650" y="2775569"/>
            <a:ext cx="9914914" cy="337149"/>
          </a:xfrm>
          <a:prstGeom prst="rect">
            <a:avLst/>
          </a:prstGeom>
          <a:noFill/>
          <a:ln w="28575">
            <a:solidFill>
              <a:srgbClr val="CC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201391D-5274-FF78-7ED7-F0657A6A7585}"/>
              </a:ext>
            </a:extLst>
          </p:cNvPr>
          <p:cNvSpPr/>
          <p:nvPr/>
        </p:nvSpPr>
        <p:spPr>
          <a:xfrm>
            <a:off x="982730" y="5886756"/>
            <a:ext cx="9914914" cy="40757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TextBox 18"/>
          <p:cNvSpPr txBox="1"/>
          <p:nvPr/>
        </p:nvSpPr>
        <p:spPr>
          <a:xfrm>
            <a:off x="2240280" y="638251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888888"/>
                </a:solidFill>
              </a:rPr>
              <a:t>Fonte: Elaborado pelo autor (síntese das 25 publicações da RSL).</a:t>
            </a:r>
          </a:p>
        </p:txBody>
      </p:sp>
    </p:spTree>
    <p:extLst>
      <p:ext uri="{BB962C8B-B14F-4D97-AF65-F5344CB8AC3E}">
        <p14:creationId xmlns:p14="http://schemas.microsoft.com/office/powerpoint/2010/main" val="3517392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 sz="2600">
                <a:solidFill>
                  <a:srgbClr val="810539"/>
                </a:solidFill>
                <a:latin typeface="Arial Black" panose="020B0A04020102020204" pitchFamily="34" charset="0"/>
              </a:rPr>
              <a:t>Panorama Quantitativo da Literatura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57600" y="4572000"/>
            <a:ext cx="8138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400"/>
              <a:t>29 estudos selecionados  </a:t>
            </a:r>
            <a:r>
              <a:rPr sz="1300"/>
              <a:t>de 452 identificadas (período 2007–2026).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400"/>
              <a:t>Concentração recente:  </a:t>
            </a:r>
            <a:r>
              <a:rPr sz="1300"/>
              <a:t>a maioria dos trabalhos está na janela 2016–2026.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400"/>
              <a:t>Lacuna de idioma:  </a:t>
            </a:r>
            <a:r>
              <a:rPr sz="1300"/>
              <a:t>só 5 estudos em português (Nizer, Silva, Narde, Cardoso e um recente de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63550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888888"/>
                </a:solidFill>
              </a:rPr>
              <a:t>Fonte: Elaborado pelo autor (RSL). Números preliminares.</a:t>
            </a:r>
          </a:p>
        </p:txBody>
      </p:sp>
      <p:pic>
        <p:nvPicPr>
          <p:cNvPr id="11" name="Picture 10" descr="fig_rsl_an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554480"/>
            <a:ext cx="10972800" cy="2672342"/>
          </a:xfrm>
          <a:prstGeom prst="rect">
            <a:avLst/>
          </a:prstGeom>
        </p:spPr>
      </p:pic>
      <p:pic>
        <p:nvPicPr>
          <p:cNvPr id="12" name="Picture 11" descr="fig_rsl_idi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526280"/>
            <a:ext cx="188720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3C0C3-D1E3-EC42-DC72-8E9C51BC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82619E-4FBD-BA90-24A4-244212D44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Lacunas da Literatura</a:t>
            </a:r>
            <a:endParaRPr lang="pt-BR" sz="32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2BA2010-9935-BEE9-98B6-2D5D6B6F3FDC}"/>
              </a:ext>
            </a:extLst>
          </p:cNvPr>
          <p:cNvSpPr txBox="1"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endParaRPr lang="pt-BR" sz="1500" dirty="0"/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991F5F57-6B11-B3D2-8A4F-3EA690430DA7}"/>
              </a:ext>
            </a:extLst>
          </p:cNvPr>
          <p:cNvCxnSpPr>
            <a:cxnSpLocks/>
          </p:cNvCxnSpPr>
          <p:nvPr/>
        </p:nvCxnSpPr>
        <p:spPr>
          <a:xfrm>
            <a:off x="838200" y="893559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9984F2-F1A2-830E-4D92-780D4BB8378F}"/>
              </a:ext>
            </a:extLst>
          </p:cNvPr>
          <p:cNvSpPr txBox="1"/>
          <p:nvPr/>
        </p:nvSpPr>
        <p:spPr>
          <a:xfrm>
            <a:off x="882040" y="2473891"/>
            <a:ext cx="3044869" cy="1754326"/>
          </a:xfrm>
          <a:prstGeom prst="rect">
            <a:avLst/>
          </a:prstGeom>
          <a:noFill/>
          <a:ln w="28575">
            <a:solidFill>
              <a:srgbClr val="800539"/>
            </a:solidFill>
          </a:ln>
        </p:spPr>
        <p:txBody>
          <a:bodyPr wrap="square" rtlCol="0">
            <a:spAutoFit/>
          </a:bodyPr>
          <a:lstStyle/>
          <a:p>
            <a:r>
              <a:rPr lang="pt-BR" dirty="0"/>
              <a:t>Transição das avaliações genéricas de índices inteiros (</a:t>
            </a:r>
            <a:r>
              <a:rPr lang="pt-BR" dirty="0" err="1"/>
              <a:t>ex</a:t>
            </a:r>
            <a:r>
              <a:rPr lang="pt-BR" dirty="0"/>
              <a:t>: IBOVESPA) para o foco cirúrgico no risco idiossincrático de um ativo altamente politizado (PETR4).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A80D4F6-9AC6-4513-E8E9-F4E74D1B8522}"/>
              </a:ext>
            </a:extLst>
          </p:cNvPr>
          <p:cNvSpPr txBox="1"/>
          <p:nvPr/>
        </p:nvSpPr>
        <p:spPr>
          <a:xfrm>
            <a:off x="882040" y="2117085"/>
            <a:ext cx="3044869" cy="369332"/>
          </a:xfrm>
          <a:prstGeom prst="rect">
            <a:avLst/>
          </a:prstGeom>
          <a:noFill/>
          <a:ln w="28575">
            <a:solidFill>
              <a:srgbClr val="68042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GRANULARIDADE (ATIVO)</a:t>
            </a:r>
          </a:p>
        </p:txBody>
      </p:sp>
    </p:spTree>
    <p:extLst>
      <p:ext uri="{BB962C8B-B14F-4D97-AF65-F5344CB8AC3E}">
        <p14:creationId xmlns:p14="http://schemas.microsoft.com/office/powerpoint/2010/main" val="3719614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9F42E-4160-6FEE-DBDA-DA22A6BC3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09C9F5-68F9-3C1D-B16A-5205FBAF1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Lacunas da Literatura</a:t>
            </a:r>
            <a:endParaRPr lang="pt-BR" sz="32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36DC39A-B56A-FBAB-0866-92CE3DEDBCE8}"/>
              </a:ext>
            </a:extLst>
          </p:cNvPr>
          <p:cNvSpPr txBox="1"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endParaRPr lang="pt-BR" sz="1500" dirty="0"/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710373B4-783D-05E5-21DE-EE875C0CC509}"/>
              </a:ext>
            </a:extLst>
          </p:cNvPr>
          <p:cNvCxnSpPr>
            <a:cxnSpLocks/>
          </p:cNvCxnSpPr>
          <p:nvPr/>
        </p:nvCxnSpPr>
        <p:spPr>
          <a:xfrm>
            <a:off x="838200" y="893559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9E80257A-0FFA-D254-E9C2-FB49111B7A13}"/>
              </a:ext>
            </a:extLst>
          </p:cNvPr>
          <p:cNvSpPr txBox="1"/>
          <p:nvPr/>
        </p:nvSpPr>
        <p:spPr>
          <a:xfrm>
            <a:off x="882040" y="2473891"/>
            <a:ext cx="3044869" cy="1754326"/>
          </a:xfrm>
          <a:prstGeom prst="rect">
            <a:avLst/>
          </a:prstGeom>
          <a:noFill/>
          <a:ln w="28575">
            <a:solidFill>
              <a:srgbClr val="800539"/>
            </a:solidFill>
          </a:ln>
        </p:spPr>
        <p:txBody>
          <a:bodyPr wrap="square" rtlCol="0">
            <a:spAutoFit/>
          </a:bodyPr>
          <a:lstStyle/>
          <a:p>
            <a:r>
              <a:rPr lang="pt-BR" dirty="0"/>
              <a:t>Transição das avaliações genéricas de índices inteiros (</a:t>
            </a:r>
            <a:r>
              <a:rPr lang="pt-BR" dirty="0" err="1"/>
              <a:t>ex</a:t>
            </a:r>
            <a:r>
              <a:rPr lang="pt-BR" dirty="0"/>
              <a:t>: IBOVESPA) para o foco cirúrgico no risco idiossincrático de um ativo altamente politizado (PETR4).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0699A5F-7121-CA3C-D049-4582216928BF}"/>
              </a:ext>
            </a:extLst>
          </p:cNvPr>
          <p:cNvSpPr txBox="1"/>
          <p:nvPr/>
        </p:nvSpPr>
        <p:spPr>
          <a:xfrm>
            <a:off x="882040" y="2117085"/>
            <a:ext cx="3044869" cy="369332"/>
          </a:xfrm>
          <a:prstGeom prst="rect">
            <a:avLst/>
          </a:prstGeom>
          <a:noFill/>
          <a:ln w="28575">
            <a:solidFill>
              <a:srgbClr val="68042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GRANULARIDADE (ATIVO)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A3939CD-360A-311B-6130-8E03B9EC8AFC}"/>
              </a:ext>
            </a:extLst>
          </p:cNvPr>
          <p:cNvSpPr txBox="1"/>
          <p:nvPr/>
        </p:nvSpPr>
        <p:spPr>
          <a:xfrm>
            <a:off x="4203525" y="2473891"/>
            <a:ext cx="3462404" cy="1754326"/>
          </a:xfrm>
          <a:prstGeom prst="rect">
            <a:avLst/>
          </a:prstGeom>
          <a:noFill/>
          <a:ln w="28575">
            <a:solidFill>
              <a:srgbClr val="800539"/>
            </a:solidFill>
          </a:ln>
        </p:spPr>
        <p:txBody>
          <a:bodyPr wrap="square" rtlCol="0">
            <a:spAutoFit/>
          </a:bodyPr>
          <a:lstStyle/>
          <a:p>
            <a:r>
              <a:rPr lang="pt-BR" dirty="0"/>
              <a:t>Superação de dicionários estáticos e contagem de palavras (TF-IDF) pela adoção do estado da arte em Transformers (FinBERT-PT-BR) para desambiguação de ironias e jargões no português brasileiro.</a:t>
            </a:r>
            <a:r>
              <a:rPr lang="pt-BR" dirty="0" err="1"/>
              <a:t/>
            </a:r>
            <a:r>
              <a:rPr lang="pt-BR" dirty="0"/>
              <a:t/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DFF06D6-F15D-98BF-952E-5EE1D1F5F478}"/>
              </a:ext>
            </a:extLst>
          </p:cNvPr>
          <p:cNvSpPr txBox="1"/>
          <p:nvPr/>
        </p:nvSpPr>
        <p:spPr>
          <a:xfrm>
            <a:off x="4203525" y="2117085"/>
            <a:ext cx="3462404" cy="369332"/>
          </a:xfrm>
          <a:prstGeom prst="rect">
            <a:avLst/>
          </a:prstGeom>
          <a:noFill/>
          <a:ln w="28575">
            <a:solidFill>
              <a:srgbClr val="68042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SEMÂNTICA (NLP)</a:t>
            </a:r>
          </a:p>
        </p:txBody>
      </p:sp>
    </p:spTree>
    <p:extLst>
      <p:ext uri="{BB962C8B-B14F-4D97-AF65-F5344CB8AC3E}">
        <p14:creationId xmlns:p14="http://schemas.microsoft.com/office/powerpoint/2010/main" val="880376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BD6E0-9A21-D956-186E-F72CEBFE3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CFD8F-BF62-C98F-75ED-26DAC13B9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Lacunas da Literatura</a:t>
            </a:r>
            <a:endParaRPr lang="pt-BR" sz="32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20F43A2-DE39-E217-4FCD-DCB0CDD89E76}"/>
              </a:ext>
            </a:extLst>
          </p:cNvPr>
          <p:cNvSpPr txBox="1"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endParaRPr lang="pt-BR" sz="1500" dirty="0"/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7707B71E-FC8E-6EF8-77C0-9BA73EC377DE}"/>
              </a:ext>
            </a:extLst>
          </p:cNvPr>
          <p:cNvCxnSpPr>
            <a:cxnSpLocks/>
          </p:cNvCxnSpPr>
          <p:nvPr/>
        </p:nvCxnSpPr>
        <p:spPr>
          <a:xfrm>
            <a:off x="838200" y="893559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4F893018-56B5-B409-8ADA-35014BF97920}"/>
              </a:ext>
            </a:extLst>
          </p:cNvPr>
          <p:cNvSpPr txBox="1"/>
          <p:nvPr/>
        </p:nvSpPr>
        <p:spPr>
          <a:xfrm>
            <a:off x="882040" y="2473891"/>
            <a:ext cx="3044869" cy="1754326"/>
          </a:xfrm>
          <a:prstGeom prst="rect">
            <a:avLst/>
          </a:prstGeom>
          <a:noFill/>
          <a:ln w="28575">
            <a:solidFill>
              <a:srgbClr val="800539"/>
            </a:solidFill>
          </a:ln>
        </p:spPr>
        <p:txBody>
          <a:bodyPr wrap="square" rtlCol="0">
            <a:spAutoFit/>
          </a:bodyPr>
          <a:lstStyle/>
          <a:p>
            <a:r>
              <a:rPr lang="pt-BR" dirty="0"/>
              <a:t>Transição das avaliações genéricas de índices inteiros (</a:t>
            </a:r>
            <a:r>
              <a:rPr lang="pt-BR" dirty="0" err="1"/>
              <a:t>ex</a:t>
            </a:r>
            <a:r>
              <a:rPr lang="pt-BR" dirty="0"/>
              <a:t>: IBOVESPA) para o foco cirúrgico no risco idiossincrático de um ativo altamente politizado (PETR4).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854B076-80A1-1A83-C095-8DC46031CA88}"/>
              </a:ext>
            </a:extLst>
          </p:cNvPr>
          <p:cNvSpPr txBox="1"/>
          <p:nvPr/>
        </p:nvSpPr>
        <p:spPr>
          <a:xfrm>
            <a:off x="882040" y="2117085"/>
            <a:ext cx="3044869" cy="369332"/>
          </a:xfrm>
          <a:prstGeom prst="rect">
            <a:avLst/>
          </a:prstGeom>
          <a:noFill/>
          <a:ln w="28575">
            <a:solidFill>
              <a:srgbClr val="68042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GRANULARIDADE (ATIVO)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909BD7E-7F18-7EB7-79DE-B54AE5D8BC68}"/>
              </a:ext>
            </a:extLst>
          </p:cNvPr>
          <p:cNvSpPr txBox="1"/>
          <p:nvPr/>
        </p:nvSpPr>
        <p:spPr>
          <a:xfrm>
            <a:off x="4203525" y="2473891"/>
            <a:ext cx="3462404" cy="1754326"/>
          </a:xfrm>
          <a:prstGeom prst="rect">
            <a:avLst/>
          </a:prstGeom>
          <a:noFill/>
          <a:ln w="28575">
            <a:solidFill>
              <a:srgbClr val="800539"/>
            </a:solidFill>
          </a:ln>
        </p:spPr>
        <p:txBody>
          <a:bodyPr wrap="square" rtlCol="0">
            <a:spAutoFit/>
          </a:bodyPr>
          <a:lstStyle/>
          <a:p>
            <a:r>
              <a:rPr lang="pt-BR" dirty="0"/>
              <a:t>Superação de dicionários estáticos e contagem de palavras (TF-IDF) pela adoção do estado da arte em Transformers (FinBERT-PT-BR) para desambiguação de ironias e jargões no português brasileiro.</a:t>
            </a:r>
            <a:r>
              <a:rPr lang="pt-BR" dirty="0" err="1"/>
              <a:t/>
            </a:r>
            <a:r>
              <a:rPr lang="pt-BR" dirty="0"/>
              <a:t/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C88D56E-8CDA-EB41-7393-CA425E933074}"/>
              </a:ext>
            </a:extLst>
          </p:cNvPr>
          <p:cNvSpPr txBox="1"/>
          <p:nvPr/>
        </p:nvSpPr>
        <p:spPr>
          <a:xfrm>
            <a:off x="4203525" y="2117085"/>
            <a:ext cx="3462404" cy="369332"/>
          </a:xfrm>
          <a:prstGeom prst="rect">
            <a:avLst/>
          </a:prstGeom>
          <a:noFill/>
          <a:ln w="28575">
            <a:solidFill>
              <a:srgbClr val="68042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SEMÂNTICA (NLP)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B97F2F-4D4A-AC35-226A-B60F17D4DA8A}"/>
              </a:ext>
            </a:extLst>
          </p:cNvPr>
          <p:cNvSpPr txBox="1"/>
          <p:nvPr/>
        </p:nvSpPr>
        <p:spPr>
          <a:xfrm>
            <a:off x="7942545" y="2473891"/>
            <a:ext cx="3044869" cy="1754326"/>
          </a:xfrm>
          <a:prstGeom prst="rect">
            <a:avLst/>
          </a:prstGeom>
          <a:noFill/>
          <a:ln w="28575">
            <a:solidFill>
              <a:srgbClr val="800539"/>
            </a:solidFill>
          </a:ln>
        </p:spPr>
        <p:txBody>
          <a:bodyPr wrap="square" rtlCol="0">
            <a:spAutoFit/>
          </a:bodyPr>
          <a:lstStyle/>
          <a:p>
            <a:r>
              <a:rPr lang="pt-BR" dirty="0"/>
              <a:t>Unificação inédita no Brasil integrando Inteligência Artificial textual, inércia econométrica de risco (GARCH) e predição não-linear direcional (</a:t>
            </a:r>
            <a:r>
              <a:rPr lang="pt-BR" dirty="0" err="1"/>
              <a:t>XGBoost</a:t>
            </a:r>
            <a:r>
              <a:rPr lang="pt-BR" dirty="0"/>
              <a:t>/SVM).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87C7B6D-BAD7-31B4-EEBC-D6353E44D597}"/>
              </a:ext>
            </a:extLst>
          </p:cNvPr>
          <p:cNvSpPr txBox="1"/>
          <p:nvPr/>
        </p:nvSpPr>
        <p:spPr>
          <a:xfrm>
            <a:off x="7942545" y="2117085"/>
            <a:ext cx="3044869" cy="369332"/>
          </a:xfrm>
          <a:prstGeom prst="rect">
            <a:avLst/>
          </a:prstGeom>
          <a:noFill/>
          <a:ln w="28575">
            <a:solidFill>
              <a:srgbClr val="68042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ARQUITETURA (DATA FUSION)</a:t>
            </a:r>
          </a:p>
        </p:txBody>
      </p:sp>
    </p:spTree>
    <p:extLst>
      <p:ext uri="{BB962C8B-B14F-4D97-AF65-F5344CB8AC3E}">
        <p14:creationId xmlns:p14="http://schemas.microsoft.com/office/powerpoint/2010/main" val="2553994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448-AB5E-D8CB-FA8D-94D8D1329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748C0F-C031-8882-635C-7E63161DC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529" y="2653291"/>
            <a:ext cx="10515600" cy="1325563"/>
          </a:xfrm>
        </p:spPr>
        <p:txBody>
          <a:bodyPr/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Método da Pesquisa</a:t>
            </a:r>
            <a:endParaRPr lang="pt-BR" dirty="0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56282FE-3C80-A4AB-083A-E33EC5FC1511}"/>
              </a:ext>
            </a:extLst>
          </p:cNvPr>
          <p:cNvCxnSpPr>
            <a:cxnSpLocks/>
          </p:cNvCxnSpPr>
          <p:nvPr/>
        </p:nvCxnSpPr>
        <p:spPr>
          <a:xfrm>
            <a:off x="843379" y="3315810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70272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Metodologia da Pesquisa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  <a:buNone/>
            </a:pPr>
            <a:r>
              <a:rPr b="1" sz="1600"/>
              <a:t>Método de pesquisa:  </a:t>
            </a:r>
            <a:r>
              <a:rPr sz="1350"/>
              <a:t>experimental — compara, sob condições controladas, o desempenho de modelos com e sem a informação de sentimento.</a:t>
            </a:r>
          </a:p>
          <a:p>
            <a:pPr>
              <a:spcBef>
                <a:spcPts val="0"/>
              </a:spcBef>
              <a:spcAft>
                <a:spcPts val="1000"/>
              </a:spcAft>
              <a:buNone/>
            </a:pPr>
            <a:r>
              <a:rPr b="1" sz="1600"/>
              <a:t>Natureza:  </a:t>
            </a:r>
            <a:r>
              <a:rPr sz="1350"/>
              <a:t>empírico-quantitativa — conclusões derivadas de dados reais, expressos em números e tratamento estatístico.</a:t>
            </a:r>
          </a:p>
          <a:p>
            <a:pPr>
              <a:spcBef>
                <a:spcPts val="0"/>
              </a:spcBef>
              <a:spcAft>
                <a:spcPts val="1000"/>
              </a:spcAft>
              <a:buNone/>
            </a:pPr>
            <a:r>
              <a:rPr b="1" sz="1600"/>
              <a:t>Finalidade:  </a:t>
            </a:r>
            <a:r>
              <a:rPr sz="1350"/>
              <a:t>aplicada — constrói um artefato computacional capaz de produzir previsões verificáveis.</a:t>
            </a:r>
          </a:p>
          <a:p>
            <a:pPr>
              <a:spcBef>
                <a:spcPts val="0"/>
              </a:spcBef>
              <a:spcAft>
                <a:spcPts val="1000"/>
              </a:spcAft>
              <a:buNone/>
            </a:pPr>
            <a:r>
              <a:rPr b="1" sz="1600"/>
              <a:t>Unidade de análise:  </a:t>
            </a:r>
            <a:r>
              <a:rPr sz="1350"/>
              <a:t>o pregão (dia de negociação); as notícias do dia são agregadas em um índice diário → uma previsão por pregão.</a:t>
            </a:r>
          </a:p>
          <a:p>
            <a:pPr>
              <a:spcBef>
                <a:spcPts val="0"/>
              </a:spcBef>
              <a:spcAft>
                <a:spcPts val="1000"/>
              </a:spcAft>
              <a:buNone/>
            </a:pPr>
            <a:r>
              <a:rPr b="1" sz="1600"/>
              <a:t>Pressuposto central:  </a:t>
            </a:r>
            <a:r>
              <a:rPr sz="1350"/>
              <a:t>causalidade temporal — só a informação disponível antes do pregão pode prevê-lo (marcação temporal e defasagem dos atributos).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163C7-AFB6-CDA5-1683-AFFA5C666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800" b="1" dirty="0">
                <a:solidFill>
                  <a:srgbClr val="810539"/>
                </a:solidFill>
                <a:latin typeface="Arial Black" panose="020B0A04020102020204" pitchFamily="34" charset="0"/>
              </a:rPr>
              <a:t>Dados: Preços da PETR4 (B3)</a:t>
            </a:r>
            <a:endParaRPr lang="pt-BR" sz="3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3BA3085-E847-C63A-217B-C83520C24B43}"/>
              </a:ext>
            </a:extLst>
          </p:cNvPr>
          <p:cNvCxnSpPr>
            <a:cxnSpLocks/>
          </p:cNvCxnSpPr>
          <p:nvPr/>
        </p:nvCxnSpPr>
        <p:spPr>
          <a:xfrm>
            <a:off x="843379" y="1001055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can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577840" cy="32710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50876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  <a:buNone/>
            </a:pPr>
            <a:r>
              <a:rPr b="1" sz="1400"/>
              <a:t>O que coletamos:  </a:t>
            </a:r>
            <a:r>
              <a:rPr sz="1300"/>
              <a:t>cotação diária da PETR4 (2016-2026, 2.612 pregões) via B3/yfinance: abertura, máxima, mínima, fechamento e volume.</a:t>
            </a:r>
          </a:p>
          <a:p>
            <a:pPr>
              <a:spcBef>
                <a:spcPts val="0"/>
              </a:spcBef>
              <a:spcAft>
                <a:spcPts val="1100"/>
              </a:spcAft>
              <a:buNone/>
            </a:pPr>
            <a:r>
              <a:rPr b="1" sz="1400"/>
              <a:t>Variável derivada:  </a:t>
            </a:r>
            <a:r>
              <a:rPr sz="1300"/>
              <a:t>o log-retorno Rₜ = ln(Pₜ/Pₜ₋₁), que aproxima a variação percentual e favorece a estacionariedade.</a:t>
            </a:r>
          </a:p>
          <a:p>
            <a:pPr>
              <a:spcBef>
                <a:spcPts val="0"/>
              </a:spcBef>
              <a:spcAft>
                <a:spcPts val="1100"/>
              </a:spcAft>
              <a:buNone/>
            </a:pPr>
            <a:r>
              <a:rPr b="1" sz="1400"/>
              <a:t>Variável-alvo (direção):  </a:t>
            </a:r>
            <a:r>
              <a:rPr sz="1300"/>
              <a:t>se Rₜ &gt; 0 → alta (1); se Rₜ ≤ 0 → baixa (0).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029200"/>
          <a:ext cx="11338560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371600"/>
                <a:gridCol w="1371600"/>
                <a:gridCol w="1371600"/>
                <a:gridCol w="1371600"/>
                <a:gridCol w="237744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Abert.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Máx.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Mín.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Fech.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Volume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Variação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25/06/2026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38,12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38,67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37,92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38,45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25.152.300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+0,42%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26/06/2026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38,07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38,25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37,93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38,06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23.383.000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−1,02%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29/06/2026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38,20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38,37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37,92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38,14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14.924.800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+0,21%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38251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888888"/>
                </a:solidFill>
              </a:rPr>
              <a:t>Amostra do DataFrame de preços (base_financeira_petr4.csv).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 sz="2800">
                <a:solidFill>
                  <a:srgbClr val="810539"/>
                </a:solidFill>
                <a:latin typeface="Arial Black" panose="020B0A04020102020204" pitchFamily="34" charset="0"/>
              </a:rPr>
              <a:t>Dados: Corpus de Notícias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1732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400"/>
              <a:t>O que coletamos:  </a:t>
            </a:r>
            <a:r>
              <a:rPr sz="1300"/>
              <a:t>261.960 manchetes datadas (2016-2026) de 5 portais — InfoMoney, Exame, MoneyTimes, Petronotícias e Poder360 — via API WordPress (REST).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400"/>
              <a:t>Campos de cada notícia:  </a:t>
            </a:r>
            <a:r>
              <a:rPr sz="1300"/>
              <a:t>data e hora exatas de publicação, fonte, título, resumo, URL e a categoria temática (taxonomia de 7 classes).</a:t>
            </a:r>
          </a:p>
          <a:p>
            <a:pPr>
              <a:spcBef>
                <a:spcPts val="0"/>
              </a:spcBef>
              <a:spcAft>
                <a:spcPts val="900"/>
              </a:spcAft>
              <a:buNone/>
            </a:pPr>
            <a:r>
              <a:rPr b="1" sz="1400"/>
              <a:t>Uso:  </a:t>
            </a:r>
            <a:r>
              <a:rPr sz="1300"/>
              <a:t>as notícias de cada pregão são agregadas em um índice diário de sentimento (ISM); notícias após 17h vão para o pregão seguinte (Lead-Lag).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520440"/>
          <a:ext cx="113385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468880"/>
                <a:gridCol w="1554480"/>
                <a:gridCol w="53035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Data/Hora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Fonte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Título</a:t>
                      </a:r>
                    </a:p>
                  </a:txBody>
                  <a:tcPr anchor="ctr" marT="12700" marB="12700" marL="50800" marR="25400">
                    <a:solidFill>
                      <a:srgbClr val="6B0F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03/01/2016 13:10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Mercado de Petróleo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Exame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Gigantes do petróleo cortam novamente investimentos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04/01/2016 08:55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Empresa e Ativo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InfoMoney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Presença de Murilo Ferreira na Petrobras incomodou o mercado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04/01/2016 11:49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Geopolítica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Exame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Ataque do EI a porto petroleiro da Líbia tem 6 mortos</a:t>
                      </a:r>
                    </a:p>
                  </a:txBody>
                  <a:tcPr anchor="ctr" marT="12700" marB="12700" marL="50800" marR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04/01/2016 13:44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Macro/Energia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Petronotícias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José Firmo assume presidência da Abespetro</a:t>
                      </a:r>
                    </a:p>
                  </a:txBody>
                  <a:tcPr anchor="ctr" marT="12700" marB="12700" marL="50800" marR="25400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38251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888888"/>
                </a:solidFill>
              </a:rPr>
              <a:t>Amostra do DataFrame de notícias (base_textual_petr4_wordpress_2016_2026.csv).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Arquitetura da Solução</a:t>
            </a:r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2240280" y="63550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888888"/>
                </a:solidFill>
              </a:rPr>
              <a:t>Fonte: Elaborado pelo autor (conforme dissertação e scripts do projeto).</a:t>
            </a:r>
          </a:p>
        </p:txBody>
      </p:sp>
      <p:pic>
        <p:nvPicPr>
          <p:cNvPr id="5" name="Picture 4" descr="fig_arquitetura_20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5" y="1554480"/>
            <a:ext cx="11247120" cy="4972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37934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 sz="2400">
                <a:solidFill>
                  <a:srgbClr val="810539"/>
                </a:solidFill>
                <a:latin typeface="Arial Black" panose="020B0A04020102020204" pitchFamily="34" charset="0"/>
              </a:rPr>
              <a:t>Fusão de Dados e Predição da Direção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333333"/>
                </a:solidFill>
              </a:rPr>
              <a:t>Os atributos heterogêneos são concatenados num único vetor (todos defasados em t−1) e submetidos ao classificador não linear, que projeta a direção do pregão seguinte.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63550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888888"/>
                </a:solidFill>
              </a:rPr>
              <a:t>Fonte: Elaborado pelo autor.</a:t>
            </a:r>
          </a:p>
        </p:txBody>
      </p:sp>
      <p:pic>
        <p:nvPicPr>
          <p:cNvPr id="10" name="Picture 9" descr="fig_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10881360" cy="42838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 sz="2200">
                <a:solidFill>
                  <a:srgbClr val="810539"/>
                </a:solidFill>
                <a:latin typeface="Arial Black" panose="020B0A04020102020204" pitchFamily="34" charset="0"/>
              </a:rPr>
              <a:t>Taxonomia Temática das Notícias (7 categorias)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39319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 anchor="ctr" marT="12700" marB="12700" marL="635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Exemplos de termos</a:t>
                      </a:r>
                    </a:p>
                  </a:txBody>
                  <a:tcPr anchor="ctr" marT="12700" marB="12700" marL="635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Via de impacto no preço</a:t>
                      </a:r>
                    </a:p>
                  </a:txBody>
                  <a:tcPr anchor="ctr" marT="12700" marB="12700" marL="63500">
                    <a:solidFill>
                      <a:srgbClr val="6B0F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</a:rPr>
                        <a:t>1. Empresa e Ativo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Petrobras, PETR4, dividendos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corporativa (a própria companhia)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</a:rPr>
                        <a:t>2. Mercado de Petróleo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Brent, barril, cotação do petróleo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preço da commodity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</a:rPr>
                        <a:t>3. Geopolítica e Conflitos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guerra, Oriente Médio, Israel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choque de oferta/risco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</a:rPr>
                        <a:t>4. Oferta, Infraestrutura, Produção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refinaria, oleoduto, plataforma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oferta física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</a:rPr>
                        <a:t>5. Acordos, Sanções e Navegação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embargo, sanção, bloqueio naval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oferta/logística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</a:rPr>
                        <a:t>6. Liderança e Governança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CEO, troca de presidente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governança e política</a:t>
                      </a:r>
                    </a:p>
                  </a:txBody>
                  <a:tcPr anchor="ctr" marT="12700" marB="12700" marL="63500">
                    <a:solidFill>
                      <a:srgbClr val="DEEB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</a:rPr>
                        <a:t>7. Macroeconomia, Câmbio e Energia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dólar, câmbio, Fed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</a:rPr>
                        <a:t>macro e transição energética</a:t>
                      </a:r>
                    </a:p>
                  </a:txBody>
                  <a:tcPr anchor="ctr" marT="12700" marB="12700" marL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6235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b="1" sz="1300"/>
              <a:t>Para que serve:  </a:t>
            </a:r>
            <a:r>
              <a:rPr sz="1200"/>
              <a:t>152 termos, definidos a priori pela literatura econômica. Substitui o LDA (não supervisionado) por categorias interpretáveis e auditáveis.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b="1" sz="1300"/>
              <a:t>Análise de ablação:  </a:t>
            </a:r>
            <a:r>
              <a:rPr sz="1200"/>
              <a:t>remove-se uma categoria por vez e mede-se o impacto — a de Sanções/Navegação foi a mais informativa (−3,68 pp de acurácia).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 sz="2400">
                <a:solidFill>
                  <a:srgbClr val="810539"/>
                </a:solidFill>
                <a:latin typeface="Arial Black" panose="020B0A04020102020204" pitchFamily="34" charset="0"/>
              </a:rPr>
              <a:t>Notícias Divergentes no Mesmo Pregão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333333"/>
                </a:solidFill>
              </a:rPr>
              <a:t>Quando há notícias positivas e negativas no mesmo dia, a polaridade de cada uma é ponderada pela confiança do modelo; o saldo forma o índice diário (ISM) que orienta a previsão — uma por pregão.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63550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888888"/>
                </a:solidFill>
              </a:rPr>
              <a:t>Fonte: Elaborado pelo autor.</a:t>
            </a:r>
          </a:p>
        </p:txBody>
      </p:sp>
      <p:pic>
        <p:nvPicPr>
          <p:cNvPr id="10" name="Picture 9" descr="fig_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10881360" cy="42838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 sz="2400">
                <a:solidFill>
                  <a:srgbClr val="810539"/>
                </a:solidFill>
                <a:latin typeface="Arial Black" panose="020B0A04020102020204" pitchFamily="34" charset="0"/>
              </a:rPr>
              <a:t>Separação dos Dados (validação walk-forward)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15600" cy="25628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48056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  <a:buNone/>
            </a:pPr>
            <a:r>
              <a:rPr b="1" sz="1400"/>
              <a:t>Por que cronológico (nunca aleatório):  </a:t>
            </a:r>
            <a:r>
              <a:rPr sz="1300"/>
              <a:t>prever o futuro com o passado. Embaralhar as datas causaria vazamento de informação futura.</a:t>
            </a:r>
          </a:p>
          <a:p>
            <a:pPr>
              <a:spcBef>
                <a:spcPts val="0"/>
              </a:spcBef>
              <a:spcAft>
                <a:spcPts val="800"/>
              </a:spcAft>
              <a:buNone/>
            </a:pPr>
            <a:r>
              <a:rPr b="1" sz="1400"/>
              <a:t>Treino (60%):  </a:t>
            </a:r>
            <a:r>
              <a:rPr sz="1300"/>
              <a:t>o modelo aprende os padrões. Validação (15%): ajustam-se os hiperparâmetros e o limiar de decisão.</a:t>
            </a:r>
          </a:p>
          <a:p>
            <a:pPr>
              <a:spcBef>
                <a:spcPts val="0"/>
              </a:spcBef>
              <a:spcAft>
                <a:spcPts val="800"/>
              </a:spcAft>
              <a:buNone/>
            </a:pPr>
            <a:r>
              <a:rPr b="1" sz="1400"/>
              <a:t>Teste (25% · 653 pregões):  </a:t>
            </a:r>
            <a:r>
              <a:rPr sz="1300"/>
              <a:t>consultado uma ÚNICA vez, ao final — é o resultado honesto reportado.</a:t>
            </a:r>
          </a:p>
          <a:p>
            <a:pPr>
              <a:spcBef>
                <a:spcPts val="0"/>
              </a:spcBef>
              <a:spcAft>
                <a:spcPts val="800"/>
              </a:spcAft>
              <a:buNone/>
            </a:pPr>
            <a:r>
              <a:rPr b="1" sz="1400"/>
              <a:t>Walk-forward:  </a:t>
            </a:r>
            <a:r>
              <a:rPr sz="1300"/>
              <a:t>repete-se o processo em janelas deslizantes, simulando o uso real dia após dia.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163C7-AFB6-CDA5-1683-AFFA5C666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Métricas de Avaliação</a:t>
            </a:r>
            <a:endParaRPr lang="pt-BR" sz="3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3BA3085-E847-C63A-217B-C83520C24B43}"/>
              </a:ext>
            </a:extLst>
          </p:cNvPr>
          <p:cNvCxnSpPr>
            <a:cxnSpLocks/>
          </p:cNvCxnSpPr>
          <p:nvPr/>
        </p:nvCxnSpPr>
        <p:spPr>
          <a:xfrm>
            <a:off x="843379" y="1001055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55448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Saída:  </a:t>
            </a:r>
            <a:r>
              <a:rPr sz="1300"/>
              <a:t>direção do pregão seguinte (alta/baixa).</a:t>
            </a:r>
          </a:p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Acurácia:  </a:t>
            </a:r>
            <a:r>
              <a:rPr sz="1300"/>
              <a:t>% de acertos. Só vale se superar a classe majoritária (baseline).</a:t>
            </a:r>
          </a:p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Precisão:  </a:t>
            </a:r>
            <a:r>
              <a:rPr sz="1300"/>
              <a:t>dos pregões previstos como alta, quantos foram realmente alta.</a:t>
            </a:r>
          </a:p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Revocação (recall):  </a:t>
            </a:r>
            <a:r>
              <a:rPr sz="1300"/>
              <a:t>das altas reais, quantas o modelo capturou.</a:t>
            </a:r>
          </a:p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F1-Score:  </a:t>
            </a:r>
            <a:r>
              <a:rPr sz="1300"/>
              <a:t>média harmônica de precisão e revocação (desmascara viés de classe).</a:t>
            </a:r>
          </a:p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AUC-ROC:  </a:t>
            </a:r>
            <a:r>
              <a:rPr sz="1300"/>
              <a:t>capacidade de ordenar alta × baixa; 0,5 = acaso, 1,0 = perfeito.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Volatilidade:  </a:t>
            </a:r>
            <a:r>
              <a:rPr sz="1300"/>
              <a:t>correlação, MAE, RMSE, QLIKE, R² e coeficiente de Mincer-Zarnowitz.</a:t>
            </a:r>
          </a:p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Significância:  </a:t>
            </a:r>
            <a:r>
              <a:rPr sz="1300"/>
              <a:t>teste binomial (vs. acaso), McNemar (pareado entre modelos) e intervalo de confiança da proporção.</a:t>
            </a:r>
          </a:p>
          <a:p>
            <a:pPr>
              <a:spcBef>
                <a:spcPts val="0"/>
              </a:spcBef>
              <a:spcAft>
                <a:spcPts val="1300"/>
              </a:spcAft>
              <a:buNone/>
            </a:pPr>
            <a:r>
              <a:rPr b="1" sz="1450"/>
              <a:t>Validação:  </a:t>
            </a:r>
            <a:r>
              <a:rPr sz="1300"/>
              <a:t>split cronológico 60/15/25 + walk-forward; teste de 653 pregões consultado uma única vez.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0554C-6DCA-5994-1EF6-74C98A99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D5ADA0-C7AD-9BF7-1768-284365084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529" y="2653291"/>
            <a:ext cx="10515600" cy="1325563"/>
          </a:xfrm>
        </p:spPr>
        <p:txBody>
          <a:bodyPr/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Resultados Preliminares</a:t>
            </a:r>
            <a:endParaRPr lang="pt-BR" dirty="0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491E531-9769-6FB3-6660-EB1F967232C9}"/>
              </a:ext>
            </a:extLst>
          </p:cNvPr>
          <p:cNvCxnSpPr>
            <a:cxnSpLocks/>
          </p:cNvCxnSpPr>
          <p:nvPr/>
        </p:nvCxnSpPr>
        <p:spPr>
          <a:xfrm>
            <a:off x="843379" y="3315810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7285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5D63D-4CFD-BD2B-8C00-FDBBE978E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866035-D737-E59D-1CC5-1958C543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Análise Exploratória – Filtragem de Ruídos</a:t>
            </a:r>
            <a:endParaRPr lang="pt-BR" sz="32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A72D3371-195B-61DE-C71F-EA9F6FC2157D}"/>
              </a:ext>
            </a:extLst>
          </p:cNvPr>
          <p:cNvSpPr txBox="1"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endParaRPr lang="pt-BR" sz="1500" dirty="0"/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621497EE-CB74-12DC-9C90-54CC5417CD79}"/>
              </a:ext>
            </a:extLst>
          </p:cNvPr>
          <p:cNvCxnSpPr>
            <a:cxnSpLocks/>
          </p:cNvCxnSpPr>
          <p:nvPr/>
        </p:nvCxnSpPr>
        <p:spPr>
          <a:xfrm>
            <a:off x="838200" y="893559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164592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  <a:buNone/>
            </a:pPr>
            <a:r>
              <a:rPr sz="1700">
                <a:solidFill>
                  <a:srgbClr val="2E75B6"/>
                </a:solidFill>
              </a:rPr>
              <a:t>■  </a:t>
            </a:r>
            <a:r>
              <a:rPr b="1" sz="1700">
                <a:solidFill>
                  <a:srgbClr val="2E75B6"/>
                </a:solidFill>
              </a:rPr>
              <a:t>Corpus coletado:  </a:t>
            </a:r>
            <a:r>
              <a:rPr sz="1450">
                <a:solidFill>
                  <a:srgbClr val="333333"/>
                </a:solidFill>
              </a:rPr>
              <a:t>261.960 manchetes datadas de 5 portais (2016–2026).</a:t>
            </a:r>
          </a:p>
          <a:p>
            <a:pPr>
              <a:spcBef>
                <a:spcPts val="0"/>
              </a:spcBef>
              <a:spcAft>
                <a:spcPts val="1800"/>
              </a:spcAft>
              <a:buNone/>
            </a:pPr>
            <a:r>
              <a:rPr sz="1700">
                <a:solidFill>
                  <a:srgbClr val="1E7E34"/>
                </a:solidFill>
              </a:rPr>
              <a:t>■  </a:t>
            </a:r>
            <a:r>
              <a:rPr b="1" sz="1700">
                <a:solidFill>
                  <a:srgbClr val="1E7E34"/>
                </a:solidFill>
              </a:rPr>
              <a:t>Ruído branco (~85%):  </a:t>
            </a:r>
            <a:r>
              <a:rPr sz="1450">
                <a:solidFill>
                  <a:srgbClr val="333333"/>
                </a:solidFill>
              </a:rPr>
              <a:t>a maioria das notícias não desloca o preço da PETR4 de forma anormal.</a:t>
            </a:r>
          </a:p>
          <a:p>
            <a:pPr>
              <a:spcBef>
                <a:spcPts val="0"/>
              </a:spcBef>
              <a:spcAft>
                <a:spcPts val="1800"/>
              </a:spcAft>
              <a:buNone/>
            </a:pPr>
            <a:r>
              <a:rPr sz="1700">
                <a:solidFill>
                  <a:srgbClr val="E87D0D"/>
                </a:solidFill>
              </a:rPr>
              <a:t>■  </a:t>
            </a:r>
            <a:r>
              <a:rPr b="1" sz="1700">
                <a:solidFill>
                  <a:srgbClr val="E87D0D"/>
                </a:solidFill>
              </a:rPr>
              <a:t>Choque informacional (~15%):  </a:t>
            </a:r>
            <a:r>
              <a:rPr sz="1450">
                <a:solidFill>
                  <a:srgbClr val="333333"/>
                </a:solidFill>
              </a:rPr>
              <a:t>as notícias que coincidem com rompimentos de estresse no GARCH — onde o sinal se concentra.</a:t>
            </a:r>
          </a:p>
          <a:p>
            <a:pPr>
              <a:spcBef>
                <a:spcPts val="0"/>
              </a:spcBef>
              <a:spcAft>
                <a:spcPts val="1800"/>
              </a:spcAft>
              <a:buNone/>
            </a:pPr>
            <a:r>
              <a:rPr sz="1700">
                <a:solidFill>
                  <a:srgbClr val="6B0F2A"/>
                </a:solidFill>
              </a:rPr>
              <a:t>■  </a:t>
            </a:r>
            <a:r>
              <a:rPr b="1" sz="1700">
                <a:solidFill>
                  <a:srgbClr val="6B0F2A"/>
                </a:solidFill>
              </a:rPr>
              <a:t>Leitura:  </a:t>
            </a:r>
            <a:r>
              <a:rPr sz="1450">
                <a:solidFill>
                  <a:srgbClr val="333333"/>
                </a:solidFill>
              </a:rPr>
              <a:t>o modelo não lê tudo cegamente; o filtro de risco separa o que é relevante do que é ruído.</a:t>
            </a:r>
          </a:p>
        </p:txBody>
      </p:sp>
    </p:spTree>
    <p:extLst>
      <p:ext uri="{BB962C8B-B14F-4D97-AF65-F5344CB8AC3E}">
        <p14:creationId xmlns:p14="http://schemas.microsoft.com/office/powerpoint/2010/main" val="2585261711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 1">
            <a:extLst>
              <a:ext uri="{FF2B5EF4-FFF2-40B4-BE49-F238E27FC236}">
                <a16:creationId xmlns:a16="http://schemas.microsoft.com/office/drawing/2014/main" id="{6F76BE2A-97D9-0872-4793-90614D7C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 sz="2600">
                <a:solidFill>
                  <a:srgbClr val="810539"/>
                </a:solidFill>
                <a:latin typeface="Arial Black" panose="020B0A04020102020204" pitchFamily="34" charset="0"/>
              </a:rPr>
              <a:t>Experimentos e Resultados: Direção</a:t>
            </a:r>
            <a:endParaRPr lang="pt-BR" dirty="0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CADB22-C249-5BBC-E8C0-0CEC96EEA8FF}"/>
              </a:ext>
            </a:extLst>
          </p:cNvPr>
          <p:cNvCxnSpPr>
            <a:endCxn id="2" idx="3"/>
          </p:cNvCxnSpPr>
          <p:nvPr/>
        </p:nvCxnSpPr>
        <p:spPr>
          <a:xfrm flipV="1">
            <a:off x="931572" y="1027907"/>
            <a:ext cx="10422228" cy="2403"/>
          </a:xfrm>
          <a:prstGeom prst="line">
            <a:avLst/>
          </a:prstGeom>
          <a:ln w="25400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698476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80560"/>
                <a:gridCol w="1554479"/>
                <a:gridCol w="1554479"/>
                <a:gridCol w="1554479"/>
                <a:gridCol w="1554479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Preditor</a:t>
                      </a:r>
                    </a:p>
                  </a:txBody>
                  <a:tcPr anchor="ctr" marT="25400" marB="25400" marL="762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Acurácia</a:t>
                      </a:r>
                    </a:p>
                  </a:txBody>
                  <a:tcPr anchor="ctr" marT="25400" marB="25400" marL="762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Precisão</a:t>
                      </a:r>
                    </a:p>
                  </a:txBody>
                  <a:tcPr anchor="ctr" marT="25400" marB="25400" marL="762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anchor="ctr" marT="25400" marB="25400" marL="76200">
                    <a:solidFill>
                      <a:srgbClr val="6B0F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 marT="25400" marB="25400" marL="76200">
                    <a:solidFill>
                      <a:srgbClr val="6B0F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SVM (apenas preços)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51,91%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52,69%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67,29%†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0,484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XGBoost (apenas preços)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49,77%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52,74%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52,74%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0,501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SVM (Data Fusion)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51,91%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52,91%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65,65%†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0,518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B0F2A"/>
                          </a:solidFill>
                        </a:rPr>
                        <a:t>XGBoost (Data Fusion)</a:t>
                      </a:r>
                    </a:p>
                  </a:txBody>
                  <a:tcPr anchor="ctr" marT="25400" marB="25400" marL="762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B0F2A"/>
                          </a:solidFill>
                        </a:rPr>
                        <a:t>52,22%</a:t>
                      </a:r>
                    </a:p>
                  </a:txBody>
                  <a:tcPr anchor="ctr" marT="25400" marB="25400" marL="762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B0F2A"/>
                          </a:solidFill>
                        </a:rPr>
                        <a:t>54,64%</a:t>
                      </a:r>
                    </a:p>
                  </a:txBody>
                  <a:tcPr anchor="ctr" marT="25400" marB="25400" marL="762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B0F2A"/>
                          </a:solidFill>
                        </a:rPr>
                        <a:t>56,91%</a:t>
                      </a:r>
                    </a:p>
                  </a:txBody>
                  <a:tcPr anchor="ctr" marT="25400" marB="25400" marL="76200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B0F2A"/>
                          </a:solidFill>
                        </a:rPr>
                        <a:t>0,514</a:t>
                      </a:r>
                    </a:p>
                  </a:txBody>
                  <a:tcPr anchor="ctr" marT="25400" marB="25400" marL="76200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b="1" sz="1350"/>
              <a:t>Janela 2016-2026:  </a:t>
            </a:r>
            <a:r>
              <a:rPr sz="1250"/>
              <a:t>treino 2016-2022, teste 2023-2026 (652 pregões; 340 acertos).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b="1" sz="1350"/>
              <a:t>Ganho do Data Fusion:  </a:t>
            </a:r>
            <a:r>
              <a:rPr sz="1250"/>
              <a:t>XGBoost +2,45 pp; o Sentimento é a variável mais importante (0,344).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b="1" sz="1350"/>
              <a:t>Significância:  </a:t>
            </a:r>
            <a:r>
              <a:rPr sz="1250"/>
              <a:t>binomial p = 0,145 — na janela ampliada, o ganho direcional é modesto e não significativo (mais difícil que 2018-2025).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b="1" sz="1350"/>
              <a:t>Ablação por categoria:  </a:t>
            </a:r>
            <a:r>
              <a:rPr sz="1250"/>
              <a:t>'Sanções/Navegação' é a mais informativa (remover custa −3,68 pp).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b="1" sz="1350"/>
              <a:t>† F1 inflado:  </a:t>
            </a:r>
            <a:r>
              <a:rPr sz="1250"/>
              <a:t>o SVM prevê quase sempre 'alta' — por isso reportamos várias métricas.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638251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888888"/>
                </a:solidFill>
              </a:rPr>
              <a:t>Fonte: Elaborado pelo autor (reprocessamento 2016-2026).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CF907-9354-A629-4FE6-0E5F45EA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3DB1DC-F0EF-3B15-C608-74C4A0F01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2500" b="1" dirty="0">
                <a:solidFill>
                  <a:srgbClr val="810539"/>
                </a:solidFill>
                <a:latin typeface="Arial Black" panose="020B0A04020102020204" pitchFamily="34" charset="0"/>
              </a:rPr>
              <a:t>Modelagem Preditiva Direcional</a:t>
            </a:r>
            <a:endParaRPr lang="pt-BR" sz="25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21193DC-1365-A2FF-BFF4-9176E4736D88}"/>
              </a:ext>
            </a:extLst>
          </p:cNvPr>
          <p:cNvSpPr txBox="1"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endParaRPr lang="pt-BR" sz="1500" dirty="0"/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D321CECC-115E-21BA-CBA6-08A88678F147}"/>
              </a:ext>
            </a:extLst>
          </p:cNvPr>
          <p:cNvCxnSpPr>
            <a:cxnSpLocks/>
          </p:cNvCxnSpPr>
          <p:nvPr/>
        </p:nvCxnSpPr>
        <p:spPr>
          <a:xfrm>
            <a:off x="838200" y="893559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16002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sz="1600">
                <a:solidFill>
                  <a:srgbClr val="333333"/>
                </a:solidFill>
              </a:rPr>
              <a:t>■  </a:t>
            </a:r>
            <a:r>
              <a:rPr b="1" sz="1600">
                <a:solidFill>
                  <a:srgbClr val="333333"/>
                </a:solidFill>
              </a:rPr>
              <a:t>Direção (alta/baixa):  </a:t>
            </a:r>
            <a:r>
              <a:rPr sz="1400">
                <a:solidFill>
                  <a:srgbClr val="333333"/>
                </a:solidFill>
              </a:rPr>
              <a:t>XGBoost com Data Fusion = 52,22% (AUC 0,514), ganho de +2,45 pp do sentimento. Na janela 2016-2026 o ganho é modesto e não significativo (binomial p=0,145).</a:t>
            </a:r>
          </a:p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sz="1600">
                <a:solidFill>
                  <a:srgbClr val="1E7E34"/>
                </a:solidFill>
              </a:rPr>
              <a:t>■  </a:t>
            </a:r>
            <a:r>
              <a:rPr b="1" sz="1600">
                <a:solidFill>
                  <a:srgbClr val="1E7E34"/>
                </a:solidFill>
              </a:rPr>
              <a:t>Efeito assimétrico (quantílica):  </a:t>
            </a:r>
            <a:r>
              <a:rPr sz="1400">
                <a:solidFill>
                  <a:srgbClr val="333333"/>
                </a:solidFill>
              </a:rPr>
              <a:t>no quantil inferior (τ=0,05, piores dias) o sentimento eleva o retorno em +261 bps (p=0,034); enfraquece nos quantis centrais — viés de negatividade.</a:t>
            </a:r>
          </a:p>
          <a:p>
            <a:pPr>
              <a:spcBef>
                <a:spcPts val="0"/>
              </a:spcBef>
              <a:spcAft>
                <a:spcPts val="1600"/>
              </a:spcAft>
              <a:buNone/>
            </a:pPr>
            <a:r>
              <a:rPr sz="1600">
                <a:solidFill>
                  <a:srgbClr val="6B0F2A"/>
                </a:solidFill>
              </a:rPr>
              <a:t>■  </a:t>
            </a:r>
            <a:r>
              <a:rPr b="1" sz="1600">
                <a:solidFill>
                  <a:srgbClr val="6B0F2A"/>
                </a:solidFill>
              </a:rPr>
              <a:t>Sentimento → volatilidade (Granger):  </a:t>
            </a:r>
            <a:r>
              <a:rPr sz="1400">
                <a:solidFill>
                  <a:srgbClr val="333333"/>
                </a:solidFill>
              </a:rPr>
              <a:t>altamente significativo em TODAS as defasagens (p&lt;0,001); sobre o retorno, não significativo. O sentimento antecipa a turbulência muito mais que a direção — mensagem central.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888888"/>
                </a:solidFill>
              </a:rPr>
              <a:t>Reprocessamento na janela ampliada 2016-2026 (261.960 notícias, 2.612 pregões).</a:t>
            </a:r>
          </a:p>
        </p:txBody>
      </p:sp>
    </p:spTree>
    <p:extLst>
      <p:ext uri="{BB962C8B-B14F-4D97-AF65-F5344CB8AC3E}">
        <p14:creationId xmlns:p14="http://schemas.microsoft.com/office/powerpoint/2010/main" val="8347363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A0674-AA98-F300-E06C-632360316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40BC2E-B90A-4469-E759-670ED19BD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529" y="2653291"/>
            <a:ext cx="10515600" cy="1325563"/>
          </a:xfrm>
        </p:spPr>
        <p:txBody>
          <a:bodyPr/>
          <a:lstStyle/>
          <a:p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Cronograma de Execução</a:t>
            </a:r>
            <a:endParaRPr lang="pt-BR" dirty="0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61342E8-BA77-16A6-BC4C-EC91F2D4B5C0}"/>
              </a:ext>
            </a:extLst>
          </p:cNvPr>
          <p:cNvCxnSpPr>
            <a:cxnSpLocks/>
          </p:cNvCxnSpPr>
          <p:nvPr/>
        </p:nvCxnSpPr>
        <p:spPr>
          <a:xfrm>
            <a:off x="843379" y="3315810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62789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CC58E-7B31-147F-5C1C-DF51080F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E115AB-0E6A-E75B-7042-9D525A9CC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670"/>
          </a:xfrm>
        </p:spPr>
        <p:txBody>
          <a:bodyPr>
            <a:normAutofit/>
          </a:bodyPr>
          <a:lstStyle/>
          <a:p>
            <a:r>
              <a:rPr lang="pt-BR" sz="3200" b="1" kern="1200" dirty="0">
                <a:solidFill>
                  <a:srgbClr val="810539"/>
                </a:solidFill>
                <a:latin typeface="Arial Black" panose="020B0A04020102020204" pitchFamily="34" charset="0"/>
              </a:rPr>
              <a:t>Pr</a:t>
            </a:r>
            <a:r>
              <a:rPr lang="pt-BR" sz="3200" b="1" dirty="0">
                <a:solidFill>
                  <a:srgbClr val="810539"/>
                </a:solidFill>
                <a:latin typeface="Arial Black" panose="020B0A04020102020204" pitchFamily="34" charset="0"/>
              </a:rPr>
              <a:t>óximas etapas</a:t>
            </a:r>
            <a:endParaRPr lang="pt-BR" sz="3200" kern="1200" dirty="0">
              <a:solidFill>
                <a:srgbClr val="810539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2994E160-8915-CB61-494B-47BFC280523C}"/>
              </a:ext>
            </a:extLst>
          </p:cNvPr>
          <p:cNvCxnSpPr>
            <a:cxnSpLocks/>
          </p:cNvCxnSpPr>
          <p:nvPr/>
        </p:nvCxnSpPr>
        <p:spPr>
          <a:xfrm>
            <a:off x="838200" y="893559"/>
            <a:ext cx="10373557" cy="39949"/>
          </a:xfrm>
          <a:prstGeom prst="line">
            <a:avLst/>
          </a:prstGeom>
          <a:ln w="22225">
            <a:solidFill>
              <a:srgbClr val="81053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17320"/>
          <a:ext cx="11338560" cy="3785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6B0F2A"/>
                          </a:solidFill>
                        </a:rPr>
                        <a:t>Etapas do Projeto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jun/26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jul/26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ago/26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set/26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out/26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nov/26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dez/26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jan/27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fev/27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6B0F2A"/>
                          </a:solidFill>
                        </a:rPr>
                        <a:t>mar/27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1. Banca de Qualificação e Ajustes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Refinamento do Web Scraping (timestamps)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Re-processamento (BERTimbau/FinBERT) e GARCH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Treinamento XGBoost/SVM (tuning)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5. Análise dos Resultados e Gráficos Finais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6. Redação do Documento Final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7. Revisão Geral e Submissão ao Programa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E75B6"/>
                          </a:solidFill>
                        </a:rPr>
                        <a:t>8. Escrita e Submissão de Artigo (conferência)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9. Defesa Final da Dissertação</a:t>
                      </a:r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800" marR="25400" marT="12700" marB="12700" anchor="ctr">
                    <a:solidFill>
                      <a:srgbClr val="9DC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42494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8BFB5-552C-EA5A-D7CF-698045EA9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25476B-FB87-B6C9-9883-5C1C60CFF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8771"/>
            <a:ext cx="105156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rgbClr val="810539"/>
                </a:solidFill>
                <a:latin typeface="Arial Black" panose="020B0A04020102020204" pitchFamily="34" charset="0"/>
              </a:rPr>
              <a:t>Obrigado.</a:t>
            </a:r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82B7B0-AC73-4C9C-20CA-1AB408625389}"/>
              </a:ext>
            </a:extLst>
          </p:cNvPr>
          <p:cNvSpPr txBox="1"/>
          <p:nvPr/>
        </p:nvSpPr>
        <p:spPr>
          <a:xfrm>
            <a:off x="838201" y="2814222"/>
            <a:ext cx="1051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Espaço para perguntas sugestões e comentários.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CBB7969-5F3A-BF5D-BE08-2DFC83D7A0BD}"/>
              </a:ext>
            </a:extLst>
          </p:cNvPr>
          <p:cNvSpPr txBox="1"/>
          <p:nvPr/>
        </p:nvSpPr>
        <p:spPr>
          <a:xfrm>
            <a:off x="838200" y="3183554"/>
            <a:ext cx="10515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Vanderlei Barbosa da Silva</a:t>
            </a:r>
          </a:p>
          <a:p>
            <a:pPr algn="ctr"/>
            <a:r>
              <a:rPr lang="pt-BR" sz="1400" dirty="0"/>
              <a:t>Orientador: </a:t>
            </a:r>
            <a:r>
              <a:rPr lang="pt-BR" sz="1400" dirty="0" err="1"/>
              <a:t>Julio</a:t>
            </a:r>
            <a:r>
              <a:rPr lang="pt-BR" sz="1400" dirty="0"/>
              <a:t> Cesar </a:t>
            </a:r>
            <a:r>
              <a:rPr lang="pt-BR" sz="1400" dirty="0" err="1"/>
              <a:t>Nievola</a:t>
            </a:r>
            <a:endParaRPr lang="pt-BR" sz="1400" dirty="0"/>
          </a:p>
          <a:p>
            <a:pPr algn="ctr"/>
            <a:r>
              <a:rPr lang="pt-BR" sz="1400" dirty="0"/>
              <a:t>PPGIA / PUCPR – Curitiba - 2026</a:t>
            </a:r>
          </a:p>
        </p:txBody>
      </p:sp>
    </p:spTree>
    <p:extLst>
      <p:ext uri="{BB962C8B-B14F-4D97-AF65-F5344CB8AC3E}">
        <p14:creationId xmlns:p14="http://schemas.microsoft.com/office/powerpoint/2010/main" val="9034756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Uma imagem contendo Forma&#10;&#10;Descrição gerada automaticamente">
            <a:extLst>
              <a:ext uri="{FF2B5EF4-FFF2-40B4-BE49-F238E27FC236}">
                <a16:creationId xmlns:a16="http://schemas.microsoft.com/office/drawing/2014/main" id="{8A30E2B3-F0B9-3248-BAE6-F1209292D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F04B612-E1A1-EB45-9FBD-335732929D7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4028341" y="2711669"/>
            <a:ext cx="7441324" cy="143718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/>
            <a:r>
              <a:rPr lang="pt-BR" sz="5000" b="1" spc="-300" dirty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Fim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42A33A-D40D-D94A-A311-D61290DA0B7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028342" y="3853370"/>
            <a:ext cx="7601406" cy="423424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</a:t>
            </a:r>
          </a:p>
        </p:txBody>
      </p:sp>
      <p:pic>
        <p:nvPicPr>
          <p:cNvPr id="8" name="Imagem 7" descr="Texto, Aplicativo&#10;&#10;Descrição gerada automaticamente">
            <a:extLst>
              <a:ext uri="{FF2B5EF4-FFF2-40B4-BE49-F238E27FC236}">
                <a16:creationId xmlns:a16="http://schemas.microsoft.com/office/drawing/2014/main" id="{6B1950E5-AADD-F143-85B7-CCB042F31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13" y="3099030"/>
            <a:ext cx="3008993" cy="104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183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3026</TotalTime>
  <Words>3452</Words>
  <Application>Microsoft Office PowerPoint</Application>
  <PresentationFormat>Widescreen</PresentationFormat>
  <Paragraphs>252</Paragraphs>
  <Slides>31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7" baseType="lpstr">
      <vt:lpstr>Arial</vt:lpstr>
      <vt:lpstr>Arial Black</vt:lpstr>
      <vt:lpstr>Calibri</vt:lpstr>
      <vt:lpstr>Google Sans Text</vt:lpstr>
      <vt:lpstr>Wingdings</vt:lpstr>
      <vt:lpstr>Tema do Office</vt:lpstr>
      <vt:lpstr> O Impacto do Sentimento de Notícias Financeiras na Previsão de Direção e Volatilidade do Ativo PETR4: Uma Abordagem via Transformers e Machine Learning </vt:lpstr>
      <vt:lpstr>Estrutura da Apresentação</vt:lpstr>
      <vt:lpstr>Introdução</vt:lpstr>
      <vt:lpstr>Choque Informacional: Geopolítica e a Volatilidade da PETR4</vt:lpstr>
      <vt:lpstr>Perguntas de Pesquisa</vt:lpstr>
      <vt:lpstr>Objetivos e Hipóteses</vt:lpstr>
      <vt:lpstr>Hipóteses</vt:lpstr>
      <vt:lpstr>Contribuições</vt:lpstr>
      <vt:lpstr>Contribuições</vt:lpstr>
      <vt:lpstr>Contribuições</vt:lpstr>
      <vt:lpstr>Contribuições</vt:lpstr>
      <vt:lpstr>Fundamentação Teórica</vt:lpstr>
      <vt:lpstr>Conceitos Fundamentais</vt:lpstr>
      <vt:lpstr>Trabalhos Relacionados</vt:lpstr>
      <vt:lpstr>Protocolo da Revisão Sistemática</vt:lpstr>
      <vt:lpstr>Trabalhos Relacionados</vt:lpstr>
      <vt:lpstr>Lacunas da Literatura</vt:lpstr>
      <vt:lpstr>Lacunas da Literatura</vt:lpstr>
      <vt:lpstr>Lacunas da Literatura</vt:lpstr>
      <vt:lpstr>Método da Pesquisa</vt:lpstr>
      <vt:lpstr>Metodologia da Pesquisa</vt:lpstr>
      <vt:lpstr>Dados da Pesquisa</vt:lpstr>
      <vt:lpstr>Arquitetura da Solução</vt:lpstr>
      <vt:lpstr>Métricas de Avaliação</vt:lpstr>
      <vt:lpstr>Resultados Preliminares</vt:lpstr>
      <vt:lpstr>Análise Exploratória – Filtragem de Ruídos</vt:lpstr>
      <vt:lpstr>Modelagem Preditiva Direcional</vt:lpstr>
      <vt:lpstr>Cronograma de Execução</vt:lpstr>
      <vt:lpstr>Próximas etapas</vt:lpstr>
      <vt:lpstr>Obrigado.</vt:lpstr>
      <vt:lpstr>Fim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Diego Jose Teider</dc:creator>
  <cp:lastModifiedBy>Vanderlei Barbosa da Silva</cp:lastModifiedBy>
  <cp:revision>98</cp:revision>
  <dcterms:created xsi:type="dcterms:W3CDTF">2020-10-27T13:01:25Z</dcterms:created>
  <dcterms:modified xsi:type="dcterms:W3CDTF">2026-07-01T00:52:01Z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59b6cd5-d141-4a33-8bf1-0ca04484304f_Enabled">
    <vt:lpwstr>true</vt:lpwstr>
  </property>
  <property fmtid="{D5CDD505-2E9C-101B-9397-08002B2CF9AE}" pid="3" name="MSIP_Label_a59b6cd5-d141-4a33-8bf1-0ca04484304f_SetDate">
    <vt:lpwstr>2022-04-18T20:01:33Z</vt:lpwstr>
  </property>
  <property fmtid="{D5CDD505-2E9C-101B-9397-08002B2CF9AE}" pid="4" name="MSIP_Label_a59b6cd5-d141-4a33-8bf1-0ca04484304f_Method">
    <vt:lpwstr>Standard</vt:lpwstr>
  </property>
  <property fmtid="{D5CDD505-2E9C-101B-9397-08002B2CF9AE}" pid="5" name="MSIP_Label_a59b6cd5-d141-4a33-8bf1-0ca04484304f_Name">
    <vt:lpwstr>restricted-default</vt:lpwstr>
  </property>
  <property fmtid="{D5CDD505-2E9C-101B-9397-08002B2CF9AE}" pid="6" name="MSIP_Label_a59b6cd5-d141-4a33-8bf1-0ca04484304f_SiteId">
    <vt:lpwstr>38ae3bcd-9579-4fd4-adda-b42e1495d55a</vt:lpwstr>
  </property>
  <property fmtid="{D5CDD505-2E9C-101B-9397-08002B2CF9AE}" pid="7" name="MSIP_Label_a59b6cd5-d141-4a33-8bf1-0ca04484304f_ActionId">
    <vt:lpwstr>0d8ed3b0-d898-44d0-a9dd-a42b5d4dab99</vt:lpwstr>
  </property>
  <property fmtid="{D5CDD505-2E9C-101B-9397-08002B2CF9AE}" pid="8" name="MSIP_Label_a59b6cd5-d141-4a33-8bf1-0ca04484304f_ContentBits">
    <vt:lpwstr>0</vt:lpwstr>
  </property>
  <property fmtid="{D5CDD505-2E9C-101B-9397-08002B2CF9AE}" pid="9" name="Document_Confidentiality">
    <vt:lpwstr>Restricted</vt:lpwstr>
  </property>
</Properties>
</file>