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E097E736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18_F4B31E10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367" r:id="rId3"/>
    <p:sldId id="281" r:id="rId4"/>
    <p:sldId id="332" r:id="rId5"/>
    <p:sldId id="301" r:id="rId6"/>
    <p:sldId id="302" r:id="rId7"/>
    <p:sldId id="310" r:id="rId8"/>
    <p:sldId id="311" r:id="rId9"/>
    <p:sldId id="363" r:id="rId10"/>
    <p:sldId id="304" r:id="rId11"/>
    <p:sldId id="353" r:id="rId12"/>
    <p:sldId id="354" r:id="rId13"/>
    <p:sldId id="355" r:id="rId14"/>
    <p:sldId id="338" r:id="rId15"/>
    <p:sldId id="359" r:id="rId16"/>
    <p:sldId id="314" r:id="rId17"/>
    <p:sldId id="345" r:id="rId18"/>
    <p:sldId id="346" r:id="rId19"/>
    <p:sldId id="303" r:id="rId20"/>
    <p:sldId id="358" r:id="rId21"/>
    <p:sldId id="356" r:id="rId22"/>
    <p:sldId id="364" r:id="rId23"/>
    <p:sldId id="280" r:id="rId24"/>
    <p:sldId id="360" r:id="rId25"/>
    <p:sldId id="365" r:id="rId26"/>
    <p:sldId id="361" r:id="rId27"/>
    <p:sldId id="366" r:id="rId28"/>
    <p:sldId id="357" r:id="rId29"/>
    <p:sldId id="307" r:id="rId30"/>
    <p:sldId id="316" r:id="rId31"/>
    <p:sldId id="362" r:id="rId32"/>
    <p:sldId id="351" r:id="rId33"/>
    <p:sldId id="308" r:id="rId34"/>
    <p:sldId id="352" r:id="rId35"/>
    <p:sldId id="318" r:id="rId36"/>
    <p:sldId id="278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4C04E78-9DC5-41B5-804B-59E2F83F620C}">
          <p14:sldIdLst>
            <p14:sldId id="256"/>
            <p14:sldId id="367"/>
            <p14:sldId id="281"/>
            <p14:sldId id="332"/>
            <p14:sldId id="301"/>
            <p14:sldId id="302"/>
            <p14:sldId id="310"/>
            <p14:sldId id="311"/>
            <p14:sldId id="363"/>
            <p14:sldId id="304"/>
            <p14:sldId id="353"/>
            <p14:sldId id="354"/>
            <p14:sldId id="355"/>
            <p14:sldId id="338"/>
            <p14:sldId id="359"/>
            <p14:sldId id="314"/>
            <p14:sldId id="345"/>
            <p14:sldId id="346"/>
            <p14:sldId id="303"/>
            <p14:sldId id="358"/>
            <p14:sldId id="356"/>
            <p14:sldId id="364"/>
            <p14:sldId id="280"/>
            <p14:sldId id="360"/>
            <p14:sldId id="365"/>
            <p14:sldId id="361"/>
            <p14:sldId id="366"/>
            <p14:sldId id="357"/>
            <p14:sldId id="307"/>
            <p14:sldId id="316"/>
            <p14:sldId id="362"/>
            <p14:sldId id="351"/>
            <p14:sldId id="308"/>
            <p14:sldId id="352"/>
            <p14:sldId id="318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E20E93-A1BB-F6E1-9F9B-1B60787748C4}" name="Vanderlei Barbosa da Silva" initials="VB" userId="S::silvavbs@stj.jus.br::24e62a6a-a92d-4f90-9f09-efc0d92c177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42F"/>
    <a:srgbClr val="800539"/>
    <a:srgbClr val="CC0000"/>
    <a:srgbClr val="810539"/>
    <a:srgbClr val="E08484"/>
    <a:srgbClr val="FFBDBD"/>
    <a:srgbClr val="FEE6F0"/>
    <a:srgbClr val="CE085D"/>
    <a:srgbClr val="F85299"/>
    <a:srgbClr val="DA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8288CE-D2AA-4F90-8FE8-4C3DDF3E9990}" v="22" dt="2026-07-02T13:55:31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73365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75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erlei Barbosa da Silva" userId="S::silvavbs@stj.jus.br::24e62a6a-a92d-4f90-9f09-efc0d92c1770" providerId="AD" clId="Web-{892DECCF-0073-4512-920A-A6C593DBC0C2}"/>
    <pc:docChg chg="addSld delSld modSld modSection">
      <pc:chgData name="Vanderlei Barbosa da Silva" userId="S::silvavbs@stj.jus.br::24e62a6a-a92d-4f90-9f09-efc0d92c1770" providerId="AD" clId="Web-{892DECCF-0073-4512-920A-A6C593DBC0C2}" dt="2026-06-08T19:46:00.062" v="1422"/>
      <pc:docMkLst>
        <pc:docMk/>
      </pc:docMkLst>
      <pc:sldChg chg="addSp delSp modSp modNotes">
        <pc:chgData name="Vanderlei Barbosa da Silva" userId="S::silvavbs@stj.jus.br::24e62a6a-a92d-4f90-9f09-efc0d92c1770" providerId="AD" clId="Web-{892DECCF-0073-4512-920A-A6C593DBC0C2}" dt="2026-06-08T17:50:21.162" v="1236" actId="1076"/>
        <pc:sldMkLst>
          <pc:docMk/>
          <pc:sldMk cId="3477721612" sldId="301"/>
        </pc:sldMkLst>
        <pc:spChg chg="mod">
          <ac:chgData name="Vanderlei Barbosa da Silva" userId="S::silvavbs@stj.jus.br::24e62a6a-a92d-4f90-9f09-efc0d92c1770" providerId="AD" clId="Web-{892DECCF-0073-4512-920A-A6C593DBC0C2}" dt="2026-06-08T17:48:19.187" v="1211" actId="20577"/>
          <ac:spMkLst>
            <pc:docMk/>
            <pc:sldMk cId="3477721612" sldId="301"/>
            <ac:spMk id="3" creationId="{4215178B-DC19-AC93-988F-C71302598865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7:50:15.630" v="1235" actId="20577"/>
          <ac:spMkLst>
            <pc:docMk/>
            <pc:sldMk cId="3477721612" sldId="301"/>
            <ac:spMk id="4" creationId="{D3C6366D-A8A4-126C-35A0-61DA138F2D60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7:50:21.162" v="1236" actId="1076"/>
          <ac:spMkLst>
            <pc:docMk/>
            <pc:sldMk cId="3477721612" sldId="301"/>
            <ac:spMk id="8" creationId="{0F8293F8-E86F-05F2-F7A6-718F90612ECE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7:49:41.628" v="1230" actId="20577"/>
          <ac:spMkLst>
            <pc:docMk/>
            <pc:sldMk cId="3477721612" sldId="301"/>
            <ac:spMk id="9" creationId="{0FFDA10C-BFA4-07CD-51E2-EB07AC219F82}"/>
          </ac:spMkLst>
        </pc:spChg>
        <pc:cxnChg chg="add mod">
          <ac:chgData name="Vanderlei Barbosa da Silva" userId="S::silvavbs@stj.jus.br::24e62a6a-a92d-4f90-9f09-efc0d92c1770" providerId="AD" clId="Web-{892DECCF-0073-4512-920A-A6C593DBC0C2}" dt="2026-06-08T17:18:53.303" v="1133" actId="1076"/>
          <ac:cxnSpMkLst>
            <pc:docMk/>
            <pc:sldMk cId="3477721612" sldId="301"/>
            <ac:cxnSpMk id="5" creationId="{53BA3085-E847-C63A-217B-C83520C24B43}"/>
          </ac:cxnSpMkLst>
        </pc:cxnChg>
      </pc:sldChg>
      <pc:sldChg chg="addSp modSp">
        <pc:chgData name="Vanderlei Barbosa da Silva" userId="S::silvavbs@stj.jus.br::24e62a6a-a92d-4f90-9f09-efc0d92c1770" providerId="AD" clId="Web-{892DECCF-0073-4512-920A-A6C593DBC0C2}" dt="2026-06-08T17:08:10.032" v="1031" actId="1076"/>
        <pc:sldMkLst>
          <pc:docMk/>
          <pc:sldMk cId="1234460983" sldId="302"/>
        </pc:sldMkLst>
        <pc:cxnChg chg="add mod">
          <ac:chgData name="Vanderlei Barbosa da Silva" userId="S::silvavbs@stj.jus.br::24e62a6a-a92d-4f90-9f09-efc0d92c1770" providerId="AD" clId="Web-{892DECCF-0073-4512-920A-A6C593DBC0C2}" dt="2026-06-08T17:08:10.032" v="1031" actId="1076"/>
          <ac:cxnSpMkLst>
            <pc:docMk/>
            <pc:sldMk cId="1234460983" sldId="302"/>
            <ac:cxnSpMk id="4" creationId="{202BC76F-FDAB-2C22-27B2-C953E87478B2}"/>
          </ac:cxnSpMkLst>
        </pc:cxnChg>
      </pc:sldChg>
      <pc:sldChg chg="addSp delSp modSp modNotes">
        <pc:chgData name="Vanderlei Barbosa da Silva" userId="S::silvavbs@stj.jus.br::24e62a6a-a92d-4f90-9f09-efc0d92c1770" providerId="AD" clId="Web-{892DECCF-0073-4512-920A-A6C593DBC0C2}" dt="2026-06-08T19:44:49.544" v="1421" actId="1076"/>
        <pc:sldMkLst>
          <pc:docMk/>
          <pc:sldMk cId="2518470170" sldId="311"/>
        </pc:sldMkLst>
        <pc:spChg chg="add mod">
          <ac:chgData name="Vanderlei Barbosa da Silva" userId="S::silvavbs@stj.jus.br::24e62a6a-a92d-4f90-9f09-efc0d92c1770" providerId="AD" clId="Web-{892DECCF-0073-4512-920A-A6C593DBC0C2}" dt="2026-06-08T19:30:06.904" v="1299" actId="20577"/>
          <ac:spMkLst>
            <pc:docMk/>
            <pc:sldMk cId="2518470170" sldId="311"/>
            <ac:spMk id="6" creationId="{294295A1-5231-13FF-A88E-8B44EF05AB22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9:30:46.858" v="1316" actId="20577"/>
          <ac:spMkLst>
            <pc:docMk/>
            <pc:sldMk cId="2518470170" sldId="311"/>
            <ac:spMk id="10" creationId="{A5BCCFAB-C8EF-5B00-0A01-BC7A41BF3159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9:44:06.574" v="1414" actId="20577"/>
          <ac:spMkLst>
            <pc:docMk/>
            <pc:sldMk cId="2518470170" sldId="311"/>
            <ac:spMk id="12" creationId="{5DC7200A-9C17-5991-6D14-2D08EDBB0E4A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9:44:49.544" v="1421" actId="1076"/>
          <ac:spMkLst>
            <pc:docMk/>
            <pc:sldMk cId="2518470170" sldId="311"/>
            <ac:spMk id="14" creationId="{274FB233-3AA5-14FC-4967-CDD12E4043A3}"/>
          </ac:spMkLst>
        </pc:spChg>
        <pc:graphicFrameChg chg="add mod modGraphic">
          <ac:chgData name="Vanderlei Barbosa da Silva" userId="S::silvavbs@stj.jus.br::24e62a6a-a92d-4f90-9f09-efc0d92c1770" providerId="AD" clId="Web-{892DECCF-0073-4512-920A-A6C593DBC0C2}" dt="2026-06-08T19:44:32.606" v="1418"/>
          <ac:graphicFrameMkLst>
            <pc:docMk/>
            <pc:sldMk cId="2518470170" sldId="311"/>
            <ac:graphicFrameMk id="8" creationId="{A8B218D5-DDA1-AB53-7604-A31FCF8BCF92}"/>
          </ac:graphicFrameMkLst>
        </pc:graphicFrameChg>
        <pc:cxnChg chg="add mod">
          <ac:chgData name="Vanderlei Barbosa da Silva" userId="S::silvavbs@stj.jus.br::24e62a6a-a92d-4f90-9f09-efc0d92c1770" providerId="AD" clId="Web-{892DECCF-0073-4512-920A-A6C593DBC0C2}" dt="2026-06-08T19:25:36.021" v="1242" actId="1076"/>
          <ac:cxnSpMkLst>
            <pc:docMk/>
            <pc:sldMk cId="2518470170" sldId="311"/>
            <ac:cxnSpMk id="5" creationId="{F5C417E5-C321-7377-478E-D95D9BEDF1C0}"/>
          </ac:cxnSpMkLst>
        </pc:cxnChg>
      </pc:sldChg>
      <pc:sldChg chg="addSp delSp modSp add replId modNotes">
        <pc:chgData name="Vanderlei Barbosa da Silva" userId="S::silvavbs@stj.jus.br::24e62a6a-a92d-4f90-9f09-efc0d92c1770" providerId="AD" clId="Web-{892DECCF-0073-4512-920A-A6C593DBC0C2}" dt="2026-06-08T16:15:24.296" v="1001" actId="1076"/>
        <pc:sldMkLst>
          <pc:docMk/>
          <pc:sldMk cId="2588760046" sldId="332"/>
        </pc:sldMkLst>
        <pc:spChg chg="mod">
          <ac:chgData name="Vanderlei Barbosa da Silva" userId="S::silvavbs@stj.jus.br::24e62a6a-a92d-4f90-9f09-efc0d92c1770" providerId="AD" clId="Web-{892DECCF-0073-4512-920A-A6C593DBC0C2}" dt="2026-06-08T15:59:46.090" v="844" actId="14100"/>
          <ac:spMkLst>
            <pc:docMk/>
            <pc:sldMk cId="2588760046" sldId="332"/>
            <ac:spMk id="2" creationId="{F8B4A312-9B5F-FAC3-8CAD-AFA3F997C083}"/>
          </ac:spMkLst>
        </pc:spChg>
      </pc:sldChg>
    </pc:docChg>
  </pc:docChgLst>
  <pc:docChgLst>
    <pc:chgData name="Vanderlei Barbosa da Silva" userId="24e62a6a-a92d-4f90-9f09-efc0d92c1770" providerId="ADAL" clId="{B7BF07C5-55BE-4A63-A797-64077BB8B758}"/>
    <pc:docChg chg="undo custSel addSld delSld modSld sldOrd modSection">
      <pc:chgData name="Vanderlei Barbosa da Silva" userId="24e62a6a-a92d-4f90-9f09-efc0d92c1770" providerId="ADAL" clId="{B7BF07C5-55BE-4A63-A797-64077BB8B758}" dt="2026-06-09T15:10:13.473" v="923" actId="113"/>
      <pc:docMkLst>
        <pc:docMk/>
      </pc:docMkLst>
      <pc:sldChg chg="modNotesTx">
        <pc:chgData name="Vanderlei Barbosa da Silva" userId="24e62a6a-a92d-4f90-9f09-efc0d92c1770" providerId="ADAL" clId="{B7BF07C5-55BE-4A63-A797-64077BB8B758}" dt="2026-06-09T01:44:33.098" v="508" actId="20577"/>
        <pc:sldMkLst>
          <pc:docMk/>
          <pc:sldMk cId="1527027247" sldId="303"/>
        </pc:sldMkLst>
      </pc:sldChg>
      <pc:sldChg chg="addSp modSp mod modNotesTx">
        <pc:chgData name="Vanderlei Barbosa da Silva" userId="24e62a6a-a92d-4f90-9f09-efc0d92c1770" providerId="ADAL" clId="{B7BF07C5-55BE-4A63-A797-64077BB8B758}" dt="2026-06-09T00:45:21.383" v="404" actId="113"/>
        <pc:sldMkLst>
          <pc:docMk/>
          <pc:sldMk cId="3719614751" sldId="314"/>
        </pc:sldMkLst>
        <pc:spChg chg="mod">
          <ac:chgData name="Vanderlei Barbosa da Silva" userId="24e62a6a-a92d-4f90-9f09-efc0d92c1770" providerId="ADAL" clId="{B7BF07C5-55BE-4A63-A797-64077BB8B758}" dt="2026-06-09T00:38:39.464" v="311" actId="20577"/>
          <ac:spMkLst>
            <pc:docMk/>
            <pc:sldMk cId="3719614751" sldId="314"/>
            <ac:spMk id="2" creationId="{3482619E-4FBD-BA90-24A4-244212D44DB3}"/>
          </ac:spMkLst>
        </pc:spChg>
        <pc:spChg chg="add mod">
          <ac:chgData name="Vanderlei Barbosa da Silva" userId="24e62a6a-a92d-4f90-9f09-efc0d92c1770" providerId="ADAL" clId="{B7BF07C5-55BE-4A63-A797-64077BB8B758}" dt="2026-06-09T00:41:50.528" v="355" actId="208"/>
          <ac:spMkLst>
            <pc:docMk/>
            <pc:sldMk cId="3719614751" sldId="314"/>
            <ac:spMk id="4" creationId="{D19984F2-F1A2-830E-4D92-780D4BB8378F}"/>
          </ac:spMkLst>
        </pc:spChg>
        <pc:spChg chg="add mod">
          <ac:chgData name="Vanderlei Barbosa da Silva" userId="24e62a6a-a92d-4f90-9f09-efc0d92c1770" providerId="ADAL" clId="{B7BF07C5-55BE-4A63-A797-64077BB8B758}" dt="2026-06-09T00:45:21.383" v="404" actId="113"/>
          <ac:spMkLst>
            <pc:docMk/>
            <pc:sldMk cId="3719614751" sldId="314"/>
            <ac:spMk id="5" creationId="{4A80D4F6-9AC6-4513-E8E9-F4E74D1B8522}"/>
          </ac:spMkLst>
        </pc:spChg>
        <pc:cxnChg chg="add mod">
          <ac:chgData name="Vanderlei Barbosa da Silva" userId="24e62a6a-a92d-4f90-9f09-efc0d92c1770" providerId="ADAL" clId="{B7BF07C5-55BE-4A63-A797-64077BB8B758}" dt="2026-06-09T00:38:06.724" v="285"/>
          <ac:cxnSpMkLst>
            <pc:docMk/>
            <pc:sldMk cId="3719614751" sldId="314"/>
            <ac:cxnSpMk id="3" creationId="{991F5F57-6B11-B3D2-8A4F-3EA690430DA7}"/>
          </ac:cxnSpMkLst>
        </pc:cxnChg>
      </pc:sldChg>
      <pc:sldChg chg="addSp delSp modSp mod modNotesTx">
        <pc:chgData name="Vanderlei Barbosa da Silva" userId="24e62a6a-a92d-4f90-9f09-efc0d92c1770" providerId="ADAL" clId="{B7BF07C5-55BE-4A63-A797-64077BB8B758}" dt="2026-06-09T02:12:09.979" v="673" actId="20577"/>
        <pc:sldMkLst>
          <pc:docMk/>
          <pc:sldMk cId="2585261711" sldId="316"/>
        </pc:sldMkLst>
        <pc:spChg chg="mod">
          <ac:chgData name="Vanderlei Barbosa da Silva" userId="24e62a6a-a92d-4f90-9f09-efc0d92c1770" providerId="ADAL" clId="{B7BF07C5-55BE-4A63-A797-64077BB8B758}" dt="2026-06-09T02:07:12.742" v="611" actId="20577"/>
          <ac:spMkLst>
            <pc:docMk/>
            <pc:sldMk cId="2585261711" sldId="316"/>
            <ac:spMk id="2" creationId="{7A866035-D737-E59D-1CC5-1958C54336A2}"/>
          </ac:spMkLst>
        </pc:spChg>
        <pc:cxnChg chg="add mod">
          <ac:chgData name="Vanderlei Barbosa da Silva" userId="24e62a6a-a92d-4f90-9f09-efc0d92c1770" providerId="ADAL" clId="{B7BF07C5-55BE-4A63-A797-64077BB8B758}" dt="2026-06-09T02:06:23.376" v="561"/>
          <ac:cxnSpMkLst>
            <pc:docMk/>
            <pc:sldMk cId="2585261711" sldId="316"/>
            <ac:cxnSpMk id="3" creationId="{621497EE-CB74-12DC-9C90-54CC5417CD79}"/>
          </ac:cxnSpMkLst>
        </pc:cxnChg>
      </pc:sldChg>
      <pc:sldChg chg="addSp modSp add mod modNotesTx">
        <pc:chgData name="Vanderlei Barbosa da Silva" userId="24e62a6a-a92d-4f90-9f09-efc0d92c1770" providerId="ADAL" clId="{B7BF07C5-55BE-4A63-A797-64077BB8B758}" dt="2026-06-09T00:23:01.174" v="245" actId="1035"/>
        <pc:sldMkLst>
          <pc:docMk/>
          <pc:sldMk cId="3517392578" sldId="338"/>
        </pc:sldMkLst>
        <pc:spChg chg="add mod">
          <ac:chgData name="Vanderlei Barbosa da Silva" userId="24e62a6a-a92d-4f90-9f09-efc0d92c1770" providerId="ADAL" clId="{B7BF07C5-55BE-4A63-A797-64077BB8B758}" dt="2026-06-09T00:23:01.174" v="245" actId="1035"/>
          <ac:spMkLst>
            <pc:docMk/>
            <pc:sldMk cId="3517392578" sldId="338"/>
            <ac:spMk id="7" creationId="{8201391D-5274-FF78-7ED7-F0657A6A7585}"/>
          </ac:spMkLst>
        </pc:spChg>
      </pc:sldChg>
      <pc:sldChg chg="addSp modSp add mod">
        <pc:chgData name="Vanderlei Barbosa da Silva" userId="24e62a6a-a92d-4f90-9f09-efc0d92c1770" providerId="ADAL" clId="{B7BF07C5-55BE-4A63-A797-64077BB8B758}" dt="2026-06-09T00:45:30.303" v="406" actId="113"/>
        <pc:sldMkLst>
          <pc:docMk/>
          <pc:sldMk cId="880376071" sldId="345"/>
        </pc:sldMkLst>
        <pc:spChg chg="mod">
          <ac:chgData name="Vanderlei Barbosa da Silva" userId="24e62a6a-a92d-4f90-9f09-efc0d92c1770" providerId="ADAL" clId="{B7BF07C5-55BE-4A63-A797-64077BB8B758}" dt="2026-06-09T00:45:26.735" v="405" actId="113"/>
          <ac:spMkLst>
            <pc:docMk/>
            <pc:sldMk cId="880376071" sldId="345"/>
            <ac:spMk id="5" creationId="{50699A5F-7121-CA3C-D049-4582216928BF}"/>
          </ac:spMkLst>
        </pc:spChg>
        <pc:spChg chg="add mod">
          <ac:chgData name="Vanderlei Barbosa da Silva" userId="24e62a6a-a92d-4f90-9f09-efc0d92c1770" providerId="ADAL" clId="{B7BF07C5-55BE-4A63-A797-64077BB8B758}" dt="2026-06-09T00:43:48.230" v="376" actId="14100"/>
          <ac:spMkLst>
            <pc:docMk/>
            <pc:sldMk cId="880376071" sldId="345"/>
            <ac:spMk id="6" creationId="{4A3939CD-360A-311B-6130-8E03B9EC8AFC}"/>
          </ac:spMkLst>
        </pc:spChg>
        <pc:spChg chg="add mod">
          <ac:chgData name="Vanderlei Barbosa da Silva" userId="24e62a6a-a92d-4f90-9f09-efc0d92c1770" providerId="ADAL" clId="{B7BF07C5-55BE-4A63-A797-64077BB8B758}" dt="2026-06-09T00:45:30.303" v="406" actId="113"/>
          <ac:spMkLst>
            <pc:docMk/>
            <pc:sldMk cId="880376071" sldId="345"/>
            <ac:spMk id="7" creationId="{ADFF06D6-F15D-98BF-952E-5EE1D1F5F478}"/>
          </ac:spMkLst>
        </pc:spChg>
      </pc:sldChg>
      <pc:sldChg chg="addSp modSp add mod modNotesTx">
        <pc:chgData name="Vanderlei Barbosa da Silva" userId="24e62a6a-a92d-4f90-9f09-efc0d92c1770" providerId="ADAL" clId="{B7BF07C5-55BE-4A63-A797-64077BB8B758}" dt="2026-06-09T00:48:06.437" v="421" actId="6549"/>
        <pc:sldMkLst>
          <pc:docMk/>
          <pc:sldMk cId="2553994211" sldId="346"/>
        </pc:sldMkLst>
        <pc:spChg chg="mod">
          <ac:chgData name="Vanderlei Barbosa da Silva" userId="24e62a6a-a92d-4f90-9f09-efc0d92c1770" providerId="ADAL" clId="{B7BF07C5-55BE-4A63-A797-64077BB8B758}" dt="2026-06-09T00:45:35.709" v="407" actId="113"/>
          <ac:spMkLst>
            <pc:docMk/>
            <pc:sldMk cId="2553994211" sldId="346"/>
            <ac:spMk id="5" creationId="{7854B076-80A1-1A83-C095-8DC46031CA88}"/>
          </ac:spMkLst>
        </pc:spChg>
        <pc:spChg chg="mod">
          <ac:chgData name="Vanderlei Barbosa da Silva" userId="24e62a6a-a92d-4f90-9f09-efc0d92c1770" providerId="ADAL" clId="{B7BF07C5-55BE-4A63-A797-64077BB8B758}" dt="2026-06-09T00:45:41.127" v="408" actId="113"/>
          <ac:spMkLst>
            <pc:docMk/>
            <pc:sldMk cId="2553994211" sldId="346"/>
            <ac:spMk id="7" creationId="{3C88D56E-8CDA-EB41-7393-CA425E933074}"/>
          </ac:spMkLst>
        </pc:spChg>
        <pc:spChg chg="add mod">
          <ac:chgData name="Vanderlei Barbosa da Silva" userId="24e62a6a-a92d-4f90-9f09-efc0d92c1770" providerId="ADAL" clId="{B7BF07C5-55BE-4A63-A797-64077BB8B758}" dt="2026-06-09T00:44:57.082" v="403"/>
          <ac:spMkLst>
            <pc:docMk/>
            <pc:sldMk cId="2553994211" sldId="346"/>
            <ac:spMk id="8" creationId="{03B97F2F-4D4A-AC35-226A-B60F17D4DA8A}"/>
          </ac:spMkLst>
        </pc:spChg>
        <pc:spChg chg="add mod">
          <ac:chgData name="Vanderlei Barbosa da Silva" userId="24e62a6a-a92d-4f90-9f09-efc0d92c1770" providerId="ADAL" clId="{B7BF07C5-55BE-4A63-A797-64077BB8B758}" dt="2026-06-09T00:45:46.606" v="409" actId="113"/>
          <ac:spMkLst>
            <pc:docMk/>
            <pc:sldMk cId="2553994211" sldId="346"/>
            <ac:spMk id="9" creationId="{587C7B6D-BAD7-31B4-EEBC-D6353E44D597}"/>
          </ac:spMkLst>
        </pc:spChg>
      </pc:sldChg>
      <pc:sldChg chg="addSp delSp modSp add mod modNotesTx">
        <pc:chgData name="Vanderlei Barbosa da Silva" userId="24e62a6a-a92d-4f90-9f09-efc0d92c1770" providerId="ADAL" clId="{B7BF07C5-55BE-4A63-A797-64077BB8B758}" dt="2026-06-09T02:28:55.730" v="835" actId="20577"/>
        <pc:sldMkLst>
          <pc:docMk/>
          <pc:sldMk cId="834736343" sldId="351"/>
        </pc:sldMkLst>
        <pc:spChg chg="mod">
          <ac:chgData name="Vanderlei Barbosa da Silva" userId="24e62a6a-a92d-4f90-9f09-efc0d92c1770" providerId="ADAL" clId="{B7BF07C5-55BE-4A63-A797-64077BB8B758}" dt="2026-06-09T02:22:29.282" v="798" actId="20577"/>
          <ac:spMkLst>
            <pc:docMk/>
            <pc:sldMk cId="834736343" sldId="351"/>
            <ac:spMk id="2" creationId="{C03DB1DC-F0EF-3B15-C608-74C4A0F0162D}"/>
          </ac:spMkLst>
        </pc:spChg>
      </pc:sldChg>
      <pc:sldChg chg="addSp delSp modSp add mod">
        <pc:chgData name="Vanderlei Barbosa da Silva" userId="24e62a6a-a92d-4f90-9f09-efc0d92c1770" providerId="ADAL" clId="{B7BF07C5-55BE-4A63-A797-64077BB8B758}" dt="2026-06-09T12:55:30.591" v="903" actId="1076"/>
        <pc:sldMkLst>
          <pc:docMk/>
          <pc:sldMk cId="1724249474" sldId="352"/>
        </pc:sldMkLst>
        <pc:spChg chg="mod">
          <ac:chgData name="Vanderlei Barbosa da Silva" userId="24e62a6a-a92d-4f90-9f09-efc0d92c1770" providerId="ADAL" clId="{B7BF07C5-55BE-4A63-A797-64077BB8B758}" dt="2026-06-09T03:01:46.582" v="895" actId="20577"/>
          <ac:spMkLst>
            <pc:docMk/>
            <pc:sldMk cId="1724249474" sldId="352"/>
            <ac:spMk id="2" creationId="{F3E115AB-0E6A-E75B-7042-9D525A9CC0AF}"/>
          </ac:spMkLst>
        </pc:spChg>
      </pc:sldChg>
    </pc:docChg>
  </pc:docChgLst>
  <pc:docChgLst>
    <pc:chgData name="Vanderlei Barbosa da Silva" userId="S::silvavbs@stj.jus.br::24e62a6a-a92d-4f90-9f09-efc0d92c1770" providerId="AD" clId="Web-{1F906071-AE03-DEFA-F367-A0ADBD0624C7}"/>
    <pc:docChg chg="modSld">
      <pc:chgData name="Vanderlei Barbosa da Silva" userId="S::silvavbs@stj.jus.br::24e62a6a-a92d-4f90-9f09-efc0d92c1770" providerId="AD" clId="Web-{1F906071-AE03-DEFA-F367-A0ADBD0624C7}" dt="2026-06-26T17:19:08.263" v="8" actId="20577"/>
      <pc:docMkLst>
        <pc:docMk/>
      </pc:docMkLst>
      <pc:sldChg chg="modSp">
        <pc:chgData name="Vanderlei Barbosa da Silva" userId="S::silvavbs@stj.jus.br::24e62a6a-a92d-4f90-9f09-efc0d92c1770" providerId="AD" clId="Web-{1F906071-AE03-DEFA-F367-A0ADBD0624C7}" dt="2026-06-26T17:19:08.263" v="8" actId="20577"/>
        <pc:sldMkLst>
          <pc:docMk/>
          <pc:sldMk cId="2518470170" sldId="311"/>
        </pc:sldMkLst>
        <pc:spChg chg="mod">
          <ac:chgData name="Vanderlei Barbosa da Silva" userId="S::silvavbs@stj.jus.br::24e62a6a-a92d-4f90-9f09-efc0d92c1770" providerId="AD" clId="Web-{1F906071-AE03-DEFA-F367-A0ADBD0624C7}" dt="2026-06-26T17:19:08.263" v="8" actId="20577"/>
          <ac:spMkLst>
            <pc:docMk/>
            <pc:sldMk cId="2518470170" sldId="311"/>
            <ac:spMk id="12" creationId="{5DC7200A-9C17-5991-6D14-2D08EDBB0E4A}"/>
          </ac:spMkLst>
        </pc:spChg>
      </pc:sldChg>
    </pc:docChg>
  </pc:docChgLst>
  <pc:docChgLst>
    <pc:chgData name="Vanderlei Barbosa da Silva" userId="24e62a6a-a92d-4f90-9f09-efc0d92c1770" providerId="ADAL" clId="{26A2EC59-7300-4526-A9AE-3A4D8AA35A8E}"/>
    <pc:docChg chg="undo custSel delSld modSld modSection">
      <pc:chgData name="Vanderlei Barbosa da Silva" userId="24e62a6a-a92d-4f90-9f09-efc0d92c1770" providerId="ADAL" clId="{26A2EC59-7300-4526-A9AE-3A4D8AA35A8E}" dt="2026-07-02T14:39:28.613" v="811" actId="6549"/>
      <pc:docMkLst>
        <pc:docMk/>
      </pc:docMkLst>
      <pc:sldChg chg="addSp modSp mod">
        <pc:chgData name="Vanderlei Barbosa da Silva" userId="24e62a6a-a92d-4f90-9f09-efc0d92c1770" providerId="ADAL" clId="{26A2EC59-7300-4526-A9AE-3A4D8AA35A8E}" dt="2026-07-02T14:39:28.613" v="811" actId="6549"/>
        <pc:sldMkLst>
          <pc:docMk/>
          <pc:sldMk cId="3768051510" sldId="256"/>
        </pc:sldMkLst>
        <pc:spChg chg="mod">
          <ac:chgData name="Vanderlei Barbosa da Silva" userId="24e62a6a-a92d-4f90-9f09-efc0d92c1770" providerId="ADAL" clId="{26A2EC59-7300-4526-A9AE-3A4D8AA35A8E}" dt="2026-07-02T14:39:28.613" v="811" actId="6549"/>
          <ac:spMkLst>
            <pc:docMk/>
            <pc:sldMk cId="3768051510" sldId="256"/>
            <ac:spMk id="3" creationId="{7F42A33A-D40D-D94A-A311-D61290DA0B73}"/>
          </ac:spMkLst>
        </pc:spChg>
        <pc:spChg chg="add mod">
          <ac:chgData name="Vanderlei Barbosa da Silva" userId="24e62a6a-a92d-4f90-9f09-efc0d92c1770" providerId="ADAL" clId="{26A2EC59-7300-4526-A9AE-3A4D8AA35A8E}" dt="2026-07-02T14:06:02.456" v="809" actId="6549"/>
          <ac:spMkLst>
            <pc:docMk/>
            <pc:sldMk cId="3768051510" sldId="256"/>
            <ac:spMk id="4" creationId="{A15DD5E0-8BEC-B1AA-B32B-4F3009B75DEA}"/>
          </ac:spMkLst>
        </pc:spChg>
        <pc:spChg chg="mod">
          <ac:chgData name="Vanderlei Barbosa da Silva" userId="24e62a6a-a92d-4f90-9f09-efc0d92c1770" providerId="ADAL" clId="{26A2EC59-7300-4526-A9AE-3A4D8AA35A8E}" dt="2026-07-02T12:46:47.009" v="661" actId="1076"/>
          <ac:spMkLst>
            <pc:docMk/>
            <pc:sldMk cId="3768051510" sldId="256"/>
            <ac:spMk id="6" creationId="{C0939EFC-3A1F-0D2C-770C-747BC7C55472}"/>
          </ac:spMkLst>
        </pc:spChg>
      </pc:sldChg>
      <pc:sldChg chg="modSp mod modNotesTx">
        <pc:chgData name="Vanderlei Barbosa da Silva" userId="24e62a6a-a92d-4f90-9f09-efc0d92c1770" providerId="ADAL" clId="{26A2EC59-7300-4526-A9AE-3A4D8AA35A8E}" dt="2026-07-02T13:19:47.641" v="783" actId="1076"/>
        <pc:sldMkLst>
          <pc:docMk/>
          <pc:sldMk cId="4105379344" sldId="280"/>
        </pc:sldMkLst>
        <pc:picChg chg="mod">
          <ac:chgData name="Vanderlei Barbosa da Silva" userId="24e62a6a-a92d-4f90-9f09-efc0d92c1770" providerId="ADAL" clId="{26A2EC59-7300-4526-A9AE-3A4D8AA35A8E}" dt="2026-07-02T13:19:47.641" v="783" actId="1076"/>
          <ac:picMkLst>
            <pc:docMk/>
            <pc:sldMk cId="4105379344" sldId="280"/>
            <ac:picMk id="5" creationId="{00000000-0000-0000-0000-000000000000}"/>
          </ac:picMkLst>
        </pc:picChg>
      </pc:sldChg>
      <pc:sldChg chg="modNotesTx">
        <pc:chgData name="Vanderlei Barbosa da Silva" userId="24e62a6a-a92d-4f90-9f09-efc0d92c1770" providerId="ADAL" clId="{26A2EC59-7300-4526-A9AE-3A4D8AA35A8E}" dt="2026-06-09T16:46:21.672" v="64" actId="20577"/>
        <pc:sldMkLst>
          <pc:docMk/>
          <pc:sldMk cId="3477721612" sldId="301"/>
        </pc:sldMkLst>
      </pc:sldChg>
      <pc:sldChg chg="modNotesTx">
        <pc:chgData name="Vanderlei Barbosa da Silva" userId="24e62a6a-a92d-4f90-9f09-efc0d92c1770" providerId="ADAL" clId="{26A2EC59-7300-4526-A9AE-3A4D8AA35A8E}" dt="2026-06-09T16:50:40.331" v="86" actId="20577"/>
        <pc:sldMkLst>
          <pc:docMk/>
          <pc:sldMk cId="1234460983" sldId="302"/>
        </pc:sldMkLst>
      </pc:sldChg>
      <pc:sldChg chg="modNotesTx">
        <pc:chgData name="Vanderlei Barbosa da Silva" userId="24e62a6a-a92d-4f90-9f09-efc0d92c1770" providerId="ADAL" clId="{26A2EC59-7300-4526-A9AE-3A4D8AA35A8E}" dt="2026-06-09T16:53:03.296" v="87" actId="6549"/>
        <pc:sldMkLst>
          <pc:docMk/>
          <pc:sldMk cId="3989337020" sldId="310"/>
        </pc:sldMkLst>
      </pc:sldChg>
      <pc:sldChg chg="addSp modSp mod modNotesTx">
        <pc:chgData name="Vanderlei Barbosa da Silva" userId="24e62a6a-a92d-4f90-9f09-efc0d92c1770" providerId="ADAL" clId="{26A2EC59-7300-4526-A9AE-3A4D8AA35A8E}" dt="2026-07-02T12:45:47.297" v="660" actId="20577"/>
        <pc:sldMkLst>
          <pc:docMk/>
          <pc:sldMk cId="2518470170" sldId="311"/>
        </pc:sldMkLst>
        <pc:spChg chg="add mod">
          <ac:chgData name="Vanderlei Barbosa da Silva" userId="24e62a6a-a92d-4f90-9f09-efc0d92c1770" providerId="ADAL" clId="{26A2EC59-7300-4526-A9AE-3A4D8AA35A8E}" dt="2026-07-02T12:45:47.297" v="660" actId="20577"/>
          <ac:spMkLst>
            <pc:docMk/>
            <pc:sldMk cId="2518470170" sldId="311"/>
            <ac:spMk id="3" creationId="{1A0931CF-DA5F-F7EC-4FB6-219B40506354}"/>
          </ac:spMkLst>
        </pc:spChg>
        <pc:spChg chg="mod">
          <ac:chgData name="Vanderlei Barbosa da Silva" userId="24e62a6a-a92d-4f90-9f09-efc0d92c1770" providerId="ADAL" clId="{26A2EC59-7300-4526-A9AE-3A4D8AA35A8E}" dt="2026-07-02T12:34:49.595" v="416" actId="1076"/>
          <ac:spMkLst>
            <pc:docMk/>
            <pc:sldMk cId="2518470170" sldId="311"/>
            <ac:spMk id="12" creationId="{5DC7200A-9C17-5991-6D14-2D08EDBB0E4A}"/>
          </ac:spMkLst>
        </pc:spChg>
        <pc:spChg chg="mod">
          <ac:chgData name="Vanderlei Barbosa da Silva" userId="24e62a6a-a92d-4f90-9f09-efc0d92c1770" providerId="ADAL" clId="{26A2EC59-7300-4526-A9AE-3A4D8AA35A8E}" dt="2026-07-02T12:34:35.803" v="412" actId="1076"/>
          <ac:spMkLst>
            <pc:docMk/>
            <pc:sldMk cId="2518470170" sldId="311"/>
            <ac:spMk id="14" creationId="{274FB233-3AA5-14FC-4967-CDD12E4043A3}"/>
          </ac:spMkLst>
        </pc:spChg>
        <pc:graphicFrameChg chg="modGraphic">
          <ac:chgData name="Vanderlei Barbosa da Silva" userId="24e62a6a-a92d-4f90-9f09-efc0d92c1770" providerId="ADAL" clId="{26A2EC59-7300-4526-A9AE-3A4D8AA35A8E}" dt="2026-07-02T12:26:25.804" v="299" actId="20577"/>
          <ac:graphicFrameMkLst>
            <pc:docMk/>
            <pc:sldMk cId="2518470170" sldId="311"/>
            <ac:graphicFrameMk id="8" creationId="{A8B218D5-DDA1-AB53-7604-A31FCF8BCF92}"/>
          </ac:graphicFrameMkLst>
        </pc:graphicFrameChg>
      </pc:sldChg>
      <pc:sldChg chg="modSp mod">
        <pc:chgData name="Vanderlei Barbosa da Silva" userId="24e62a6a-a92d-4f90-9f09-efc0d92c1770" providerId="ADAL" clId="{26A2EC59-7300-4526-A9AE-3A4D8AA35A8E}" dt="2026-07-02T13:38:33.491" v="805" actId="6549"/>
        <pc:sldMkLst>
          <pc:docMk/>
          <pc:sldMk cId="2585261711" sldId="316"/>
        </pc:sldMkLst>
        <pc:spChg chg="mod">
          <ac:chgData name="Vanderlei Barbosa da Silva" userId="24e62a6a-a92d-4f90-9f09-efc0d92c1770" providerId="ADAL" clId="{26A2EC59-7300-4526-A9AE-3A4D8AA35A8E}" dt="2026-07-02T13:38:33.491" v="805" actId="6549"/>
          <ac:spMkLst>
            <pc:docMk/>
            <pc:sldMk cId="2585261711" sldId="316"/>
            <ac:spMk id="19" creationId="{00000000-0000-0000-0000-000000000000}"/>
          </ac:spMkLst>
        </pc:spChg>
      </pc:sldChg>
      <pc:sldChg chg="modSp mod">
        <pc:chgData name="Vanderlei Barbosa da Silva" userId="24e62a6a-a92d-4f90-9f09-efc0d92c1770" providerId="ADAL" clId="{26A2EC59-7300-4526-A9AE-3A4D8AA35A8E}" dt="2026-07-02T12:50:26.587" v="758"/>
        <pc:sldMkLst>
          <pc:docMk/>
          <pc:sldMk cId="903475675" sldId="318"/>
        </pc:sldMkLst>
        <pc:spChg chg="mod">
          <ac:chgData name="Vanderlei Barbosa da Silva" userId="24e62a6a-a92d-4f90-9f09-efc0d92c1770" providerId="ADAL" clId="{26A2EC59-7300-4526-A9AE-3A4D8AA35A8E}" dt="2026-07-02T12:50:26.587" v="758"/>
          <ac:spMkLst>
            <pc:docMk/>
            <pc:sldMk cId="903475675" sldId="318"/>
            <ac:spMk id="4" creationId="{6CBB7969-5F3A-BF5D-BE08-2DFC83D7A0BD}"/>
          </ac:spMkLst>
        </pc:spChg>
      </pc:sldChg>
      <pc:sldChg chg="modNotesTx">
        <pc:chgData name="Vanderlei Barbosa da Silva" userId="24e62a6a-a92d-4f90-9f09-efc0d92c1770" providerId="ADAL" clId="{26A2EC59-7300-4526-A9AE-3A4D8AA35A8E}" dt="2026-06-09T16:45:53.935" v="57" actId="6549"/>
        <pc:sldMkLst>
          <pc:docMk/>
          <pc:sldMk cId="2588760046" sldId="332"/>
        </pc:sldMkLst>
      </pc:sldChg>
      <pc:sldChg chg="modSp mod">
        <pc:chgData name="Vanderlei Barbosa da Silva" userId="24e62a6a-a92d-4f90-9f09-efc0d92c1770" providerId="ADAL" clId="{26A2EC59-7300-4526-A9AE-3A4D8AA35A8E}" dt="2026-07-02T12:56:01.671" v="772" actId="6549"/>
        <pc:sldMkLst>
          <pc:docMk/>
          <pc:sldMk cId="2553994211" sldId="346"/>
        </pc:sldMkLst>
        <pc:spChg chg="mod">
          <ac:chgData name="Vanderlei Barbosa da Silva" userId="24e62a6a-a92d-4f90-9f09-efc0d92c1770" providerId="ADAL" clId="{26A2EC59-7300-4526-A9AE-3A4D8AA35A8E}" dt="2026-07-02T12:54:49.143" v="768" actId="113"/>
          <ac:spMkLst>
            <pc:docMk/>
            <pc:sldMk cId="2553994211" sldId="346"/>
            <ac:spMk id="4" creationId="{4F893018-56B5-B409-8ADA-35014BF97920}"/>
          </ac:spMkLst>
        </pc:spChg>
        <pc:spChg chg="mod">
          <ac:chgData name="Vanderlei Barbosa da Silva" userId="24e62a6a-a92d-4f90-9f09-efc0d92c1770" providerId="ADAL" clId="{26A2EC59-7300-4526-A9AE-3A4D8AA35A8E}" dt="2026-07-02T12:54:58.230" v="769" actId="113"/>
          <ac:spMkLst>
            <pc:docMk/>
            <pc:sldMk cId="2553994211" sldId="346"/>
            <ac:spMk id="6" creationId="{2909BD7E-7F18-7EB7-79DE-B54AE5D8BC68}"/>
          </ac:spMkLst>
        </pc:spChg>
        <pc:spChg chg="mod">
          <ac:chgData name="Vanderlei Barbosa da Silva" userId="24e62a6a-a92d-4f90-9f09-efc0d92c1770" providerId="ADAL" clId="{26A2EC59-7300-4526-A9AE-3A4D8AA35A8E}" dt="2026-07-02T12:56:01.671" v="772" actId="6549"/>
          <ac:spMkLst>
            <pc:docMk/>
            <pc:sldMk cId="2553994211" sldId="346"/>
            <ac:spMk id="8" creationId="{03B97F2F-4D4A-AC35-226A-B60F17D4DA8A}"/>
          </ac:spMkLst>
        </pc:spChg>
      </pc:sldChg>
      <pc:sldChg chg="mod modShow">
        <pc:chgData name="Vanderlei Barbosa da Silva" userId="24e62a6a-a92d-4f90-9f09-efc0d92c1770" providerId="ADAL" clId="{26A2EC59-7300-4526-A9AE-3A4D8AA35A8E}" dt="2026-07-02T13:52:47.890" v="808" actId="729"/>
        <pc:sldMkLst>
          <pc:docMk/>
          <pc:sldMk cId="834736343" sldId="351"/>
        </pc:sldMkLst>
      </pc:sldChg>
      <pc:sldChg chg="modSp mod">
        <pc:chgData name="Vanderlei Barbosa da Silva" userId="24e62a6a-a92d-4f90-9f09-efc0d92c1770" providerId="ADAL" clId="{26A2EC59-7300-4526-A9AE-3A4D8AA35A8E}" dt="2026-07-02T12:53:02.612" v="767" actId="1076"/>
        <pc:sldMkLst>
          <pc:docMk/>
          <pc:sldMk cId="0" sldId="355"/>
        </pc:sldMkLst>
        <pc:spChg chg="mod">
          <ac:chgData name="Vanderlei Barbosa da Silva" userId="24e62a6a-a92d-4f90-9f09-efc0d92c1770" providerId="ADAL" clId="{26A2EC59-7300-4526-A9AE-3A4D8AA35A8E}" dt="2026-07-02T12:53:02.612" v="767" actId="1076"/>
          <ac:spMkLst>
            <pc:docMk/>
            <pc:sldMk cId="0" sldId="355"/>
            <ac:spMk id="7" creationId="{00000000-0000-0000-0000-000000000000}"/>
          </ac:spMkLst>
        </pc:spChg>
      </pc:sldChg>
      <pc:sldChg chg="delSp modSp mod">
        <pc:chgData name="Vanderlei Barbosa da Silva" userId="24e62a6a-a92d-4f90-9f09-efc0d92c1770" providerId="ADAL" clId="{26A2EC59-7300-4526-A9AE-3A4D8AA35A8E}" dt="2026-07-02T13:37:02.697" v="804" actId="6549"/>
        <pc:sldMkLst>
          <pc:docMk/>
          <pc:sldMk cId="0" sldId="357"/>
        </pc:sldMkLst>
        <pc:spChg chg="mod">
          <ac:chgData name="Vanderlei Barbosa da Silva" userId="24e62a6a-a92d-4f90-9f09-efc0d92c1770" providerId="ADAL" clId="{26A2EC59-7300-4526-A9AE-3A4D8AA35A8E}" dt="2026-07-02T13:37:02.697" v="804" actId="6549"/>
          <ac:spMkLst>
            <pc:docMk/>
            <pc:sldMk cId="0" sldId="357"/>
            <ac:spMk id="6" creationId="{00000000-0000-0000-0000-000000000000}"/>
          </ac:spMkLst>
        </pc:spChg>
        <pc:spChg chg="del">
          <ac:chgData name="Vanderlei Barbosa da Silva" userId="24e62a6a-a92d-4f90-9f09-efc0d92c1770" providerId="ADAL" clId="{26A2EC59-7300-4526-A9AE-3A4D8AA35A8E}" dt="2026-07-02T13:35:38.416" v="788" actId="478"/>
          <ac:spMkLst>
            <pc:docMk/>
            <pc:sldMk cId="0" sldId="357"/>
            <ac:spMk id="7" creationId="{00000000-0000-0000-0000-000000000000}"/>
          </ac:spMkLst>
        </pc:spChg>
      </pc:sldChg>
      <pc:sldChg chg="modSp mod">
        <pc:chgData name="Vanderlei Barbosa da Silva" userId="24e62a6a-a92d-4f90-9f09-efc0d92c1770" providerId="ADAL" clId="{26A2EC59-7300-4526-A9AE-3A4D8AA35A8E}" dt="2026-07-02T12:59:02.903" v="779" actId="20577"/>
        <pc:sldMkLst>
          <pc:docMk/>
          <pc:sldMk cId="0" sldId="358"/>
        </pc:sldMkLst>
        <pc:spChg chg="mod">
          <ac:chgData name="Vanderlei Barbosa da Silva" userId="24e62a6a-a92d-4f90-9f09-efc0d92c1770" providerId="ADAL" clId="{26A2EC59-7300-4526-A9AE-3A4D8AA35A8E}" dt="2026-07-02T12:59:02.903" v="779" actId="20577"/>
          <ac:spMkLst>
            <pc:docMk/>
            <pc:sldMk cId="0" sldId="358"/>
            <ac:spMk id="7" creationId="{00000000-0000-0000-0000-000000000000}"/>
          </ac:spMkLst>
        </pc:spChg>
      </pc:sldChg>
      <pc:sldChg chg="modSp mod">
        <pc:chgData name="Vanderlei Barbosa da Silva" userId="24e62a6a-a92d-4f90-9f09-efc0d92c1770" providerId="ADAL" clId="{26A2EC59-7300-4526-A9AE-3A4D8AA35A8E}" dt="2026-07-02T13:42:19.773" v="807" actId="6549"/>
        <pc:sldMkLst>
          <pc:docMk/>
          <pc:sldMk cId="0" sldId="362"/>
        </pc:sldMkLst>
        <pc:spChg chg="mod">
          <ac:chgData name="Vanderlei Barbosa da Silva" userId="24e62a6a-a92d-4f90-9f09-efc0d92c1770" providerId="ADAL" clId="{26A2EC59-7300-4526-A9AE-3A4D8AA35A8E}" dt="2026-07-02T13:42:19.773" v="807" actId="6549"/>
          <ac:spMkLst>
            <pc:docMk/>
            <pc:sldMk cId="0" sldId="362"/>
            <ac:spMk id="8" creationId="{00000000-0000-0000-0000-000000000000}"/>
          </ac:spMkLst>
        </pc:spChg>
      </pc:sldChg>
      <pc:sldChg chg="addSp delSp modSp mod">
        <pc:chgData name="Vanderlei Barbosa da Silva" userId="24e62a6a-a92d-4f90-9f09-efc0d92c1770" providerId="ADAL" clId="{26A2EC59-7300-4526-A9AE-3A4D8AA35A8E}" dt="2026-07-02T12:32:53.067" v="411" actId="14100"/>
        <pc:sldMkLst>
          <pc:docMk/>
          <pc:sldMk cId="0" sldId="363"/>
        </pc:sldMkLst>
        <pc:spChg chg="add del mod">
          <ac:chgData name="Vanderlei Barbosa da Silva" userId="24e62a6a-a92d-4f90-9f09-efc0d92c1770" providerId="ADAL" clId="{26A2EC59-7300-4526-A9AE-3A4D8AA35A8E}" dt="2026-07-02T12:30:23.963" v="369" actId="478"/>
          <ac:spMkLst>
            <pc:docMk/>
            <pc:sldMk cId="0" sldId="363"/>
            <ac:spMk id="3" creationId="{77A6C8B4-14EF-9DAA-AA53-F92B4B10C46B}"/>
          </ac:spMkLst>
        </pc:spChg>
        <pc:spChg chg="add mod">
          <ac:chgData name="Vanderlei Barbosa da Silva" userId="24e62a6a-a92d-4f90-9f09-efc0d92c1770" providerId="ADAL" clId="{26A2EC59-7300-4526-A9AE-3A4D8AA35A8E}" dt="2026-07-02T12:32:53.067" v="411" actId="14100"/>
          <ac:spMkLst>
            <pc:docMk/>
            <pc:sldMk cId="0" sldId="363"/>
            <ac:spMk id="4" creationId="{FB55A8F3-E373-8478-C5B8-AC894C676C79}"/>
          </ac:spMkLst>
        </pc:spChg>
      </pc:sldChg>
      <pc:sldChg chg="modSp mod">
        <pc:chgData name="Vanderlei Barbosa da Silva" userId="24e62a6a-a92d-4f90-9f09-efc0d92c1770" providerId="ADAL" clId="{26A2EC59-7300-4526-A9AE-3A4D8AA35A8E}" dt="2026-07-02T13:13:52.102" v="782" actId="1076"/>
        <pc:sldMkLst>
          <pc:docMk/>
          <pc:sldMk cId="0" sldId="364"/>
        </pc:sldMkLst>
        <pc:spChg chg="mod">
          <ac:chgData name="Vanderlei Barbosa da Silva" userId="24e62a6a-a92d-4f90-9f09-efc0d92c1770" providerId="ADAL" clId="{26A2EC59-7300-4526-A9AE-3A4D8AA35A8E}" dt="2026-07-02T13:11:12.495" v="780" actId="113"/>
          <ac:spMkLst>
            <pc:docMk/>
            <pc:sldMk cId="0" sldId="364"/>
            <ac:spMk id="7" creationId="{00000000-0000-0000-0000-000000000000}"/>
          </ac:spMkLst>
        </pc:spChg>
        <pc:spChg chg="mod">
          <ac:chgData name="Vanderlei Barbosa da Silva" userId="24e62a6a-a92d-4f90-9f09-efc0d92c1770" providerId="ADAL" clId="{26A2EC59-7300-4526-A9AE-3A4D8AA35A8E}" dt="2026-07-02T13:13:52.102" v="782" actId="1076"/>
          <ac:spMkLst>
            <pc:docMk/>
            <pc:sldMk cId="0" sldId="364"/>
            <ac:spMk id="9" creationId="{00000000-0000-0000-0000-000000000000}"/>
          </ac:spMkLst>
        </pc:spChg>
      </pc:sldChg>
      <pc:sldChg chg="modSp mod">
        <pc:chgData name="Vanderlei Barbosa da Silva" userId="24e62a6a-a92d-4f90-9f09-efc0d92c1770" providerId="ADAL" clId="{26A2EC59-7300-4526-A9AE-3A4D8AA35A8E}" dt="2026-07-02T13:23:19.236" v="784" actId="6549"/>
        <pc:sldMkLst>
          <pc:docMk/>
          <pc:sldMk cId="0" sldId="365"/>
        </pc:sldMkLst>
        <pc:spChg chg="mod">
          <ac:chgData name="Vanderlei Barbosa da Silva" userId="24e62a6a-a92d-4f90-9f09-efc0d92c1770" providerId="ADAL" clId="{26A2EC59-7300-4526-A9AE-3A4D8AA35A8E}" dt="2026-07-02T13:23:19.236" v="784" actId="6549"/>
          <ac:spMkLst>
            <pc:docMk/>
            <pc:sldMk cId="0" sldId="365"/>
            <ac:spMk id="8" creationId="{00000000-0000-0000-0000-000000000000}"/>
          </ac:spMkLst>
        </pc:spChg>
      </pc:sldChg>
    </pc:docChg>
  </pc:docChgLst>
</pc:chgInfo>
</file>

<file path=ppt/comments/modernComment_100_E097E73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73E03D-DC4A-48E0-9AB2-B5CF1C3D71F7}" authorId="{EBE20E93-A1BB-F6E1-9F9B-1B60787748C4}" created="2026-06-07T20:21:21.2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68051510" sldId="256"/>
      <ac:picMk id="5" creationId="{8A30E2B3-F0B9-3248-BAE6-F1209292D2C1}"/>
    </ac:deMkLst>
    <p188:txBody>
      <a:bodyPr/>
      <a:lstStyle/>
      <a:p>
        <a:r>
          <a:rPr lang="pt-BR"/>
          <a:t>O que você vai falar: "Boa tarde aos ilustres membros da banca. É com grande satisfação que apresento o meu projeto de dissertação, focado em decodificar o sentimento da mídia financeira para antecipar a direção e a volatilidade da PETR4."</a:t>
        </a:r>
      </a:p>
    </p188:txBody>
  </p188:cm>
</p188:cmLst>
</file>

<file path=ppt/comments/modernComment_118_F4B31E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99211D-DD02-488F-91A7-57AE743F0533}" authorId="{EBE20E93-A1BB-F6E1-9F9B-1B60787748C4}" created="2026-06-07T20:22:49.5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05379344" sldId="280"/>
      <ac:spMk id="3" creationId="{6839AE1B-246E-532F-BF47-E0660174E08B}"/>
    </ac:deMkLst>
    <p188:txBody>
      <a:bodyPr/>
      <a:lstStyle/>
      <a:p>
        <a:r>
          <a:rPr lang="pt-BR"/>
          <a:t>"Para otimizar o nosso tempo, estruturei esta apresentação seguindo o rigor do nosso documento escrito. Passaremos pela problematização e hipóteses, avançaremos para a revisão da literatura e, na segunda metade, detalharemos a nossa arquitetura de Data Fusion e os resultados preliminares."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85A01-7F43-DF4B-A56A-D56FBC29A924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73500-FE24-774E-8932-3833A078E1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15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Boa tarde aos ilustres membros da banca. É com grande satisfação que apresento o meu projeto de dissertação, focado em decodificar o sentimento da mídia financeira para antecipar a direção e a volatilidade da PETR4.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398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1AED1-8309-D999-0F13-E55F50E6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0E48F7-D390-BB36-DD09-AB396925A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B999DAC-6A58-472F-EDEB-59E9998F5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Professores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observem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a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anatomia do choque informacional na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PETR4. </a:t>
            </a:r>
          </a:p>
          <a:p>
            <a:endParaRPr lang="pt-BR" b="0" i="1" kern="1200" dirty="0">
              <a:solidFill>
                <a:srgbClr val="303030"/>
              </a:solidFill>
              <a:effectLst/>
              <a:highlight>
                <a:srgbClr val="FFFFFF"/>
              </a:highlight>
            </a:endParaRPr>
          </a:p>
          <a:p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Quando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a denúncia da Lava Jato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atinge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a mídia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, o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investidor age guiado pelo Viés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de Negatividade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. 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A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razão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 desaparece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o preço desaba abruptamente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e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a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volatilidade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 explode. 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Modelos estáticos ficam cegos diante dessa anomalia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. </a:t>
            </a:r>
          </a:p>
          <a:p>
            <a:endParaRPr lang="pt-BR" b="0" i="1" kern="1200" dirty="0">
              <a:solidFill>
                <a:srgbClr val="303030"/>
              </a:solidFill>
              <a:effectLst/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É exatamente para prever esse ponto de inflexão que a nossa arquitetura de Data Fusion foi construída.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4215B7-BCD7-1F37-EB1A-088E351D1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606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"Professores, a literatura clássica já nos diz que notícias impactam os preços. 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O problema é que a maioria dos sistemas preditivos do passado tentava ler essas notícias contando palavras isoladas, esbarrando na ironia e na complexidade do nosso idioma, além de diluir a análise no IBOVESPA inteiro.</a:t>
            </a:r>
            <a:endParaRPr lang="pt-BR" dirty="0"/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Portanto, a nossa Questão Central não é perguntar SE a notícia move o mercado, mas sim COMO nós podemos prever a direção e a volatilidade da PETR4 utilizando o atual estado da arte da Inteligência Artificial. 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Nós queremos testar se arquiteturas avançadas, como os Transformers e o </a:t>
            </a:r>
            <a:r>
              <a:rPr lang="pt-BR" i="1" dirty="0" err="1">
                <a:solidFill>
                  <a:srgbClr val="303030"/>
                </a:solidFill>
                <a:highlight>
                  <a:srgbClr val="FFFFFF"/>
                </a:highlight>
              </a:rPr>
              <a:t>BERTimbau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, conseguem ler o noticiário do Valor Econômico e nos dar uma vantagem preditiva.</a:t>
            </a:r>
            <a:endParaRPr lang="pt-BR" dirty="0"/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Para desdobrar essa questão central, investigamos três questões secundárias: primeiro, se a máquina consegue prever a direção de Alta ou Baixa; segundo, se a notícia consegue antecipar o agrupamento de risco e volatilidade antes dele acontecer; e, terceiro, se o mercado penaliza a PETR4 de forma assimétrica quando a notícia é negativa, o que chamamos nas Finanças Comportamentais de Viés de Negatividade."</a:t>
            </a:r>
            <a:endParaRPr lang="pt-BR" dirty="0"/>
          </a:p>
          <a:p>
            <a:endParaRPr lang="pt-BR" i="1" dirty="0">
              <a:ea typeface="Calibri"/>
              <a:cs typeface="Calibri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56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Nosso Objetivo Geral é construir uma arquitetura de Data Fusion que una o sentimento extraído de notícias com algoritmos preditivos para antecipar a direção e a volatilidade da PETR4. 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que isso seja possível, nossos objetivos específicos englobam: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1. a coleta e higienização de um Big Data do Valor Econômico;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2. a extração do índice de polaridade (otimismo/pessimismo) via modelo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BERTimbau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3. o isolamento da inércia do risco via modelo econométrico GARCH(1,1);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4. e a aplicação de classificadores não-lineares, validados rigorosamente pelo protocolo Walk-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impedir qualquer vazamento de dados do futuro.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413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21042-85A6-F6EA-F0F4-CEF306CC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A1F483B-E2CF-9D59-C83C-2426D3A6A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A6A614-6F8F-19E9-1A38-70DC36123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Nossa pesquisa se ancora em 4 hipóteses. </a:t>
            </a:r>
            <a:b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H1: O texto afeta o retorno de forma direcional. 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H2: O texto atua como previsor antecipado da volatilidade. 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H3: As notícias pessimistas geram ineficiências mais agudas que as otimistas (Viés de Negatividade). E a nossa hipótese de controle, 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H4: se desalinharmos as datas das notícias (imputação estocástica), os modelos devem se comportar como um passeio aleatório, cravando 50% de acurácia, provando que não há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9BBA3A-A8F6-D569-F73E-93C3ECF8D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663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69BC7-0249-3D0C-8F7B-E972E0D8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5B78F0A-C150-A709-1742-A04349CE0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2A5C02-CDB4-CA6F-F919-FFB5ED057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Professores, a nossa contribuição principal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transcende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a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teoria. </a:t>
            </a:r>
            <a:endParaRPr lang="pt-BR" dirty="0">
              <a:solidFill>
                <a:srgbClr val="000000"/>
              </a:solidFill>
            </a:endParaRP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Nós entregamos à comunidade científica um </a:t>
            </a:r>
            <a:r>
              <a:rPr lang="pt-BR" b="1" i="1" dirty="0">
                <a:solidFill>
                  <a:srgbClr val="303030"/>
                </a:solidFill>
                <a:highlight>
                  <a:srgbClr val="FFFFFF"/>
                </a:highlight>
              </a:rPr>
              <a:t>Framework Preditivo </a:t>
            </a:r>
            <a:r>
              <a:rPr lang="pt-BR" b="1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de Data Fusion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. O que isso significa na prática? 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Significa que nós construímos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 e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validamos um pipeline computacional capaz de ingerir as notícias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do Valor Econômico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 diariamente, cruzar essa semântica com a volatilidade econométrica do GARCH, e fornecer aos algoritmos de Machine Learning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o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sinal claro se a PETR4 tem maior probabilidade de alta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ou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de baixa no pregão seguinte.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 Não é apenas uma análise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do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passado, é um framework arquitetural validado para uso preditivo diário no mercado brasileiro.</a:t>
            </a:r>
            <a:endParaRPr lang="pt-BR" dirty="0">
              <a:ea typeface="Calibri"/>
              <a:cs typeface="Calibri"/>
            </a:endParaRPr>
          </a:p>
          <a:p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C54395-07B6-C685-7AF3-7185432C0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580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49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A14D8-7651-932E-621A-DBF0DF9B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32E9C4-259B-EF49-5C3F-5CCD8E0D2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DFF1A9C-0765-928F-4B5A-77691386F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Preenchemos a lacuna ao abandonar as médias do IBOVESPA para focar cirurgicamente na PETR4, criando um ecossistema de Data Fusion que o estado da arte ainda não havia unificado no Brasil."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722551-488B-934B-354B-78D61CE99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361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EBBA8-95FE-7190-8C19-4BBE90E2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58BC06E-3A4A-BEF5-48D0-4B4E76CF6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B0496B-5902-9EDB-7363-5FE9DDFFD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D8B64F-81E2-B051-549F-782FC943E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879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228DC-2AB7-3538-C141-0F456505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F794ED-C169-EF39-731A-1D465F242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1E1AD87-6027-B920-93E5-291430BDC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30CF3D-7CAD-6A01-F2BB-25D05C388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522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8CE52-5AE2-F15D-B6B1-1ABB37E4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333ADE-85F3-1E4D-9961-1C3B63B70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A3814F-EA1A-5334-0DF1-FD978955B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74EAA8-D8A7-FC70-D316-C581E62CA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201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Professores, apresento agora o diagrama da nossa Arquitetura de Data Fusion, que é o verdadeiro motor desta dissertação. </a:t>
            </a: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nosso objetivo foi construir um pipeline computacional capaz de ingerir dados caóticos, purificá-los e prever a direção da PETR4. Nós dividimos essa arquitetura em passos lógicos, e vou explicar o porquê de cada escolha tecnológica que fizemos.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897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805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151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otimizar o nosso tempo, estruturei esta apresentação seguindo o rigor do nosso documento escrito. </a:t>
            </a: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Passaremos pela problematização e hipóteses, avançaremos para a revisão da literatura e, na segunda metade, detalharemos a nossa arquitetura de Data Fusion e os resultados preliminares.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866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36912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4F89-A1E4-493C-3194-A8FA714A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6FDEB6C-CF90-9DAA-27DC-0EF711CF1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8674DFE-75A1-6688-BD36-021D2EEA3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Professores, o primeiro grande resultado do nosso laboratório quebra o mito de que 'toda notícia move o mercado’.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nosso robô capturou mais de 9 mil manchetes do Valor Econômico.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nós jogássemos tudo isso no algoritmo, a máquina enlouqueceria com o ruído branco.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Nós utilizamos o modelo GARCH como um filtro de relevância.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resultado empírico demonstrou que expressivos 85,6% do fluxo jornalístico não deslocaram o preço da PETR4 de forma anormal.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Apenas 14,4% das notícias coincidiram com choques reais de volatilidade, onde o estresse superou o percentil 75 da nossa distribuição.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Isso prova à banca que a nossa máquina não lê tudo cegamente; ela foca exclusivamente nos eventos que causam anomalia de precificação."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44C879-0EA4-ED92-D8C7-57778C8B5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3718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8153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8A665-CEC8-31FF-ABC9-4420B718D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AFCF42D-5F30-8DCD-EED6-CB6A5C990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163ADD-FABB-C00C-D1C5-EA892ABA4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que você vai falar (Roteiro de Autoridade):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"Finalmente, apresento o desempenho preliminar dos nossos classificadores não-lineares, SVM e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encarregados de prever o movimento de alta ou baixa da PETR4 no pregão seguinte.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as datas de publicação originais foram imputadas de forma estocástica (aleatória) para testar a nossa engenharia de dados, nós introduzimos intencionalmente um descompasso entre a notícia e o mercado.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ser alimentada com esse ruído, observem a tabela: a máquina apresentou uma acurácia próxima a 50% e um AUC-ROC em torno de 0.50.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Ciência de Dados pura isso parece insuficiente, mas em Finanças Quantitativas esta é a prova absoluta de que o nosso algoritmo é íntegro.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Nós provamos a Hipótese 4. Na ausência do evento causal genuíno, a máquina não tentou decorar o passado; ela se comportou como um Passeio Aleatório (Random Walk).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protocolo Walk-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impediu qualquer vazamento de dados (Data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ou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sobreajuste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restabelecermos o alinhamento de alta frequência das notícias na próxima etapa da pesquisa, nossa expectativa é que a acurácia direcional atinja a faixa do estado da arte, entre 56% e 60%."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E5161C-0282-2A1D-31FE-7ECA9859A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9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C27F-9972-AE56-C47D-F986767C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8F36F60-0217-7D7E-6696-F27B7D9AC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E8BA4F-1444-6FC0-838F-C54F855E8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que você vai falar: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"Neste cronograma, já vencemos a extração bruta e a validação laboratorial (Qualificação). Os próximos meses até a defesa em março de 2027 serão focados no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Tuning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a nova base temporal. O meu laboratório já está operacional e reproduzível. Muito obrigado pela atenção, devolvo a palavra ao meu orientador e à ilustre banca."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29FF77-350C-956F-D493-AAB111D50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00852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https://vanderbarbosa.github.io/coleta_dados_petr4/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1650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769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47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3237F-C3FC-4846-88E0-7F628DC7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0B2D18-5336-3F45-A5DB-1609F1E58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B02B42-5A8D-FF47-BDF8-AE1E10AEB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E43636-7209-6E4C-81DD-C079EDAC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8ACC670-E9EE-C9BF-9113-43D54ED59BCC}"/>
              </a:ext>
            </a:extLst>
          </p:cNvPr>
          <p:cNvSpPr/>
          <p:nvPr userDrawn="1"/>
        </p:nvSpPr>
        <p:spPr>
          <a:xfrm>
            <a:off x="1540565" y="6281530"/>
            <a:ext cx="1649896" cy="439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6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7557D-2F6C-584C-B08B-7202F22D0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E6E12D-21CE-3E4E-93DC-0566C4A50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00FD01-9FAB-5242-8832-DFD74E4E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022E12-6641-AD45-9AD7-63AA2BC2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E509A8-81B3-BC42-A17A-03D5B4E6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683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1B042-FA96-0046-AC8F-02FB6106E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2A7980-B797-0340-AFC1-3BA1AEFB33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B2D33B-7689-BB49-AF3C-FBA30A7DD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496422-2012-BF45-9BF9-9F03B989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2A5800-465D-6343-9B9F-E5074AAA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20169E-FDBE-2642-B1C6-F396D673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04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568DE-CA90-8943-8E3B-6BCA9A7D5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8A109C-4E7E-C249-8663-BA034C92C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A00E26-49F5-7C46-9807-E710126D9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89714D-340E-1042-9716-75122060B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22C24-80CC-B64D-958F-861C6E932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7CC4025-A95C-EE46-93C7-113D1DB5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9DDF7E4-26B3-5640-B02E-5A059C24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82619A-E153-F64D-8A0A-90ADB5261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644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886D7-2029-3849-B2AF-D4254BD8F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56AD631-D12E-0A43-A4B2-34BD5F7932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8894AF-CD21-A54A-B1AC-F22EA77D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E2A004-569A-A846-96B5-268E84C7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72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F9C40E-F3D8-174D-8897-E1286A7F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BAF9C72-0176-2D49-A135-74D9BB1B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7EBAD3-7AFF-1446-9614-B1000EEB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47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B91D1-933F-D442-96F2-7E417F63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645735-AA08-F84B-9AB6-9157ABFA9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7CD056-3CFC-B048-931E-78B888DCF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AC4021-4831-AE4A-A75A-DEAEB5A403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017886-1037-0F49-A3A4-76BA3091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1A5089-28A6-524F-B561-0E2F5CFF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606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31552-DD45-F849-A82E-F03ECC12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5D5D9D-9878-5649-A589-7F11E9305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C43375-1CF7-704D-B9D3-077EE1257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F0DC97-29D9-3741-A824-D0AF639F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CC0792-30AF-1549-B8B6-0732B7AE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514C85-FE9E-B44D-8558-BF8DCF40B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95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5851E-50B9-204A-A492-C895127D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BC6D9D-4803-9640-B977-C6758177C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B5CE2-B28F-414A-A36D-9FEFEDB6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ECE862-E922-594C-8E24-3C3D2282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BB98F9-4304-7A4D-A8AC-5993D6E84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2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91FE92-8621-A249-A763-1AB686BE2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F2C073-A6A6-5544-B957-9E9641579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17AEB8-8067-D943-B83B-1AC63A2E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EF7C2E-9C27-114D-BE41-5B207061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3FF784-4316-8748-B63B-6CDF5579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22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adrão do plano de fundo&#10;&#10;Descrição gerada automaticamente com confiança baixa">
            <a:extLst>
              <a:ext uri="{FF2B5EF4-FFF2-40B4-BE49-F238E27FC236}">
                <a16:creationId xmlns:a16="http://schemas.microsoft.com/office/drawing/2014/main" id="{DA6EB240-15CE-7D46-A968-108AB86B7A5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 descr="Uma imagem contendo Logotipo&#10;&#10;Descrição gerada automaticamente">
            <a:extLst>
              <a:ext uri="{FF2B5EF4-FFF2-40B4-BE49-F238E27FC236}">
                <a16:creationId xmlns:a16="http://schemas.microsoft.com/office/drawing/2014/main" id="{E61E87A7-A503-43EA-BA4B-19D3E975F3E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4904" y="6192982"/>
            <a:ext cx="3076861" cy="55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1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E097E73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F4B31E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Forma&#10;&#10;Descrição gerada automaticamente">
            <a:extLst>
              <a:ext uri="{FF2B5EF4-FFF2-40B4-BE49-F238E27FC236}">
                <a16:creationId xmlns:a16="http://schemas.microsoft.com/office/drawing/2014/main" id="{8A30E2B3-F0B9-3248-BAE6-F1209292D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04B612-E1A1-EB45-9FBD-335732929D7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97564" y="1943099"/>
            <a:ext cx="7441324" cy="3098380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br>
              <a:rPr lang="pt-BR" sz="5000" b="1" spc="-30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pt-BR" sz="3300" dirty="0">
                <a:solidFill>
                  <a:schemeClr val="bg1"/>
                </a:solidFill>
                <a:latin typeface="Arial Black" panose="020B0A04020102020204" pitchFamily="34" charset="0"/>
              </a:rPr>
              <a:t>O Impacto do Sentimento de Notícias Financeiras na Previsão de Direção e Volatilidade do Ativo PETR4: Uma Abordagem via Transformers e Machine Learning</a:t>
            </a:r>
            <a:br>
              <a:rPr lang="pt-BR" sz="5400" dirty="0"/>
            </a:br>
            <a:endParaRPr lang="pt-BR" sz="5000" b="1" spc="-300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42A33A-D40D-D94A-A311-D61290DA0B7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47597" y="5379929"/>
            <a:ext cx="7601406" cy="42342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Orientador: Dr</a:t>
            </a:r>
            <a:r>
              <a:rPr lang="pt-BR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Júlio </a:t>
            </a:r>
            <a:r>
              <a:rPr lang="pt-BR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Cesar </a:t>
            </a:r>
            <a:r>
              <a:rPr lang="pt-BR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Nievola</a:t>
            </a:r>
            <a:endParaRPr lang="pt-BR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 descr="Texto, Aplicativo&#10;&#10;Descrição gerada automaticamente">
            <a:extLst>
              <a:ext uri="{FF2B5EF4-FFF2-40B4-BE49-F238E27FC236}">
                <a16:creationId xmlns:a16="http://schemas.microsoft.com/office/drawing/2014/main" id="{6B1950E5-AADD-F143-85B7-CCB042F31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13" y="3099030"/>
            <a:ext cx="3008993" cy="1049821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0939EFC-3A1F-0D2C-770C-747BC7C55472}"/>
              </a:ext>
            </a:extLst>
          </p:cNvPr>
          <p:cNvSpPr txBox="1">
            <a:spLocks/>
          </p:cNvSpPr>
          <p:nvPr/>
        </p:nvSpPr>
        <p:spPr>
          <a:xfrm>
            <a:off x="147597" y="6185707"/>
            <a:ext cx="7601406" cy="42342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Vanderlei Barbosa da Silva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15DD5E0-8BEC-B1AA-B32B-4F3009B75DEA}"/>
              </a:ext>
            </a:extLst>
          </p:cNvPr>
          <p:cNvSpPr txBox="1">
            <a:spLocks/>
          </p:cNvSpPr>
          <p:nvPr/>
        </p:nvSpPr>
        <p:spPr>
          <a:xfrm>
            <a:off x="147597" y="5764593"/>
            <a:ext cx="7601406" cy="42342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Coorientador: Dr. Emerson Cabrera Paraiso</a:t>
            </a:r>
          </a:p>
        </p:txBody>
      </p:sp>
    </p:spTree>
    <p:extLst>
      <p:ext uri="{BB962C8B-B14F-4D97-AF65-F5344CB8AC3E}">
        <p14:creationId xmlns:p14="http://schemas.microsoft.com/office/powerpoint/2010/main" val="37680515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Estrutura da Apresentação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63040" y="182880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1.  </a:t>
            </a:r>
            <a:r>
              <a:rPr sz="1800"/>
              <a:t>Introdução e Motivação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2.  </a:t>
            </a:r>
            <a:r>
              <a:rPr sz="1800"/>
              <a:t>Perguntas de Pesquisa, Objetivos e Hipóteses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3.  </a:t>
            </a:r>
            <a:r>
              <a:rPr sz="1800"/>
              <a:t>Contribuições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4.  </a:t>
            </a:r>
            <a:r>
              <a:rPr sz="1800"/>
              <a:t>Fundamentação Teórica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5.  </a:t>
            </a:r>
            <a:r>
              <a:rPr sz="1800"/>
              <a:t>Trabalhos Relacionados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6.  </a:t>
            </a:r>
            <a:r>
              <a:rPr sz="1800"/>
              <a:t>Método — Dados, Arquitetura e Métricas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7.  </a:t>
            </a:r>
            <a:r>
              <a:rPr sz="1800"/>
              <a:t>Resultados Preliminares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8.  </a:t>
            </a:r>
            <a:r>
              <a:rPr sz="1800"/>
              <a:t>Cronograma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2E5FD-3598-88E8-1AF9-8A2A3FB33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Introdução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6751E19-69DE-28D0-FE73-501773B16FE7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37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8CAB-5689-0F52-4031-41AC95260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A312-9B5F-FAC3-8CAD-AFA3F997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8230"/>
          </a:xfrm>
        </p:spPr>
        <p:txBody>
          <a:bodyPr lIns="91440" tIns="45720" rIns="91440" bIns="45720" anchor="t"/>
          <a:lstStyle/>
          <a:p>
            <a:r>
              <a:rPr lang="pt-BR" sz="2600" b="1" dirty="0">
                <a:solidFill>
                  <a:srgbClr val="810539"/>
                </a:solidFill>
                <a:latin typeface="Arial Black"/>
              </a:rPr>
              <a:t>Choque Informacional: Geopolítica e a Volatilidade da PETR4</a:t>
            </a:r>
            <a:endParaRPr lang="pt-BR" dirty="0">
              <a:latin typeface="Arial Black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8760"/>
            <a:ext cx="4266951" cy="4617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2117" y="5573268"/>
            <a:ext cx="2797273" cy="346329"/>
          </a:xfrm>
          <a:prstGeom prst="rect">
            <a:avLst/>
          </a:prstGeom>
          <a:solidFill>
            <a:srgbClr val="050A14"/>
          </a:solidFill>
          <a:ln w="6350">
            <a:solidFill>
              <a:srgbClr val="050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Dia 27/02/26 (sex): PETR4 fecha em queda de −1,53%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7570" y="2238741"/>
            <a:ext cx="1665044" cy="599415"/>
          </a:xfrm>
          <a:prstGeom prst="roundRect">
            <a:avLst/>
          </a:prstGeom>
          <a:solidFill>
            <a:srgbClr val="E87D0D"/>
          </a:solidFill>
          <a:ln w="6350">
            <a:solidFill>
              <a:srgbClr val="E87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28/02 (sáb): EUA atacam o Irã — início da guerra (mercado fechado)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320384" y="2838156"/>
            <a:ext cx="190925" cy="2530866"/>
          </a:xfrm>
          <a:prstGeom prst="line">
            <a:avLst/>
          </a:prstGeom>
          <a:ln w="28575">
            <a:solidFill>
              <a:srgbClr val="E87D0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87570" y="3082363"/>
            <a:ext cx="1665044" cy="555014"/>
          </a:xfrm>
          <a:prstGeom prst="roundRect">
            <a:avLst/>
          </a:prstGeom>
          <a:solidFill>
            <a:srgbClr val="1E7E34"/>
          </a:solidFill>
          <a:ln w="6350">
            <a:solidFill>
              <a:srgbClr val="1E7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02/03 (seg): abre em GAP de alta de +4,58%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7794" y="3637377"/>
            <a:ext cx="0" cy="1221032"/>
          </a:xfrm>
          <a:prstGeom prst="line">
            <a:avLst/>
          </a:prstGeom>
          <a:ln w="31750">
            <a:solidFill>
              <a:srgbClr val="1E7E3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4920" y="1600200"/>
            <a:ext cx="6720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buNone/>
            </a:pPr>
            <a:r>
              <a:rPr sz="1600">
                <a:solidFill>
                  <a:srgbClr val="C0392B"/>
                </a:solidFill>
              </a:rPr>
              <a:t>■  </a:t>
            </a:r>
            <a:r>
              <a:rPr sz="1700" b="1">
                <a:solidFill>
                  <a:srgbClr val="C0392B"/>
                </a:solidFill>
              </a:rPr>
              <a:t>27/02 (sex): </a:t>
            </a:r>
            <a:r>
              <a:rPr sz="1600">
                <a:solidFill>
                  <a:srgbClr val="333333"/>
                </a:solidFill>
              </a:rPr>
              <a:t>mercado calmo, sem o evento — PETR4 fecha em queda de −1,53%.</a:t>
            </a:r>
          </a:p>
          <a:p>
            <a:pPr>
              <a:spcAft>
                <a:spcPts val="1400"/>
              </a:spcAft>
              <a:buNone/>
            </a:pPr>
            <a:r>
              <a:rPr sz="1600">
                <a:solidFill>
                  <a:srgbClr val="E87D0D"/>
                </a:solidFill>
              </a:rPr>
              <a:t>■  </a:t>
            </a:r>
            <a:r>
              <a:rPr sz="1700" b="1">
                <a:solidFill>
                  <a:srgbClr val="E87D0D"/>
                </a:solidFill>
              </a:rPr>
              <a:t>28/02 (sáb): </a:t>
            </a:r>
            <a:r>
              <a:rPr sz="1600">
                <a:solidFill>
                  <a:srgbClr val="333333"/>
                </a:solidFill>
              </a:rPr>
              <a:t>EUA realizam o primeiro ataque ao Irã. Choque geopolítico com a bolsa fechada.</a:t>
            </a:r>
          </a:p>
          <a:p>
            <a:pPr>
              <a:spcAft>
                <a:spcPts val="1400"/>
              </a:spcAft>
              <a:buNone/>
            </a:pPr>
            <a:r>
              <a:rPr sz="1600">
                <a:solidFill>
                  <a:srgbClr val="1E7E34"/>
                </a:solidFill>
              </a:rPr>
              <a:t>■  </a:t>
            </a:r>
            <a:r>
              <a:rPr sz="1700" b="1">
                <a:solidFill>
                  <a:srgbClr val="1E7E34"/>
                </a:solidFill>
              </a:rPr>
              <a:t>02/03 (seg): </a:t>
            </a:r>
            <a:r>
              <a:rPr sz="1600">
                <a:solidFill>
                  <a:srgbClr val="333333"/>
                </a:solidFill>
              </a:rPr>
              <a:t>a notícia é precificada de uma vez — o pregão abre em GAP de alta de +4,58%.</a:t>
            </a:r>
          </a:p>
          <a:p>
            <a:pPr>
              <a:spcAft>
                <a:spcPts val="1400"/>
              </a:spcAft>
              <a:buNone/>
            </a:pPr>
            <a:r>
              <a:rPr sz="1600">
                <a:solidFill>
                  <a:srgbClr val="6B0F2A"/>
                </a:solidFill>
              </a:rPr>
              <a:t>■  </a:t>
            </a:r>
            <a:r>
              <a:rPr sz="1700" b="1">
                <a:solidFill>
                  <a:srgbClr val="6B0F2A"/>
                </a:solidFill>
              </a:rPr>
              <a:t>Março/2026: </a:t>
            </a:r>
            <a:r>
              <a:rPr sz="1600">
                <a:solidFill>
                  <a:srgbClr val="333333"/>
                </a:solidFill>
              </a:rPr>
              <a:t>a alta se sustenta e o mês fecha em +28,23%.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5074920"/>
            <a:ext cx="6720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B0F2A"/>
                </a:solidFill>
              </a:rPr>
              <a:t>Uma notícia exógena de alto impacto (geopolítica/petróleo) precifica-se de uma vez, em gap, deslocando preço e volatilidade num salto.</a:t>
            </a:r>
          </a:p>
          <a:p>
            <a:pPr>
              <a:spcBef>
                <a:spcPts val="600"/>
              </a:spcBef>
            </a:pPr>
            <a:r>
              <a:rPr sz="1500" i="1">
                <a:solidFill>
                  <a:srgbClr val="333333"/>
                </a:solidFill>
              </a:rPr>
              <a:t>É esse tipo de evento que o modelo busca antecipar — e que sustenta o achado de Granger (sentimento → volatilidade).</a:t>
            </a:r>
          </a:p>
        </p:txBody>
      </p:sp>
    </p:spTree>
    <p:extLst>
      <p:ext uri="{BB962C8B-B14F-4D97-AF65-F5344CB8AC3E}">
        <p14:creationId xmlns:p14="http://schemas.microsoft.com/office/powerpoint/2010/main" val="258876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163C7-AFB6-CDA5-1683-AFFA5C66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Perguntas de Pesquisa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15178B-DC19-AC93-988F-C71302598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267"/>
            <a:ext cx="10514138" cy="1325757"/>
          </a:xfrm>
        </p:spPr>
        <p:txBody>
          <a:bodyPr lIns="91440" tIns="45720" rIns="91440" bIns="45720" anchor="t"/>
          <a:lstStyle/>
          <a:p>
            <a:r>
              <a:rPr lang="pt-BR" sz="2200" b="1" dirty="0"/>
              <a:t>Questão Principal:</a:t>
            </a:r>
            <a:r>
              <a:rPr lang="pt-BR" sz="2200" dirty="0"/>
              <a:t> </a:t>
            </a:r>
            <a:r>
              <a:rPr lang="pt-BR" sz="2200" i="1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Como o sentimento extraído de notícias financeiras, processado por modelos avançados de Inteligência Artificial (Transformers), impacta a previsão de direção e volatilidade do ativo PETR4 na B3?</a:t>
            </a:r>
            <a:endParaRPr lang="pt-BR" sz="2200" i="1">
              <a:solidFill>
                <a:srgbClr val="810539"/>
              </a:solidFill>
              <a:highlight>
                <a:srgbClr val="FFFFFF"/>
              </a:highlight>
              <a:ea typeface="+mn-lt"/>
              <a:cs typeface="+mn-lt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3BA3085-E847-C63A-217B-C83520C24B43}"/>
              </a:ext>
            </a:extLst>
          </p:cNvPr>
          <p:cNvCxnSpPr>
            <a:cxnSpLocks/>
          </p:cNvCxnSpPr>
          <p:nvPr/>
        </p:nvCxnSpPr>
        <p:spPr>
          <a:xfrm>
            <a:off x="843379" y="1001055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0F8293F8-E86F-05F2-F7A6-718F90612ECE}"/>
              </a:ext>
            </a:extLst>
          </p:cNvPr>
          <p:cNvSpPr txBox="1">
            <a:spLocks/>
          </p:cNvSpPr>
          <p:nvPr/>
        </p:nvSpPr>
        <p:spPr>
          <a:xfrm>
            <a:off x="831629" y="2590341"/>
            <a:ext cx="10515600" cy="131771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b="1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Questão Secundária 1: </a:t>
            </a:r>
            <a:r>
              <a:rPr lang="pt-BR" sz="2200" i="1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O nível de pessimismo ou otimismo textual consegue prever matematicamente a direção de fechamento do ativo (Alta/Baixa)?</a:t>
            </a:r>
            <a:endParaRPr lang="pt-BR" sz="22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FFDA10C-BFA4-07CD-51E2-EB07AC219F82}"/>
              </a:ext>
            </a:extLst>
          </p:cNvPr>
          <p:cNvSpPr txBox="1">
            <a:spLocks/>
          </p:cNvSpPr>
          <p:nvPr/>
        </p:nvSpPr>
        <p:spPr>
          <a:xfrm>
            <a:off x="846826" y="3802123"/>
            <a:ext cx="10515600" cy="93066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Questão Secundária 2:</a:t>
            </a:r>
            <a:r>
              <a:rPr lang="pt-BR" sz="2200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pt-BR" sz="2200" i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O sentimento das notícias atua como um previsor antecipado da inércia do risco (volatilidade)?</a:t>
            </a:r>
            <a:endParaRPr lang="pt-BR" sz="1800" i="1">
              <a:solidFill>
                <a:srgbClr val="810539"/>
              </a:solidFill>
              <a:highlight>
                <a:srgbClr val="FFFFFF"/>
              </a:highlight>
              <a:ea typeface="Calibri"/>
              <a:cs typeface="Calibri"/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3C6366D-A8A4-126C-35A0-61DA138F2D60}"/>
              </a:ext>
            </a:extLst>
          </p:cNvPr>
          <p:cNvSpPr txBox="1">
            <a:spLocks/>
          </p:cNvSpPr>
          <p:nvPr/>
        </p:nvSpPr>
        <p:spPr>
          <a:xfrm>
            <a:off x="846825" y="5011646"/>
            <a:ext cx="10515600" cy="93066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b="1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Questão Secundária 3: </a:t>
            </a:r>
            <a:r>
              <a:rPr lang="pt-BR" sz="22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O Mercado</a:t>
            </a:r>
            <a:r>
              <a:rPr lang="pt-BR" sz="2200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precifica as notícias de forma assimétrica (Viés de </a:t>
            </a:r>
            <a:r>
              <a:rPr lang="pt-BR" sz="22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Negatividade)?</a:t>
            </a:r>
            <a:endParaRPr lang="pt-BR" sz="1800" b="1" i="1">
              <a:solidFill>
                <a:srgbClr val="810539"/>
              </a:solidFill>
              <a:highlight>
                <a:srgbClr val="FFFFFF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772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FF190-2A0E-6F43-28D4-C6CD9462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50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Objetivos e Hipóteses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8D04EC-F6B4-4A30-83F4-A3281570D9DF}"/>
              </a:ext>
            </a:extLst>
          </p:cNvPr>
          <p:cNvSpPr txBox="1"/>
          <p:nvPr/>
        </p:nvSpPr>
        <p:spPr>
          <a:xfrm>
            <a:off x="869272" y="1145628"/>
            <a:ext cx="8984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810539"/>
                </a:solidFill>
              </a:rPr>
              <a:t>Objetivo Geral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27CFFB09-FF7B-6F64-91F8-C71E08FF5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081798"/>
              </p:ext>
            </p:extLst>
          </p:nvPr>
        </p:nvGraphicFramePr>
        <p:xfrm>
          <a:off x="1375298" y="1514961"/>
          <a:ext cx="9441404" cy="868694"/>
        </p:xfrm>
        <a:graphic>
          <a:graphicData uri="http://schemas.openxmlformats.org/drawingml/2006/table">
            <a:tbl>
              <a:tblPr>
                <a:effectLst>
                  <a:innerShdw blurRad="63500" dist="50800" dir="13500000">
                    <a:srgbClr val="810539">
                      <a:alpha val="50000"/>
                    </a:srgbClr>
                  </a:innerShdw>
                </a:effectLst>
              </a:tblPr>
              <a:tblGrid>
                <a:gridCol w="9441404">
                  <a:extLst>
                    <a:ext uri="{9D8B030D-6E8A-4147-A177-3AD203B41FA5}">
                      <a16:colId xmlns:a16="http://schemas.microsoft.com/office/drawing/2014/main" val="733255789"/>
                    </a:ext>
                  </a:extLst>
                </a:gridCol>
              </a:tblGrid>
              <a:tr h="868694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Investigar o impacto do sentimento extraído de notícias financeiras, processado via arquitetura Transformers (FinBERT-PT-BR), sobre a previsão da direção do preço e da volatilidade do ativo PETR4 no mercado acionário brasileiro, estruturando uma arquitetura de fusão de dados (Data Fusion) com algoritmos de Machine Learning.</a:t>
                      </a:r>
                      <a:endParaRPr lang="pt-BR" sz="1400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noFill/>
                      <a:prstDash val="sysDot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234304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D4CAF4C5-0EAE-E7AC-B70F-B4D17E90CD61}"/>
              </a:ext>
            </a:extLst>
          </p:cNvPr>
          <p:cNvSpPr txBox="1"/>
          <p:nvPr/>
        </p:nvSpPr>
        <p:spPr>
          <a:xfrm>
            <a:off x="931416" y="2752988"/>
            <a:ext cx="8984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810539"/>
                </a:solidFill>
              </a:rPr>
              <a:t>Objetivos Específicos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B303B58-1B4F-6062-5476-CC02F71F19B6}"/>
              </a:ext>
            </a:extLst>
          </p:cNvPr>
          <p:cNvSpPr txBox="1"/>
          <p:nvPr/>
        </p:nvSpPr>
        <p:spPr>
          <a:xfrm>
            <a:off x="1332759" y="3122320"/>
            <a:ext cx="9526481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810539"/>
              </a:buClr>
              <a:buFont typeface="Wingdings" panose="05000000000000000000" pitchFamily="2" charset="2"/>
              <a:buChar char="Ø"/>
            </a:pPr>
            <a:r>
              <a:rPr lang="pt-BR" sz="1300" dirty="0"/>
              <a:t>Coletar e higienizar um corpus de notícias de cinco portais de economia referentes ao contexto macroeconômico e à Petrobras.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1300" dirty="0"/>
          </a:p>
          <a:p>
            <a:pPr marL="285750" indent="-285750" algn="just">
              <a:buClr>
                <a:srgbClr val="810539"/>
              </a:buClr>
              <a:buFont typeface="Wingdings" panose="05000000000000000000" pitchFamily="2" charset="2"/>
              <a:buChar char="Ø"/>
            </a:pPr>
            <a:r>
              <a:rPr lang="pt-BR" sz="1300" dirty="0"/>
              <a:t>Aplicar uma taxonomia temática supervisionada (sete categorias, 152 termos) para diagnosticar as principais forças temáticas que orbitam o ativo.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1300" dirty="0"/>
          </a:p>
          <a:p>
            <a:pPr marL="285750" indent="-285750" algn="just">
              <a:buClr>
                <a:srgbClr val="810539"/>
              </a:buClr>
              <a:buFont typeface="Wingdings" panose="05000000000000000000" pitchFamily="2" charset="2"/>
              <a:buChar char="Ø"/>
            </a:pPr>
            <a:r>
              <a:rPr lang="pt-BR" sz="1300" dirty="0"/>
              <a:t>Utilizar o modelo estado da arte em NLP (FinBERT-PT-BR) para extrair o Índice de Polaridade Semântica (sentimento positivo, negativo ou neutro) das manchetes.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1300" dirty="0"/>
          </a:p>
          <a:p>
            <a:pPr marL="285750" indent="-285750" algn="just">
              <a:buClr>
                <a:srgbClr val="810539"/>
              </a:buClr>
              <a:buFont typeface="Wingdings" panose="05000000000000000000" pitchFamily="2" charset="2"/>
              <a:buChar char="Ø"/>
            </a:pPr>
            <a:r>
              <a:rPr lang="pt-BR" sz="1300" dirty="0"/>
              <a:t>Modelar a inércia do risco do mercado acionário brasileiro por meio da variância condicional estimada pelo modelo econométrico </a:t>
            </a:r>
            <a:r>
              <a:rPr lang="pt-BR" sz="1300" b="1" dirty="0"/>
              <a:t>GARCH(1,1)</a:t>
            </a:r>
            <a:r>
              <a:rPr lang="pt-BR" sz="13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1300" dirty="0"/>
          </a:p>
          <a:p>
            <a:pPr marL="285750" indent="-285750" algn="just">
              <a:buClr>
                <a:srgbClr val="810539"/>
              </a:buClr>
              <a:buFont typeface="Wingdings" panose="05000000000000000000" pitchFamily="2" charset="2"/>
              <a:buChar char="Ø"/>
            </a:pPr>
            <a:r>
              <a:rPr lang="pt-BR" sz="1300" dirty="0"/>
              <a:t>Treinar e avaliar modelos preditivos não-lineares de Machine Learning(como </a:t>
            </a:r>
            <a:r>
              <a:rPr lang="pt-BR" sz="1300" b="1" dirty="0" err="1"/>
              <a:t>XGBoost</a:t>
            </a:r>
            <a:r>
              <a:rPr lang="pt-BR" sz="1300" b="1" dirty="0"/>
              <a:t> e </a:t>
            </a:r>
            <a:r>
              <a:rPr lang="pt-BR" sz="1300" b="1" dirty="0" err="1"/>
              <a:t>Support</a:t>
            </a:r>
            <a:r>
              <a:rPr lang="pt-BR" sz="1300" b="1" dirty="0"/>
              <a:t> Vector </a:t>
            </a:r>
            <a:r>
              <a:rPr lang="pt-BR" sz="1300" b="1" dirty="0" err="1"/>
              <a:t>Machines</a:t>
            </a:r>
            <a:r>
              <a:rPr lang="pt-BR" sz="1300" dirty="0"/>
              <a:t>), sob o protocolo de validação cruzada cronológica (</a:t>
            </a:r>
            <a:r>
              <a:rPr lang="pt-BR" sz="1300" b="1" dirty="0"/>
              <a:t>Walk-</a:t>
            </a:r>
            <a:r>
              <a:rPr lang="pt-BR" sz="1300" b="1" dirty="0" err="1"/>
              <a:t>Forward</a:t>
            </a:r>
            <a:r>
              <a:rPr lang="pt-BR" sz="1300" b="1" dirty="0"/>
              <a:t> </a:t>
            </a:r>
            <a:r>
              <a:rPr lang="pt-BR" sz="1300" b="1" dirty="0" err="1"/>
              <a:t>Validation</a:t>
            </a:r>
            <a:r>
              <a:rPr lang="pt-BR" sz="1300" dirty="0"/>
              <a:t>), para classificar a direção futura do ativo (alta/baixa).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A20972B-6B3B-15E6-D45B-5B0BF8A78965}"/>
              </a:ext>
            </a:extLst>
          </p:cNvPr>
          <p:cNvSpPr/>
          <p:nvPr/>
        </p:nvSpPr>
        <p:spPr>
          <a:xfrm>
            <a:off x="1704109" y="6224155"/>
            <a:ext cx="1620982" cy="633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02BC76F-FDAB-2C22-27B2-C953E87478B2}"/>
              </a:ext>
            </a:extLst>
          </p:cNvPr>
          <p:cNvCxnSpPr>
            <a:cxnSpLocks/>
          </p:cNvCxnSpPr>
          <p:nvPr/>
        </p:nvCxnSpPr>
        <p:spPr>
          <a:xfrm>
            <a:off x="929643" y="1044187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460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6CF08-227A-A4B1-7FC0-3B4BAE11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2D2D6-0F6A-4AC3-0D02-AD07D10DD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kern="1200" dirty="0">
                <a:solidFill>
                  <a:srgbClr val="810539"/>
                </a:solidFill>
                <a:latin typeface="Arial Black" panose="020B0A04020102020204" pitchFamily="34" charset="0"/>
              </a:rPr>
              <a:t>Hipóteses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800" b="1"/>
              <a:t>H1 — Impacto Direcional:  </a:t>
            </a:r>
            <a:r>
              <a:rPr sz="1500"/>
              <a:t>o sentimento textual das notícias, quando fundido aos preços, melhora a previsão da direção dos log-retornos da PETR4 frente a um modelo que usa apenas preços.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800" b="1"/>
              <a:t>H2 — Antecipação de Risco:  </a:t>
            </a:r>
            <a:r>
              <a:rPr sz="1500"/>
              <a:t>o sentimento das notícias antecede a volatilidade condicional da PETR4, exercendo poder preditivo sobre o risco do ativo.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800" b="1"/>
              <a:t>H3 — Viés de Negatividade:  </a:t>
            </a:r>
            <a:r>
              <a:rPr sz="1500"/>
              <a:t>notícias de polaridade negativa associam-se a reações de mercado mais intensas do que notícias positivas de magnitude comparável.</a:t>
            </a:r>
          </a:p>
        </p:txBody>
      </p:sp>
    </p:spTree>
    <p:extLst>
      <p:ext uri="{BB962C8B-B14F-4D97-AF65-F5344CB8AC3E}">
        <p14:creationId xmlns:p14="http://schemas.microsoft.com/office/powerpoint/2010/main" val="3989337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942FF-C53D-557A-246F-A2F05142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94E86-5AA7-CEE7-7E94-1D15F45A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kern="1200" dirty="0">
                <a:solidFill>
                  <a:srgbClr val="810539"/>
                </a:solidFill>
                <a:latin typeface="Arial Black" panose="020B0A04020102020204" pitchFamily="34" charset="0"/>
              </a:rPr>
              <a:t>Contribuições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5C417E5-C321-7377-478E-D95D9BEDF1C0}"/>
              </a:ext>
            </a:extLst>
          </p:cNvPr>
          <p:cNvCxnSpPr>
            <a:cxnSpLocks/>
          </p:cNvCxnSpPr>
          <p:nvPr/>
        </p:nvCxnSpPr>
        <p:spPr>
          <a:xfrm>
            <a:off x="843379" y="1029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4295A1-5231-13FF-A88E-8B44EF05AB22}"/>
              </a:ext>
            </a:extLst>
          </p:cNvPr>
          <p:cNvSpPr txBox="1"/>
          <p:nvPr/>
        </p:nvSpPr>
        <p:spPr>
          <a:xfrm>
            <a:off x="869272" y="1145628"/>
            <a:ext cx="898420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>
                <a:solidFill>
                  <a:srgbClr val="810539"/>
                </a:solidFill>
              </a:rPr>
              <a:t>CONTRIBUIÇÃO PRINCIPAL</a:t>
            </a:r>
            <a:endParaRPr lang="pt-BR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A8B218D5-DDA1-AB53-7604-A31FCF8BC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510249"/>
              </p:ext>
            </p:extLst>
          </p:nvPr>
        </p:nvGraphicFramePr>
        <p:xfrm>
          <a:off x="1375298" y="1514961"/>
          <a:ext cx="9441404" cy="868694"/>
        </p:xfrm>
        <a:graphic>
          <a:graphicData uri="http://schemas.openxmlformats.org/drawingml/2006/table">
            <a:tbl>
              <a:tblPr>
                <a:effectLst>
                  <a:innerShdw blurRad="63500" dist="50800" dir="13500000">
                    <a:srgbClr val="810539">
                      <a:alpha val="50000"/>
                    </a:srgbClr>
                  </a:innerShdw>
                </a:effectLst>
              </a:tblPr>
              <a:tblGrid>
                <a:gridCol w="9441404">
                  <a:extLst>
                    <a:ext uri="{9D8B030D-6E8A-4147-A177-3AD203B41FA5}">
                      <a16:colId xmlns:a16="http://schemas.microsoft.com/office/drawing/2014/main" val="733255789"/>
                    </a:ext>
                  </a:extLst>
                </a:gridCol>
              </a:tblGrid>
              <a:tr h="868694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800" b="1" i="0" u="none" strike="noStrike" noProof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Avaliação da influência obtida pelas notícias na projeção de direção do preço da PETR4</a:t>
                      </a:r>
                      <a:endParaRPr lang="pt-BR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500" b="0" i="0" u="none" strike="noStrike" noProof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Desenvolvimento de um pipeline computacional diário que funde NLP Transformers com Risco GARCH para predição direcional da PETR4.</a:t>
                      </a:r>
                      <a:endParaRPr lang="pt-BR" sz="15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noFill/>
                      <a:prstDash val="sysDot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234304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A5BCCFAB-C8EF-5B00-0A01-BC7A41BF3159}"/>
              </a:ext>
            </a:extLst>
          </p:cNvPr>
          <p:cNvSpPr txBox="1"/>
          <p:nvPr/>
        </p:nvSpPr>
        <p:spPr>
          <a:xfrm>
            <a:off x="931416" y="2752988"/>
            <a:ext cx="898420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>
                <a:solidFill>
                  <a:srgbClr val="810539"/>
                </a:solidFill>
              </a:rPr>
              <a:t>CONTRIBUIÇÕES COMPLEMENTARES</a:t>
            </a:r>
            <a:endParaRPr lang="pt-BR" b="1" dirty="0">
              <a:solidFill>
                <a:srgbClr val="810539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C7200A-9C17-5991-6D14-2D08EDBB0E4A}"/>
              </a:ext>
            </a:extLst>
          </p:cNvPr>
          <p:cNvSpPr txBox="1"/>
          <p:nvPr/>
        </p:nvSpPr>
        <p:spPr>
          <a:xfrm>
            <a:off x="4431692" y="3409867"/>
            <a:ext cx="2869765" cy="1261884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reflection stA="40000" endPos="54000" dist="50800" dir="5400000" sy="-100000" algn="bl" rotWithShape="0"/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810539"/>
              </a:buClr>
            </a:pPr>
            <a:r>
              <a:rPr lang="pt-BR" b="1" dirty="0"/>
              <a:t>Corpus de notícias</a:t>
            </a:r>
            <a:br>
              <a:rPr lang="pt-BR" b="1" dirty="0">
                <a:ea typeface="Calibri"/>
                <a:cs typeface="Calibri"/>
              </a:rPr>
            </a:br>
            <a:br>
              <a:rPr lang="pt-BR" sz="1300" dirty="0"/>
            </a:br>
            <a:r>
              <a:rPr lang="pt-BR" sz="1500" dirty="0"/>
              <a:t>Coletar e higienizar um corpus  de </a:t>
            </a:r>
            <a:r>
              <a:rPr lang="pt-BR" sz="1500"/>
              <a:t>notícias referentes </a:t>
            </a:r>
            <a:r>
              <a:rPr lang="pt-BR" sz="1500" dirty="0"/>
              <a:t>ao contexto macroeconômico e à Petrobras.</a:t>
            </a:r>
            <a:endParaRPr lang="pt-BR" sz="1500" dirty="0">
              <a:ea typeface="Calibri"/>
              <a:cs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74FB233-3AA5-14FC-4967-CDD12E4043A3}"/>
              </a:ext>
            </a:extLst>
          </p:cNvPr>
          <p:cNvSpPr txBox="1"/>
          <p:nvPr/>
        </p:nvSpPr>
        <p:spPr>
          <a:xfrm>
            <a:off x="7931968" y="3409867"/>
            <a:ext cx="2884142" cy="1523494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reflection stA="40000" endPos="54000" dist="50800" dir="5400000" sy="-100000" algn="bl" rotWithShape="0"/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 dirty="0"/>
              <a:t>Modelo</a:t>
            </a:r>
            <a:endParaRPr lang="pt-BR" sz="1300" dirty="0"/>
          </a:p>
          <a:p>
            <a:pPr algn="just"/>
            <a:br>
              <a:rPr lang="pt-BR" sz="1500" dirty="0"/>
            </a:br>
            <a:r>
              <a:rPr lang="pt-BR" sz="1500" dirty="0">
                <a:ea typeface="+mn-lt"/>
                <a:cs typeface="+mn-lt"/>
              </a:rPr>
              <a:t>Um modelo que comprova numericamente o 'Viés' na B3, demonstrando como o investidor da PETR4 reage às notícias.</a:t>
            </a:r>
            <a:endParaRPr lang="pt-BR" sz="1500" dirty="0"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0931CF-DA5F-F7EC-4FB6-219B40506354}"/>
              </a:ext>
            </a:extLst>
          </p:cNvPr>
          <p:cNvSpPr txBox="1"/>
          <p:nvPr/>
        </p:nvSpPr>
        <p:spPr>
          <a:xfrm>
            <a:off x="931416" y="3397661"/>
            <a:ext cx="2869765" cy="1954381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reflection stA="40000" endPos="54000" dist="50800" dir="5400000" sy="-100000" algn="bl" rotWithShape="0"/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810539"/>
              </a:buClr>
            </a:pPr>
            <a:r>
              <a:rPr lang="pt-BR" b="1" dirty="0">
                <a:ea typeface="Calibri"/>
                <a:cs typeface="Calibri"/>
              </a:rPr>
              <a:t>Framework preditivo</a:t>
            </a:r>
            <a:br>
              <a:rPr lang="pt-BR" b="1" dirty="0">
                <a:ea typeface="Calibri"/>
                <a:cs typeface="Calibri"/>
              </a:rPr>
            </a:br>
            <a:br>
              <a:rPr lang="pt-BR" sz="1300" dirty="0"/>
            </a:br>
            <a:r>
              <a:rPr lang="pt-BR" sz="1500" dirty="0"/>
              <a:t>Framework que coleta as notícias divulgadas após o fechamento do pregão e projeto se essa notícia é capaz de influenciar a direção do preço de fechamento da ação no dia seguinte.</a:t>
            </a:r>
            <a:endParaRPr lang="pt-BR" sz="15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8470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Contribuições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40280" y="638251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autor. * corpus em recoleta/consolidação (2016–2026).</a:t>
            </a:r>
          </a:p>
        </p:txBody>
      </p:sp>
      <p:pic>
        <p:nvPicPr>
          <p:cNvPr id="9" name="Picture 8" descr="fig_contribui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1600200"/>
            <a:ext cx="11064240" cy="471297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B55A8F3-E373-8478-C5B8-AC894C676C79}"/>
              </a:ext>
            </a:extLst>
          </p:cNvPr>
          <p:cNvSpPr txBox="1"/>
          <p:nvPr/>
        </p:nvSpPr>
        <p:spPr>
          <a:xfrm>
            <a:off x="914398" y="1914996"/>
            <a:ext cx="10319659" cy="400110"/>
          </a:xfrm>
          <a:prstGeom prst="rect">
            <a:avLst/>
          </a:prstGeom>
          <a:solidFill>
            <a:srgbClr val="68042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CONTRIBUIÇÃO COMPLEMENTAR: FRAMEWORK PREDITIVO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75D9-7C13-31A6-3E8B-4B07B159D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A48F1-4D57-876A-A911-DB44B32B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Fundamentação Teórica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83D1101-E3C6-71A6-2F7F-0E733DB790FD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903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163C7-AFB6-CDA5-1683-AFFA5C66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Conceitos Fundamentais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3BA3085-E847-C63A-217B-C83520C24B43}"/>
              </a:ext>
            </a:extLst>
          </p:cNvPr>
          <p:cNvCxnSpPr>
            <a:cxnSpLocks/>
          </p:cNvCxnSpPr>
          <p:nvPr/>
        </p:nvCxnSpPr>
        <p:spPr>
          <a:xfrm>
            <a:off x="843379" y="1001055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002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500" b="1"/>
              <a:t>FinBERT-PT-BR:  </a:t>
            </a:r>
            <a:r>
              <a:rPr sz="1300"/>
              <a:t>modelo Transformer (BERTimbau ajustado a finanças) que converte texto em sentimento contextual no intervalo [−1, +1].</a:t>
            </a:r>
          </a:p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500" b="1"/>
              <a:t>GARCH(1,1):  </a:t>
            </a:r>
            <a:r>
              <a:rPr sz="1300"/>
              <a:t>modelo econométrico que estima a volatilidade condicional (o risco) da série, capturando o agrupamento de volatilidade.</a:t>
            </a:r>
          </a:p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500" b="1"/>
              <a:t>SVM (Support Vector Machine):  </a:t>
            </a:r>
            <a:r>
              <a:rPr sz="1300"/>
              <a:t>classificador que separa as classes maximizando a margem de decisão; avaliado como comparação.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002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500" b="1"/>
              <a:t>XGBoost (Extreme Gradient Boosting):  </a:t>
            </a:r>
            <a:r>
              <a:rPr sz="1300"/>
              <a:t>ensemble de árvores de decisão por gradient boosting; é o classificador principal da direção.</a:t>
            </a:r>
          </a:p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500" b="1"/>
              <a:t>Data Fusion:  </a:t>
            </a:r>
            <a:r>
              <a:rPr sz="1300"/>
              <a:t>fusão dos atributos heterogêneos (sentimento, risco, retorno, categorias) em um único vetor preditivo.</a:t>
            </a:r>
          </a:p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500" b="1"/>
              <a:t>Walk-Forward Validation:  </a:t>
            </a:r>
            <a:r>
              <a:rPr sz="1300"/>
              <a:t>validação cronológica em janelas deslizantes — treina no passado, testa no futuro, sem vazamento de dados.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A48F1-4D57-876A-A911-DB44B32B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Trabalhos Relacionados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83D1101-E3C6-71A6-2F7F-0E733DB790FD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163C7-AFB6-CDA5-1683-AFFA5C66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Protocolo da Revisão Sistemática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3BA3085-E847-C63A-217B-C83520C24B43}"/>
              </a:ext>
            </a:extLst>
          </p:cNvPr>
          <p:cNvCxnSpPr>
            <a:cxnSpLocks/>
          </p:cNvCxnSpPr>
          <p:nvPr/>
        </p:nvCxnSpPr>
        <p:spPr>
          <a:xfrm>
            <a:off x="843379" y="1001055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500" b="1"/>
              <a:t>Bases consultadas:  </a:t>
            </a:r>
            <a:r>
              <a:rPr sz="1300"/>
              <a:t>ACM Digital Library, IEEE Xplore, Scopus, Web of Science e Periódicos CAPES.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500" b="1"/>
              <a:t>Strings de busca (PT/EN):  </a:t>
            </a:r>
            <a:r>
              <a:rPr sz="1300"/>
              <a:t>“projeção de preço de ativos”, “prever preço de ação”, “volatilidade de ações”, “sentimento de notícias”, “interpretando notícias”; “stock price prediction”, “news sentiment”, “stock volatility forecasting”, “financial text mining”.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500" b="1"/>
              <a:t>Janela da busca de literatura:  </a:t>
            </a:r>
            <a:r>
              <a:rPr sz="1300"/>
              <a:t>2007–2026 (do estudo seminal de Tetlock, 2007, aos trabalhos mais recentes).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500" b="1"/>
              <a:t>Janela dos dados empíricos:  </a:t>
            </a:r>
            <a:r>
              <a:rPr sz="1300"/>
              <a:t>2016–2026 (coleta de notícias e das cotações da PETR4).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500" b="1"/>
              <a:t>Critérios de exclusão:  </a:t>
            </a:r>
            <a:r>
              <a:rPr sz="1300"/>
              <a:t>sem revisão por pares; sem aplicação a mercados de ações reais; sem uso de PLN.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500" b="1"/>
              <a:t>Resultado:  </a:t>
            </a:r>
            <a:r>
              <a:rPr sz="1300"/>
              <a:t>452 publicações identificadas → 427 excluídas → 29 estudos selecionados.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4486" y="6309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 dirty="0" err="1">
                <a:solidFill>
                  <a:srgbClr val="888888"/>
                </a:solidFill>
              </a:rPr>
              <a:t>Distinção</a:t>
            </a:r>
            <a:r>
              <a:rPr sz="1100" i="1" dirty="0">
                <a:solidFill>
                  <a:srgbClr val="888888"/>
                </a:solidFill>
              </a:rPr>
              <a:t> </a:t>
            </a:r>
            <a:r>
              <a:rPr sz="1100" i="1" dirty="0" err="1">
                <a:solidFill>
                  <a:srgbClr val="888888"/>
                </a:solidFill>
              </a:rPr>
              <a:t>importante</a:t>
            </a:r>
            <a:r>
              <a:rPr sz="1100" i="1" dirty="0">
                <a:solidFill>
                  <a:srgbClr val="888888"/>
                </a:solidFill>
              </a:rPr>
              <a:t>: a </a:t>
            </a:r>
            <a:r>
              <a:rPr sz="1100" i="1" dirty="0" err="1">
                <a:solidFill>
                  <a:srgbClr val="888888"/>
                </a:solidFill>
              </a:rPr>
              <a:t>literatura</a:t>
            </a:r>
            <a:r>
              <a:rPr sz="1100" i="1" dirty="0">
                <a:solidFill>
                  <a:srgbClr val="888888"/>
                </a:solidFill>
              </a:rPr>
              <a:t> é </a:t>
            </a:r>
            <a:r>
              <a:rPr sz="1100" i="1" dirty="0" err="1">
                <a:solidFill>
                  <a:srgbClr val="888888"/>
                </a:solidFill>
              </a:rPr>
              <a:t>revisada</a:t>
            </a:r>
            <a:r>
              <a:rPr sz="1100" i="1" dirty="0">
                <a:solidFill>
                  <a:srgbClr val="888888"/>
                </a:solidFill>
              </a:rPr>
              <a:t> de 2007 a 2026; </a:t>
            </a:r>
            <a:r>
              <a:rPr sz="1100" i="1" dirty="0" err="1">
                <a:solidFill>
                  <a:srgbClr val="888888"/>
                </a:solidFill>
              </a:rPr>
              <a:t>os</a:t>
            </a:r>
            <a:r>
              <a:rPr sz="1100" i="1" dirty="0">
                <a:solidFill>
                  <a:srgbClr val="888888"/>
                </a:solidFill>
              </a:rPr>
              <a:t> dados (</a:t>
            </a:r>
            <a:r>
              <a:rPr sz="1100" i="1" dirty="0" err="1">
                <a:solidFill>
                  <a:srgbClr val="888888"/>
                </a:solidFill>
              </a:rPr>
              <a:t>notícias</a:t>
            </a:r>
            <a:r>
              <a:rPr sz="1100" i="1" dirty="0">
                <a:solidFill>
                  <a:srgbClr val="888888"/>
                </a:solidFill>
              </a:rPr>
              <a:t> e </a:t>
            </a:r>
            <a:r>
              <a:rPr sz="1100" i="1" dirty="0" err="1">
                <a:solidFill>
                  <a:srgbClr val="888888"/>
                </a:solidFill>
              </a:rPr>
              <a:t>preços</a:t>
            </a:r>
            <a:r>
              <a:rPr sz="1100" i="1" dirty="0">
                <a:solidFill>
                  <a:srgbClr val="888888"/>
                </a:solidFill>
              </a:rPr>
              <a:t>) </a:t>
            </a:r>
            <a:r>
              <a:rPr sz="1100" i="1" dirty="0" err="1">
                <a:solidFill>
                  <a:srgbClr val="888888"/>
                </a:solidFill>
              </a:rPr>
              <a:t>cobrem</a:t>
            </a:r>
            <a:r>
              <a:rPr sz="1100" i="1" dirty="0">
                <a:solidFill>
                  <a:srgbClr val="888888"/>
                </a:solidFill>
              </a:rPr>
              <a:t> 2016 a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E8D08A-F07E-EA18-DABC-CB880A3C2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6AF1D-C066-6530-67FC-8459E943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kern="1200" dirty="0">
                <a:solidFill>
                  <a:srgbClr val="810539"/>
                </a:solidFill>
                <a:latin typeface="Arial Black" panose="020B0A04020102020204" pitchFamily="34" charset="0"/>
              </a:rPr>
              <a:t>Trabalhos Relacionados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81DC61A-CDFE-4E70-B2EF-6AA01F107DDB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EAAD73F-D7CA-2F73-8D94-3EADAD21EB05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625FEBA0-B140-D2FA-7163-B3C1AFC32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30" y="1008664"/>
            <a:ext cx="9958755" cy="536505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4EA7229-EA26-D1F4-E468-EE219047DA97}"/>
              </a:ext>
            </a:extLst>
          </p:cNvPr>
          <p:cNvSpPr/>
          <p:nvPr/>
        </p:nvSpPr>
        <p:spPr>
          <a:xfrm>
            <a:off x="982730" y="5576003"/>
            <a:ext cx="9914914" cy="277681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B4A1770-4AA2-844E-2003-A039648C98A4}"/>
              </a:ext>
            </a:extLst>
          </p:cNvPr>
          <p:cNvSpPr/>
          <p:nvPr/>
        </p:nvSpPr>
        <p:spPr>
          <a:xfrm>
            <a:off x="1004650" y="3943590"/>
            <a:ext cx="9914914" cy="277681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519DEB-E160-9B02-25FA-BDD82ACCC647}"/>
              </a:ext>
            </a:extLst>
          </p:cNvPr>
          <p:cNvSpPr/>
          <p:nvPr/>
        </p:nvSpPr>
        <p:spPr>
          <a:xfrm>
            <a:off x="1004650" y="2775569"/>
            <a:ext cx="9914914" cy="337149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201391D-5274-FF78-7ED7-F0657A6A7585}"/>
              </a:ext>
            </a:extLst>
          </p:cNvPr>
          <p:cNvSpPr/>
          <p:nvPr/>
        </p:nvSpPr>
        <p:spPr>
          <a:xfrm>
            <a:off x="982730" y="5886756"/>
            <a:ext cx="9914914" cy="40757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Box 18"/>
          <p:cNvSpPr txBox="1"/>
          <p:nvPr/>
        </p:nvSpPr>
        <p:spPr>
          <a:xfrm>
            <a:off x="2240280" y="638251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 (síntese das 25 publicações da RSL).</a:t>
            </a:r>
          </a:p>
        </p:txBody>
      </p:sp>
    </p:spTree>
    <p:extLst>
      <p:ext uri="{BB962C8B-B14F-4D97-AF65-F5344CB8AC3E}">
        <p14:creationId xmlns:p14="http://schemas.microsoft.com/office/powerpoint/2010/main" val="3517392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810539"/>
                </a:solidFill>
                <a:latin typeface="Arial Black" panose="020B0A04020102020204" pitchFamily="34" charset="0"/>
              </a:rPr>
              <a:t>Panorama Quantitativo da Literatura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0" y="4572000"/>
            <a:ext cx="8138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/>
              <a:t>29 estudos selecionados  </a:t>
            </a:r>
            <a:r>
              <a:rPr sz="1300"/>
              <a:t>de 452 identificadas (período 2007–2026).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/>
              <a:t>Concentração recente:  </a:t>
            </a:r>
            <a:r>
              <a:rPr sz="1300"/>
              <a:t>a maioria dos trabalhos está na janela 2016–2026.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/>
              <a:t>Lacuna de idioma:  </a:t>
            </a:r>
            <a:r>
              <a:rPr sz="1300"/>
              <a:t>só 5 estudos em português (Nizer, Silva, Narde, Cardoso e um recente de 2025).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55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888888"/>
                </a:solidFill>
              </a:rPr>
              <a:t>Fonte: Elaborado pelo autor (RSL). Números preliminares.</a:t>
            </a:r>
          </a:p>
        </p:txBody>
      </p:sp>
      <p:pic>
        <p:nvPicPr>
          <p:cNvPr id="11" name="Picture 10" descr="fig_rsl_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2672342"/>
          </a:xfrm>
          <a:prstGeom prst="rect">
            <a:avLst/>
          </a:prstGeom>
        </p:spPr>
      </p:pic>
      <p:pic>
        <p:nvPicPr>
          <p:cNvPr id="12" name="Picture 11" descr="fig_rsl_idio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26280"/>
            <a:ext cx="1887205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3C0C3-D1E3-EC42-DC72-8E9C51BC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2619E-4FBD-BA90-24A4-244212D44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Lacunas da Literatura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2BA2010-9935-BEE9-98B6-2D5D6B6F3FDC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91F5F57-6B11-B3D2-8A4F-3EA690430DA7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9984F2-F1A2-830E-4D92-780D4BB8378F}"/>
              </a:ext>
            </a:extLst>
          </p:cNvPr>
          <p:cNvSpPr txBox="1"/>
          <p:nvPr/>
        </p:nvSpPr>
        <p:spPr>
          <a:xfrm>
            <a:off x="882040" y="2473891"/>
            <a:ext cx="3044869" cy="1754326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Transição das avaliações genéricas de índices inteiros (</a:t>
            </a:r>
            <a:r>
              <a:rPr lang="pt-BR" dirty="0" err="1"/>
              <a:t>ex</a:t>
            </a:r>
            <a:r>
              <a:rPr lang="pt-BR" dirty="0"/>
              <a:t>: IBOVESPA) para o foco cirúrgico no risco idiossincrático de um ativo altamente politizado (PETR4).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80D4F6-9AC6-4513-E8E9-F4E74D1B8522}"/>
              </a:ext>
            </a:extLst>
          </p:cNvPr>
          <p:cNvSpPr txBox="1"/>
          <p:nvPr/>
        </p:nvSpPr>
        <p:spPr>
          <a:xfrm>
            <a:off x="882040" y="2117085"/>
            <a:ext cx="3044869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GRANULARIDADE (ATIVO)</a:t>
            </a:r>
          </a:p>
        </p:txBody>
      </p:sp>
    </p:spTree>
    <p:extLst>
      <p:ext uri="{BB962C8B-B14F-4D97-AF65-F5344CB8AC3E}">
        <p14:creationId xmlns:p14="http://schemas.microsoft.com/office/powerpoint/2010/main" val="3719614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9F42E-4160-6FEE-DBDA-DA22A6BC3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9C9F5-68F9-3C1D-B16A-5205FBAF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Lacunas da Literatura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36DC39A-B56A-FBAB-0866-92CE3DEDBCE8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10373B4-783D-05E5-21DE-EE875C0CC509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9E80257A-0FFA-D254-E9C2-FB49111B7A13}"/>
              </a:ext>
            </a:extLst>
          </p:cNvPr>
          <p:cNvSpPr txBox="1"/>
          <p:nvPr/>
        </p:nvSpPr>
        <p:spPr>
          <a:xfrm>
            <a:off x="882040" y="2473891"/>
            <a:ext cx="3044869" cy="1754326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Transição das avaliações genéricas de índices inteiros (</a:t>
            </a:r>
            <a:r>
              <a:rPr lang="pt-BR" dirty="0" err="1"/>
              <a:t>ex</a:t>
            </a:r>
            <a:r>
              <a:rPr lang="pt-BR" dirty="0"/>
              <a:t>: IBOVESPA) para o foco cirúrgico no risco idiossincrático de um ativo altamente politizado (PETR4).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699A5F-7121-CA3C-D049-4582216928BF}"/>
              </a:ext>
            </a:extLst>
          </p:cNvPr>
          <p:cNvSpPr txBox="1"/>
          <p:nvPr/>
        </p:nvSpPr>
        <p:spPr>
          <a:xfrm>
            <a:off x="882040" y="2117085"/>
            <a:ext cx="3044869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GRANULARIDADE (ATIVO)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A3939CD-360A-311B-6130-8E03B9EC8AFC}"/>
              </a:ext>
            </a:extLst>
          </p:cNvPr>
          <p:cNvSpPr txBox="1"/>
          <p:nvPr/>
        </p:nvSpPr>
        <p:spPr>
          <a:xfrm>
            <a:off x="4203525" y="2473891"/>
            <a:ext cx="3462404" cy="1754326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Superação de dicionários estáticos e contagem de palavras (TF-IDF) pela adoção do estado da arte em Transformers (FinBERT-PT-BR) para desambiguação de ironias e jargões no português brasileiro.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FF06D6-F15D-98BF-952E-5EE1D1F5F478}"/>
              </a:ext>
            </a:extLst>
          </p:cNvPr>
          <p:cNvSpPr txBox="1"/>
          <p:nvPr/>
        </p:nvSpPr>
        <p:spPr>
          <a:xfrm>
            <a:off x="4203525" y="2117085"/>
            <a:ext cx="3462404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SEMÂNTICA (NLP)</a:t>
            </a:r>
          </a:p>
        </p:txBody>
      </p:sp>
    </p:spTree>
    <p:extLst>
      <p:ext uri="{BB962C8B-B14F-4D97-AF65-F5344CB8AC3E}">
        <p14:creationId xmlns:p14="http://schemas.microsoft.com/office/powerpoint/2010/main" val="880376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BD6E0-9A21-D956-186E-F72CEBFE3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CFD8F-BF62-C98F-75ED-26DAC13B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Lacunas da Literatura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20F43A2-DE39-E217-4FCD-DCB0CDD89E76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707B71E-FC8E-6EF8-77C0-9BA73EC377DE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893018-56B5-B409-8ADA-35014BF97920}"/>
              </a:ext>
            </a:extLst>
          </p:cNvPr>
          <p:cNvSpPr txBox="1"/>
          <p:nvPr/>
        </p:nvSpPr>
        <p:spPr>
          <a:xfrm>
            <a:off x="882040" y="2473891"/>
            <a:ext cx="3044869" cy="1754326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Transição das</a:t>
            </a:r>
            <a:r>
              <a:rPr lang="pt-BR" b="1" dirty="0"/>
              <a:t> avaliações genéricas</a:t>
            </a:r>
            <a:r>
              <a:rPr lang="pt-BR" dirty="0"/>
              <a:t> de índices inteiros (</a:t>
            </a:r>
            <a:r>
              <a:rPr lang="pt-BR" dirty="0" err="1"/>
              <a:t>ex</a:t>
            </a:r>
            <a:r>
              <a:rPr lang="pt-BR" dirty="0"/>
              <a:t>: IBOVESPA) para o foco cirúrgico no risco idiossincrático de um ativo altamente politizado (PETR4).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4B076-80A1-1A83-C095-8DC46031CA88}"/>
              </a:ext>
            </a:extLst>
          </p:cNvPr>
          <p:cNvSpPr txBox="1"/>
          <p:nvPr/>
        </p:nvSpPr>
        <p:spPr>
          <a:xfrm>
            <a:off x="882040" y="2117085"/>
            <a:ext cx="3044869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GRANULARIDADE (ATIVO)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09BD7E-7F18-7EB7-79DE-B54AE5D8BC68}"/>
              </a:ext>
            </a:extLst>
          </p:cNvPr>
          <p:cNvSpPr txBox="1"/>
          <p:nvPr/>
        </p:nvSpPr>
        <p:spPr>
          <a:xfrm>
            <a:off x="4203525" y="2473891"/>
            <a:ext cx="3462404" cy="1754326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Superação de </a:t>
            </a:r>
            <a:r>
              <a:rPr lang="pt-BR" b="1" dirty="0"/>
              <a:t>dicionários estáticos e contagem de palavras (TF-IDF)</a:t>
            </a:r>
            <a:r>
              <a:rPr lang="pt-BR" dirty="0"/>
              <a:t> pela adoção do estado da arte em Transformers (FinBERT-PT-BR) para desambiguação de ironias e jargões no português brasileiro.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88D56E-8CDA-EB41-7393-CA425E933074}"/>
              </a:ext>
            </a:extLst>
          </p:cNvPr>
          <p:cNvSpPr txBox="1"/>
          <p:nvPr/>
        </p:nvSpPr>
        <p:spPr>
          <a:xfrm>
            <a:off x="4203525" y="2117085"/>
            <a:ext cx="3462404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SEMÂNTICA (NLP)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B97F2F-4D4A-AC35-226A-B60F17D4DA8A}"/>
              </a:ext>
            </a:extLst>
          </p:cNvPr>
          <p:cNvSpPr txBox="1"/>
          <p:nvPr/>
        </p:nvSpPr>
        <p:spPr>
          <a:xfrm>
            <a:off x="7942545" y="2473891"/>
            <a:ext cx="3044869" cy="1200329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Unificação integrando Inteligência Artificial textual e predição não-linear direcional (</a:t>
            </a:r>
            <a:r>
              <a:rPr lang="pt-BR" dirty="0" err="1"/>
              <a:t>XGBoost</a:t>
            </a:r>
            <a:r>
              <a:rPr lang="pt-BR" dirty="0"/>
              <a:t>/SVM).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87C7B6D-BAD7-31B4-EEBC-D6353E44D597}"/>
              </a:ext>
            </a:extLst>
          </p:cNvPr>
          <p:cNvSpPr txBox="1"/>
          <p:nvPr/>
        </p:nvSpPr>
        <p:spPr>
          <a:xfrm>
            <a:off x="7942545" y="2117085"/>
            <a:ext cx="3044869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ARQUITETURA (DATA FUSION)</a:t>
            </a:r>
          </a:p>
        </p:txBody>
      </p:sp>
    </p:spTree>
    <p:extLst>
      <p:ext uri="{BB962C8B-B14F-4D97-AF65-F5344CB8AC3E}">
        <p14:creationId xmlns:p14="http://schemas.microsoft.com/office/powerpoint/2010/main" val="2553994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C6448-AB5E-D8CB-FA8D-94D8D1329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48C0F-C031-8882-635C-7E63161DC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Método da Pesquisa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56282FE-3C80-A4AB-083A-E33EC5FC1511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027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Metodologia da Pesquisa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60704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sz="1600" b="1" dirty="0" err="1"/>
              <a:t>Método</a:t>
            </a:r>
            <a:r>
              <a:rPr sz="1600" b="1" dirty="0"/>
              <a:t> de </a:t>
            </a:r>
            <a:r>
              <a:rPr sz="1600" b="1" dirty="0" err="1"/>
              <a:t>pesquisa</a:t>
            </a:r>
            <a:r>
              <a:rPr sz="1600" b="1" dirty="0"/>
              <a:t>:  </a:t>
            </a:r>
            <a:r>
              <a:rPr sz="1350" dirty="0"/>
              <a:t>experimental — </a:t>
            </a:r>
            <a:r>
              <a:rPr sz="1350" b="1" dirty="0" err="1"/>
              <a:t>compara</a:t>
            </a:r>
            <a:r>
              <a:rPr sz="1350" dirty="0"/>
              <a:t>, sob </a:t>
            </a:r>
            <a:r>
              <a:rPr sz="1350" dirty="0" err="1"/>
              <a:t>condições</a:t>
            </a:r>
            <a:r>
              <a:rPr sz="1350" dirty="0"/>
              <a:t> </a:t>
            </a:r>
            <a:r>
              <a:rPr sz="1350" dirty="0" err="1"/>
              <a:t>controladas</a:t>
            </a:r>
            <a:r>
              <a:rPr sz="1350" dirty="0"/>
              <a:t>, o </a:t>
            </a:r>
            <a:r>
              <a:rPr sz="1350" dirty="0" err="1"/>
              <a:t>desempenho</a:t>
            </a:r>
            <a:r>
              <a:rPr sz="1350" dirty="0"/>
              <a:t> de </a:t>
            </a:r>
            <a:r>
              <a:rPr sz="1350" b="1" dirty="0" err="1"/>
              <a:t>modelos</a:t>
            </a:r>
            <a:r>
              <a:rPr sz="1350" b="1" dirty="0"/>
              <a:t> com e </a:t>
            </a:r>
            <a:r>
              <a:rPr sz="1350" b="1" dirty="0" err="1"/>
              <a:t>sem</a:t>
            </a:r>
            <a:r>
              <a:rPr sz="1350" b="1" dirty="0"/>
              <a:t> a </a:t>
            </a:r>
            <a:r>
              <a:rPr sz="1350" b="1" dirty="0" err="1"/>
              <a:t>informação</a:t>
            </a:r>
            <a:r>
              <a:rPr sz="1350" b="1" dirty="0"/>
              <a:t> de </a:t>
            </a:r>
            <a:r>
              <a:rPr sz="1350" b="1" dirty="0" err="1"/>
              <a:t>sentimento</a:t>
            </a:r>
            <a:r>
              <a:rPr sz="1350" dirty="0"/>
              <a:t>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sz="1600" b="1" dirty="0" err="1"/>
              <a:t>Finalidade</a:t>
            </a:r>
            <a:r>
              <a:rPr sz="1600" b="1" dirty="0"/>
              <a:t>:  </a:t>
            </a:r>
            <a:r>
              <a:rPr sz="1350" dirty="0" err="1"/>
              <a:t>aplicada</a:t>
            </a:r>
            <a:r>
              <a:rPr sz="1350" dirty="0"/>
              <a:t> — </a:t>
            </a:r>
            <a:r>
              <a:rPr sz="1350" dirty="0" err="1"/>
              <a:t>constrói</a:t>
            </a:r>
            <a:r>
              <a:rPr sz="1350" dirty="0"/>
              <a:t> </a:t>
            </a:r>
            <a:r>
              <a:rPr sz="1350" b="1" dirty="0"/>
              <a:t>um </a:t>
            </a:r>
            <a:r>
              <a:rPr sz="1350" b="1" dirty="0" err="1"/>
              <a:t>artefato</a:t>
            </a:r>
            <a:r>
              <a:rPr sz="1350" b="1" dirty="0"/>
              <a:t> </a:t>
            </a:r>
            <a:r>
              <a:rPr sz="1350" b="1" dirty="0" err="1"/>
              <a:t>computacional</a:t>
            </a:r>
            <a:r>
              <a:rPr sz="1350" b="1" dirty="0"/>
              <a:t> </a:t>
            </a:r>
            <a:r>
              <a:rPr sz="1350" b="1" dirty="0" err="1"/>
              <a:t>capaz</a:t>
            </a:r>
            <a:r>
              <a:rPr sz="1350" b="1" dirty="0"/>
              <a:t> de </a:t>
            </a:r>
            <a:r>
              <a:rPr sz="1350" b="1" dirty="0" err="1"/>
              <a:t>produzir</a:t>
            </a:r>
            <a:r>
              <a:rPr sz="1350" b="1" dirty="0"/>
              <a:t> pr</a:t>
            </a:r>
            <a:r>
              <a:rPr lang="pt-BR" sz="1350" b="1" dirty="0" err="1"/>
              <a:t>ojeções</a:t>
            </a:r>
            <a:r>
              <a:rPr sz="1350" b="1" dirty="0"/>
              <a:t> </a:t>
            </a:r>
            <a:r>
              <a:rPr sz="1350" dirty="0" err="1"/>
              <a:t>verificáveis</a:t>
            </a:r>
            <a:r>
              <a:rPr sz="1350" dirty="0"/>
              <a:t>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sz="1600" b="1" dirty="0" err="1"/>
              <a:t>Unidade</a:t>
            </a:r>
            <a:r>
              <a:rPr sz="1600" b="1" dirty="0"/>
              <a:t> de </a:t>
            </a:r>
            <a:r>
              <a:rPr sz="1600" b="1" dirty="0" err="1"/>
              <a:t>análise</a:t>
            </a:r>
            <a:r>
              <a:rPr sz="1600" b="1" dirty="0"/>
              <a:t>:  </a:t>
            </a:r>
            <a:r>
              <a:rPr sz="1350" dirty="0"/>
              <a:t>o </a:t>
            </a:r>
            <a:r>
              <a:rPr sz="1350" dirty="0" err="1"/>
              <a:t>pregão</a:t>
            </a:r>
            <a:r>
              <a:rPr sz="1350" dirty="0"/>
              <a:t> </a:t>
            </a:r>
            <a:r>
              <a:rPr sz="1350" b="1" dirty="0"/>
              <a:t>(</a:t>
            </a:r>
            <a:r>
              <a:rPr sz="1350" b="1" dirty="0" err="1"/>
              <a:t>dia</a:t>
            </a:r>
            <a:r>
              <a:rPr sz="1350" b="1" dirty="0"/>
              <a:t> de </a:t>
            </a:r>
            <a:r>
              <a:rPr sz="1350" b="1" dirty="0" err="1"/>
              <a:t>negociação</a:t>
            </a:r>
            <a:r>
              <a:rPr sz="1350" dirty="0"/>
              <a:t>); as </a:t>
            </a:r>
            <a:r>
              <a:rPr sz="1350" dirty="0" err="1"/>
              <a:t>notícias</a:t>
            </a:r>
            <a:r>
              <a:rPr sz="1350" dirty="0"/>
              <a:t> do </a:t>
            </a:r>
            <a:r>
              <a:rPr sz="1350" dirty="0" err="1"/>
              <a:t>dia</a:t>
            </a:r>
            <a:r>
              <a:rPr sz="1350" dirty="0"/>
              <a:t> </a:t>
            </a:r>
            <a:r>
              <a:rPr sz="1350" dirty="0" err="1"/>
              <a:t>são</a:t>
            </a:r>
            <a:r>
              <a:rPr sz="1350" dirty="0"/>
              <a:t> </a:t>
            </a:r>
            <a:r>
              <a:rPr sz="1350" dirty="0" err="1"/>
              <a:t>agregadas</a:t>
            </a:r>
            <a:r>
              <a:rPr sz="1350" dirty="0"/>
              <a:t> </a:t>
            </a:r>
            <a:r>
              <a:rPr sz="1350" dirty="0" err="1"/>
              <a:t>em</a:t>
            </a:r>
            <a:r>
              <a:rPr sz="1350" dirty="0"/>
              <a:t> um </a:t>
            </a:r>
            <a:r>
              <a:rPr sz="1350" dirty="0" err="1"/>
              <a:t>índice</a:t>
            </a:r>
            <a:r>
              <a:rPr sz="1350" dirty="0"/>
              <a:t> </a:t>
            </a:r>
            <a:r>
              <a:rPr sz="1350" dirty="0" err="1"/>
              <a:t>diário</a:t>
            </a:r>
            <a:r>
              <a:rPr sz="1350" dirty="0"/>
              <a:t> → </a:t>
            </a:r>
            <a:r>
              <a:rPr sz="1350" dirty="0" err="1"/>
              <a:t>uma</a:t>
            </a:r>
            <a:r>
              <a:rPr sz="1350" dirty="0"/>
              <a:t> </a:t>
            </a:r>
            <a:r>
              <a:rPr sz="1350" dirty="0" err="1"/>
              <a:t>previsão</a:t>
            </a:r>
            <a:r>
              <a:rPr sz="1350" dirty="0"/>
              <a:t> </a:t>
            </a:r>
            <a:r>
              <a:rPr sz="1350" dirty="0" err="1"/>
              <a:t>por</a:t>
            </a:r>
            <a:r>
              <a:rPr sz="1350" dirty="0"/>
              <a:t> </a:t>
            </a:r>
            <a:r>
              <a:rPr sz="1350" dirty="0" err="1"/>
              <a:t>pregão</a:t>
            </a:r>
            <a:r>
              <a:rPr sz="1350" dirty="0"/>
              <a:t>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sz="1600" b="1" dirty="0" err="1"/>
              <a:t>Pressuposto</a:t>
            </a:r>
            <a:r>
              <a:rPr sz="1600" b="1" dirty="0"/>
              <a:t> central:  </a:t>
            </a:r>
            <a:r>
              <a:rPr sz="1350" dirty="0" err="1"/>
              <a:t>causalidade</a:t>
            </a:r>
            <a:r>
              <a:rPr sz="1350" dirty="0"/>
              <a:t> temporal — </a:t>
            </a:r>
            <a:r>
              <a:rPr sz="1350" dirty="0" err="1"/>
              <a:t>só</a:t>
            </a:r>
            <a:r>
              <a:rPr sz="1350" dirty="0"/>
              <a:t> a </a:t>
            </a:r>
            <a:r>
              <a:rPr sz="1350" b="1" dirty="0" err="1"/>
              <a:t>informação</a:t>
            </a:r>
            <a:r>
              <a:rPr sz="1350" dirty="0"/>
              <a:t> </a:t>
            </a:r>
            <a:r>
              <a:rPr sz="1350" dirty="0" err="1"/>
              <a:t>disponível</a:t>
            </a:r>
            <a:r>
              <a:rPr sz="1350" dirty="0"/>
              <a:t> </a:t>
            </a:r>
            <a:r>
              <a:rPr sz="1350" b="1" dirty="0"/>
              <a:t>antes</a:t>
            </a:r>
            <a:r>
              <a:rPr sz="1350" dirty="0"/>
              <a:t> do </a:t>
            </a:r>
            <a:r>
              <a:rPr sz="1350" b="1" dirty="0" err="1"/>
              <a:t>pregão</a:t>
            </a:r>
            <a:r>
              <a:rPr sz="1350" dirty="0"/>
              <a:t> </a:t>
            </a:r>
            <a:r>
              <a:rPr sz="1350" dirty="0" err="1"/>
              <a:t>pode</a:t>
            </a:r>
            <a:r>
              <a:rPr sz="1350" dirty="0"/>
              <a:t> </a:t>
            </a:r>
            <a:r>
              <a:rPr sz="1350" dirty="0" err="1"/>
              <a:t>prevê</a:t>
            </a:r>
            <a:r>
              <a:rPr sz="1350" dirty="0"/>
              <a:t>-lo (</a:t>
            </a:r>
            <a:r>
              <a:rPr sz="1350" dirty="0" err="1"/>
              <a:t>marcação</a:t>
            </a:r>
            <a:r>
              <a:rPr sz="1350" dirty="0"/>
              <a:t> temporal e </a:t>
            </a:r>
            <a:r>
              <a:rPr sz="1350" dirty="0" err="1"/>
              <a:t>defasagem</a:t>
            </a:r>
            <a:r>
              <a:rPr sz="1350" dirty="0"/>
              <a:t> dos </a:t>
            </a:r>
            <a:r>
              <a:rPr sz="1350" dirty="0" err="1"/>
              <a:t>atributos</a:t>
            </a:r>
            <a:r>
              <a:rPr sz="1350" dirty="0"/>
              <a:t>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163C7-AFB6-CDA5-1683-AFFA5C66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810539"/>
                </a:solidFill>
                <a:latin typeface="Arial Black" panose="020B0A04020102020204" pitchFamily="34" charset="0"/>
              </a:rPr>
              <a:t>Dados: Preços da PETR4 (B3)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3BA3085-E847-C63A-217B-C83520C24B43}"/>
              </a:ext>
            </a:extLst>
          </p:cNvPr>
          <p:cNvCxnSpPr>
            <a:cxnSpLocks/>
          </p:cNvCxnSpPr>
          <p:nvPr/>
        </p:nvCxnSpPr>
        <p:spPr>
          <a:xfrm>
            <a:off x="843379" y="1001055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can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577840" cy="32710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50876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sz="1400" b="1"/>
              <a:t>O que coletamos:  </a:t>
            </a:r>
            <a:r>
              <a:rPr sz="1300"/>
              <a:t>cotação diária da PETR4 (2016-2026, 2.612 pregões) via B3/yfinance: abertura, máxima, mínima, fechamento e volume.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sz="1400" b="1"/>
              <a:t>Variável derivada:  </a:t>
            </a:r>
            <a:r>
              <a:rPr sz="1300"/>
              <a:t>o log-retorno Rₜ = ln(Pₜ/Pₜ₋₁), que aproxima a variação percentual e favorece a estacionariedade.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sz="1400" b="1"/>
              <a:t>Variável-alvo (direção):  </a:t>
            </a:r>
            <a:r>
              <a:rPr sz="1300"/>
              <a:t>se Rₜ &gt; 0 → alta (1); se Rₜ ≤ 0 → baixa (0).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029200"/>
          <a:ext cx="1133856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Abert.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Máx.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Mín.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Fech.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Volume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Variação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25/06/2026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38,12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38,67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37,92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38,45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25.152.300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+0,42%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26/06/2026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38,07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38,25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37,93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38,06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23.383.000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−1,02%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29/06/2026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38,20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38,37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37,92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38,14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14.924.800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+0,21%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3825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888888"/>
                </a:solidFill>
              </a:rPr>
              <a:t>Amostra do DataFrame de preços (base_financeira_petr4.csv).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rgbClr val="810539"/>
                </a:solidFill>
                <a:latin typeface="Arial Black" panose="020B0A04020102020204" pitchFamily="34" charset="0"/>
              </a:rPr>
              <a:t>Dados: Corpus de Notícias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1556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 dirty="0"/>
              <a:t>O </a:t>
            </a:r>
            <a:r>
              <a:rPr sz="1400" b="1" dirty="0" err="1"/>
              <a:t>que</a:t>
            </a:r>
            <a:r>
              <a:rPr sz="1400" b="1" dirty="0"/>
              <a:t> </a:t>
            </a:r>
            <a:r>
              <a:rPr sz="1400" b="1" dirty="0" err="1"/>
              <a:t>coletamos</a:t>
            </a:r>
            <a:r>
              <a:rPr sz="1400" b="1" dirty="0"/>
              <a:t>:  </a:t>
            </a:r>
            <a:r>
              <a:rPr sz="1300" b="1" dirty="0"/>
              <a:t>261.960 </a:t>
            </a:r>
            <a:r>
              <a:rPr sz="1300" b="1" dirty="0" err="1"/>
              <a:t>manchetes</a:t>
            </a:r>
            <a:r>
              <a:rPr sz="1300" b="1" dirty="0"/>
              <a:t> </a:t>
            </a:r>
            <a:r>
              <a:rPr sz="1300" b="1" dirty="0" err="1"/>
              <a:t>datadas</a:t>
            </a:r>
            <a:r>
              <a:rPr sz="1300" b="1" dirty="0"/>
              <a:t> (2016-2026) de 5 </a:t>
            </a:r>
            <a:r>
              <a:rPr sz="1300" b="1" dirty="0" err="1"/>
              <a:t>portais</a:t>
            </a:r>
            <a:r>
              <a:rPr sz="1300" b="1" dirty="0"/>
              <a:t> </a:t>
            </a:r>
            <a:r>
              <a:rPr sz="1300" dirty="0"/>
              <a:t>— </a:t>
            </a:r>
            <a:r>
              <a:rPr sz="1300" dirty="0" err="1"/>
              <a:t>InfoMoney</a:t>
            </a:r>
            <a:r>
              <a:rPr sz="1300" dirty="0"/>
              <a:t>, Exame, </a:t>
            </a:r>
            <a:r>
              <a:rPr sz="1300" dirty="0" err="1"/>
              <a:t>MoneyTimes</a:t>
            </a:r>
            <a:r>
              <a:rPr sz="1300" dirty="0"/>
              <a:t>, </a:t>
            </a:r>
            <a:r>
              <a:rPr sz="1300" dirty="0" err="1"/>
              <a:t>Petronotícias</a:t>
            </a:r>
            <a:r>
              <a:rPr sz="1300" dirty="0"/>
              <a:t> e Poder360 — via API WordPress (REST).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 dirty="0"/>
              <a:t>Campos de </a:t>
            </a:r>
            <a:r>
              <a:rPr sz="1400" b="1" dirty="0" err="1"/>
              <a:t>cada</a:t>
            </a:r>
            <a:r>
              <a:rPr sz="1400" b="1" dirty="0"/>
              <a:t> </a:t>
            </a:r>
            <a:r>
              <a:rPr sz="1400" b="1" dirty="0" err="1"/>
              <a:t>notícia</a:t>
            </a:r>
            <a:r>
              <a:rPr sz="1400" b="1" dirty="0"/>
              <a:t>:  </a:t>
            </a:r>
            <a:r>
              <a:rPr sz="1300" dirty="0"/>
              <a:t>data e hora </a:t>
            </a:r>
            <a:r>
              <a:rPr sz="1300" dirty="0" err="1"/>
              <a:t>exatas</a:t>
            </a:r>
            <a:r>
              <a:rPr sz="1300" dirty="0"/>
              <a:t> de </a:t>
            </a:r>
            <a:r>
              <a:rPr sz="1300" dirty="0" err="1"/>
              <a:t>publicação</a:t>
            </a:r>
            <a:r>
              <a:rPr sz="1300" dirty="0"/>
              <a:t>, </a:t>
            </a:r>
            <a:r>
              <a:rPr sz="1300" dirty="0" err="1"/>
              <a:t>fonte</a:t>
            </a:r>
            <a:r>
              <a:rPr sz="1300" dirty="0"/>
              <a:t>, </a:t>
            </a:r>
            <a:r>
              <a:rPr sz="1300" dirty="0" err="1"/>
              <a:t>título</a:t>
            </a:r>
            <a:r>
              <a:rPr sz="1300" dirty="0"/>
              <a:t>, </a:t>
            </a:r>
            <a:r>
              <a:rPr sz="1300" dirty="0" err="1"/>
              <a:t>resumo</a:t>
            </a:r>
            <a:r>
              <a:rPr sz="1300" dirty="0"/>
              <a:t>, URL e a </a:t>
            </a:r>
            <a:r>
              <a:rPr sz="1300" dirty="0" err="1"/>
              <a:t>categoria</a:t>
            </a:r>
            <a:r>
              <a:rPr sz="1300" dirty="0"/>
              <a:t> </a:t>
            </a:r>
            <a:r>
              <a:rPr sz="1300" dirty="0" err="1"/>
              <a:t>temática</a:t>
            </a:r>
            <a:r>
              <a:rPr sz="1300" dirty="0"/>
              <a:t> (</a:t>
            </a:r>
            <a:r>
              <a:rPr sz="1300" dirty="0" err="1"/>
              <a:t>taxonomia</a:t>
            </a:r>
            <a:r>
              <a:rPr sz="1300" dirty="0"/>
              <a:t> de 7 classes).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 dirty="0"/>
              <a:t>Uso:  </a:t>
            </a:r>
            <a:r>
              <a:rPr sz="1300" dirty="0"/>
              <a:t>as </a:t>
            </a:r>
            <a:r>
              <a:rPr sz="1300" dirty="0" err="1"/>
              <a:t>notícias</a:t>
            </a:r>
            <a:r>
              <a:rPr sz="1300" dirty="0"/>
              <a:t> de </a:t>
            </a:r>
            <a:r>
              <a:rPr sz="1300" dirty="0" err="1"/>
              <a:t>cada</a:t>
            </a:r>
            <a:r>
              <a:rPr sz="1300" dirty="0"/>
              <a:t> </a:t>
            </a:r>
            <a:r>
              <a:rPr sz="1300" dirty="0" err="1"/>
              <a:t>pregão</a:t>
            </a:r>
            <a:r>
              <a:rPr sz="1300" dirty="0"/>
              <a:t> </a:t>
            </a:r>
            <a:r>
              <a:rPr sz="1300" dirty="0" err="1"/>
              <a:t>são</a:t>
            </a:r>
            <a:r>
              <a:rPr sz="1300" dirty="0"/>
              <a:t> </a:t>
            </a:r>
            <a:r>
              <a:rPr sz="1300" dirty="0" err="1"/>
              <a:t>agregadas</a:t>
            </a:r>
            <a:r>
              <a:rPr sz="1300" dirty="0"/>
              <a:t> </a:t>
            </a:r>
            <a:r>
              <a:rPr sz="1300" dirty="0" err="1"/>
              <a:t>em</a:t>
            </a:r>
            <a:r>
              <a:rPr sz="1300" dirty="0"/>
              <a:t> um </a:t>
            </a:r>
            <a:r>
              <a:rPr sz="1300" dirty="0" err="1"/>
              <a:t>índice</a:t>
            </a:r>
            <a:r>
              <a:rPr sz="1300" dirty="0"/>
              <a:t> </a:t>
            </a:r>
            <a:r>
              <a:rPr sz="1300" dirty="0" err="1"/>
              <a:t>diário</a:t>
            </a:r>
            <a:r>
              <a:rPr sz="1300" dirty="0"/>
              <a:t> de </a:t>
            </a:r>
            <a:r>
              <a:rPr sz="1300" dirty="0" err="1"/>
              <a:t>sentimento</a:t>
            </a:r>
            <a:r>
              <a:rPr sz="1300" dirty="0"/>
              <a:t> (ISM); </a:t>
            </a:r>
            <a:r>
              <a:rPr sz="1300" dirty="0" err="1"/>
              <a:t>notícias</a:t>
            </a:r>
            <a:r>
              <a:rPr sz="1300" dirty="0"/>
              <a:t> </a:t>
            </a:r>
            <a:r>
              <a:rPr sz="1300" dirty="0" err="1"/>
              <a:t>após</a:t>
            </a:r>
            <a:r>
              <a:rPr sz="1300" dirty="0"/>
              <a:t> 17h </a:t>
            </a:r>
            <a:r>
              <a:rPr sz="1300" dirty="0" err="1"/>
              <a:t>vão</a:t>
            </a:r>
            <a:r>
              <a:rPr sz="1300" dirty="0"/>
              <a:t> para o </a:t>
            </a:r>
            <a:r>
              <a:rPr sz="1300" dirty="0" err="1"/>
              <a:t>pregão</a:t>
            </a:r>
            <a:r>
              <a:rPr sz="1300" dirty="0"/>
              <a:t> </a:t>
            </a:r>
            <a:r>
              <a:rPr sz="1300" dirty="0" err="1"/>
              <a:t>seguinte</a:t>
            </a:r>
            <a:r>
              <a:rPr sz="1300" dirty="0"/>
              <a:t> (Lead-Lag).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33856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Data/Hora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Título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03/01/2016 13:10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Mercado de Petróleo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Exame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Gigantes do petróleo cortam novamente investimentos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04/01/2016 08:55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Empresa e Ativo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InfoMoney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Presença de Murilo Ferreira na Petrobras incomodou o mercado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04/01/2016 11:49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Geopolítica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Exame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Ataque do EI a porto petroleiro da Líbia tem 6 mortos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04/01/2016 13:44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Macro/Energia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Petronotícias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José Firmo assume presidência da Abespetro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487880" y="6419686"/>
            <a:ext cx="80099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88888"/>
                </a:solidFill>
              </a:rPr>
              <a:t>Amostra do DataFrame de notícias (base_textual_petr4_wordpress_2016_2026.csv).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Arquitetura da Solução</a:t>
            </a:r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224028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 (conforme dissertação e scripts do projeto).</a:t>
            </a:r>
          </a:p>
        </p:txBody>
      </p:sp>
      <p:pic>
        <p:nvPicPr>
          <p:cNvPr id="5" name="Picture 4" descr="fig_arquitetura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" y="1257597"/>
            <a:ext cx="11247120" cy="497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793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rgbClr val="810539"/>
                </a:solidFill>
                <a:latin typeface="Arial Black" panose="020B0A04020102020204" pitchFamily="34" charset="0"/>
              </a:rPr>
              <a:t>Fusão de Dados e Predição da Direção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Os atributos heterogêneos são concatenados num único vetor (todos defasados em t−1) e submetidos ao classificador não linear, que projeta a direção do pregão seguinte.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autor.</a:t>
            </a:r>
          </a:p>
        </p:txBody>
      </p:sp>
      <p:pic>
        <p:nvPicPr>
          <p:cNvPr id="10" name="Picture 9" descr="fig_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0881360" cy="42838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200" dirty="0">
                <a:solidFill>
                  <a:srgbClr val="810539"/>
                </a:solidFill>
                <a:latin typeface="Arial Black" panose="020B0A04020102020204" pitchFamily="34" charset="0"/>
              </a:rPr>
              <a:t>Taxonomia Temática das Notícias (7 categorias)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 marL="635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Exemplos de termos</a:t>
                      </a:r>
                    </a:p>
                  </a:txBody>
                  <a:tcPr marL="635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Via de impacto no preço</a:t>
                      </a:r>
                    </a:p>
                  </a:txBody>
                  <a:tcPr marL="63500" marT="12700" marB="12700" anchor="ctr">
                    <a:solidFill>
                      <a:srgbClr val="6B0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1. Empresa e Ativo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Petrobras, PETR4, dividendos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corporativa (a própria companhia)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2. Mercado de Petróleo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Brent, barril, cotação do petróleo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preço da commodity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3. Geopolítica e Conflitos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guerra, Oriente Médio, Israel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choque de oferta/risco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4. Oferta, Infraestrutura, Produção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refinaria, oleoduto, plataforma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oferta física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5. Acordos, Sanções e Navegação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embargo, sanção, bloqueio naval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oferta/logística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6. Liderança e Governança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CEO, troca de presidente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governança e política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7. Macroeconomia, Câmbio e Energia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dólar, câmbio, Fed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macro e transição energética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23560"/>
            <a:ext cx="11155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dirty="0"/>
              <a:t>Para </a:t>
            </a:r>
            <a:r>
              <a:rPr sz="1300" b="1" dirty="0" err="1"/>
              <a:t>que</a:t>
            </a:r>
            <a:r>
              <a:rPr sz="1300" b="1" dirty="0"/>
              <a:t> serve:  </a:t>
            </a:r>
            <a:r>
              <a:rPr sz="1200" dirty="0"/>
              <a:t>152 </a:t>
            </a:r>
            <a:r>
              <a:rPr sz="1200" dirty="0" err="1"/>
              <a:t>termos</a:t>
            </a:r>
            <a:r>
              <a:rPr sz="1200" dirty="0"/>
              <a:t>, </a:t>
            </a:r>
            <a:r>
              <a:rPr sz="1200" dirty="0" err="1"/>
              <a:t>definidos</a:t>
            </a:r>
            <a:r>
              <a:rPr sz="1200" dirty="0"/>
              <a:t> a priori pela </a:t>
            </a:r>
            <a:r>
              <a:rPr sz="1200" dirty="0" err="1"/>
              <a:t>literatura</a:t>
            </a:r>
            <a:r>
              <a:rPr sz="1200" dirty="0"/>
              <a:t> </a:t>
            </a:r>
            <a:r>
              <a:rPr sz="1200" dirty="0" err="1"/>
              <a:t>econômica</a:t>
            </a:r>
            <a:r>
              <a:rPr sz="1200" dirty="0"/>
              <a:t>. </a:t>
            </a:r>
            <a:r>
              <a:rPr sz="1200" dirty="0" err="1"/>
              <a:t>Substitui</a:t>
            </a:r>
            <a:r>
              <a:rPr sz="1200" dirty="0"/>
              <a:t> o LDA (</a:t>
            </a:r>
            <a:r>
              <a:rPr sz="1200" dirty="0" err="1"/>
              <a:t>não</a:t>
            </a:r>
            <a:r>
              <a:rPr sz="1200" dirty="0"/>
              <a:t> </a:t>
            </a:r>
            <a:r>
              <a:rPr sz="1200" dirty="0" err="1"/>
              <a:t>supervisionado</a:t>
            </a:r>
            <a:r>
              <a:rPr sz="1200" dirty="0"/>
              <a:t>) </a:t>
            </a:r>
            <a:r>
              <a:rPr sz="1200" dirty="0" err="1"/>
              <a:t>por</a:t>
            </a:r>
            <a:r>
              <a:rPr sz="1200" dirty="0"/>
              <a:t> </a:t>
            </a:r>
            <a:r>
              <a:rPr sz="1200" dirty="0" err="1"/>
              <a:t>categorias</a:t>
            </a:r>
            <a:r>
              <a:rPr sz="1200" dirty="0"/>
              <a:t> </a:t>
            </a:r>
            <a:r>
              <a:rPr sz="1200" dirty="0" err="1"/>
              <a:t>interpretáveis</a:t>
            </a:r>
            <a:r>
              <a:rPr sz="1200" dirty="0"/>
              <a:t> e </a:t>
            </a:r>
            <a:r>
              <a:rPr sz="1200" dirty="0" err="1"/>
              <a:t>auditáveis</a:t>
            </a:r>
            <a:r>
              <a:rPr sz="1200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rgbClr val="810539"/>
                </a:solidFill>
                <a:latin typeface="Arial Black" panose="020B0A04020102020204" pitchFamily="34" charset="0"/>
              </a:rPr>
              <a:t>Notícias Divergentes no Mesmo Pregão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Quando há notícias positivas e negativas no mesmo dia, a polaridade de cada uma é ponderada pela confiança do modelo; o saldo forma o índice diário (ISM) que orienta a previsão — uma por pregão.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autor.</a:t>
            </a:r>
          </a:p>
        </p:txBody>
      </p:sp>
      <p:pic>
        <p:nvPicPr>
          <p:cNvPr id="10" name="Picture 9" descr="fig_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0881360" cy="42838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rgbClr val="810539"/>
                </a:solidFill>
                <a:latin typeface="Arial Black" panose="020B0A04020102020204" pitchFamily="34" charset="0"/>
              </a:rPr>
              <a:t>Separação dos Dados (validação walk-forward)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fi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15600" cy="25628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4805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1400" b="1"/>
              <a:t>Por que cronológico (nunca aleatório):  </a:t>
            </a:r>
            <a:r>
              <a:rPr sz="1300"/>
              <a:t>prever o futuro com o passado. Embaralhar as datas causaria vazamento de informação futura.</a:t>
            </a:r>
          </a:p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1400" b="1"/>
              <a:t>Treino (60%):  </a:t>
            </a:r>
            <a:r>
              <a:rPr sz="1300"/>
              <a:t>o modelo aprende os padrões. Validação (15%): ajustam-se os hiperparâmetros e o limiar de decisão.</a:t>
            </a:r>
          </a:p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1400" b="1"/>
              <a:t>Teste (25% · 653 pregões):  </a:t>
            </a:r>
            <a:r>
              <a:rPr sz="1300"/>
              <a:t>consultado uma ÚNICA vez, ao final — é o resultado honesto reportado.</a:t>
            </a:r>
          </a:p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sz="1400" b="1"/>
              <a:t>Walk-forward:  </a:t>
            </a:r>
            <a:r>
              <a:rPr sz="1300"/>
              <a:t>repete-se o processo em janelas deslizantes, simulando o uso real dia após dia.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163C7-AFB6-CDA5-1683-AFFA5C66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Métricas de Avaliação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3BA3085-E847-C63A-217B-C83520C24B43}"/>
              </a:ext>
            </a:extLst>
          </p:cNvPr>
          <p:cNvCxnSpPr>
            <a:cxnSpLocks/>
          </p:cNvCxnSpPr>
          <p:nvPr/>
        </p:nvCxnSpPr>
        <p:spPr>
          <a:xfrm>
            <a:off x="843379" y="1001055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39" y="1554480"/>
            <a:ext cx="9070373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sz="1450" b="1" dirty="0" err="1"/>
              <a:t>Saída</a:t>
            </a:r>
            <a:r>
              <a:rPr sz="1450" b="1" dirty="0"/>
              <a:t>:  </a:t>
            </a:r>
            <a:r>
              <a:rPr lang="pt-BR" sz="1300" dirty="0"/>
              <a:t>D</a:t>
            </a:r>
            <a:r>
              <a:rPr sz="1300" dirty="0" err="1"/>
              <a:t>ireção</a:t>
            </a:r>
            <a:r>
              <a:rPr sz="1300" dirty="0"/>
              <a:t> do </a:t>
            </a:r>
            <a:r>
              <a:rPr sz="1300" dirty="0" err="1"/>
              <a:t>pregão</a:t>
            </a:r>
            <a:r>
              <a:rPr sz="1300" dirty="0"/>
              <a:t> </a:t>
            </a:r>
            <a:r>
              <a:rPr sz="1300" dirty="0" err="1"/>
              <a:t>seguinte</a:t>
            </a:r>
            <a:r>
              <a:rPr sz="1300" dirty="0"/>
              <a:t> (</a:t>
            </a:r>
            <a:r>
              <a:rPr sz="1300" dirty="0" err="1"/>
              <a:t>alta</a:t>
            </a:r>
            <a:r>
              <a:rPr sz="1300" dirty="0"/>
              <a:t>/</a:t>
            </a:r>
            <a:r>
              <a:rPr sz="1300" dirty="0" err="1"/>
              <a:t>baixa</a:t>
            </a:r>
            <a:r>
              <a:rPr sz="1300" dirty="0"/>
              <a:t>).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sz="1450" b="1" dirty="0" err="1"/>
              <a:t>Acurácia</a:t>
            </a:r>
            <a:r>
              <a:rPr sz="1450" b="1" dirty="0"/>
              <a:t>:  </a:t>
            </a:r>
            <a:r>
              <a:rPr sz="1300" b="1" dirty="0"/>
              <a:t>% de </a:t>
            </a:r>
            <a:r>
              <a:rPr sz="1300" b="1" dirty="0" err="1"/>
              <a:t>acertos</a:t>
            </a:r>
            <a:r>
              <a:rPr sz="1300" dirty="0"/>
              <a:t>. Só vale se </a:t>
            </a:r>
            <a:r>
              <a:rPr sz="1300" dirty="0" err="1"/>
              <a:t>superar</a:t>
            </a:r>
            <a:r>
              <a:rPr sz="1300" dirty="0"/>
              <a:t> a </a:t>
            </a:r>
            <a:r>
              <a:rPr sz="1300" dirty="0" err="1"/>
              <a:t>classe</a:t>
            </a:r>
            <a:r>
              <a:rPr sz="1300" dirty="0"/>
              <a:t> </a:t>
            </a:r>
            <a:r>
              <a:rPr sz="1300" dirty="0" err="1"/>
              <a:t>majoritária</a:t>
            </a:r>
            <a:r>
              <a:rPr sz="1300" dirty="0"/>
              <a:t> (baseline).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sz="1450" b="1" dirty="0" err="1"/>
              <a:t>Precisão</a:t>
            </a:r>
            <a:r>
              <a:rPr sz="1450" b="1" dirty="0"/>
              <a:t>:  </a:t>
            </a:r>
            <a:r>
              <a:rPr sz="1300" dirty="0"/>
              <a:t>dos </a:t>
            </a:r>
            <a:r>
              <a:rPr sz="1300" dirty="0" err="1"/>
              <a:t>pregões</a:t>
            </a:r>
            <a:r>
              <a:rPr sz="1300" dirty="0"/>
              <a:t> </a:t>
            </a:r>
            <a:r>
              <a:rPr sz="1300" dirty="0" err="1"/>
              <a:t>previstos</a:t>
            </a:r>
            <a:r>
              <a:rPr sz="1300" dirty="0"/>
              <a:t> </a:t>
            </a:r>
            <a:r>
              <a:rPr sz="1300" dirty="0" err="1"/>
              <a:t>como</a:t>
            </a:r>
            <a:r>
              <a:rPr sz="1300" dirty="0"/>
              <a:t> </a:t>
            </a:r>
            <a:r>
              <a:rPr sz="1300" dirty="0" err="1"/>
              <a:t>alta</a:t>
            </a:r>
            <a:r>
              <a:rPr sz="1300" dirty="0"/>
              <a:t>, </a:t>
            </a:r>
            <a:r>
              <a:rPr sz="1300" b="1" dirty="0" err="1"/>
              <a:t>quantos</a:t>
            </a:r>
            <a:r>
              <a:rPr sz="1300" b="1" dirty="0"/>
              <a:t> </a:t>
            </a:r>
            <a:r>
              <a:rPr sz="1300" b="1" dirty="0" err="1"/>
              <a:t>foram</a:t>
            </a:r>
            <a:r>
              <a:rPr sz="1300" b="1" dirty="0"/>
              <a:t> </a:t>
            </a:r>
            <a:r>
              <a:rPr sz="1300" b="1" dirty="0" err="1"/>
              <a:t>realmente</a:t>
            </a:r>
            <a:r>
              <a:rPr sz="1300" b="1" dirty="0"/>
              <a:t> </a:t>
            </a:r>
            <a:r>
              <a:rPr sz="1300" b="1" dirty="0" err="1"/>
              <a:t>alta</a:t>
            </a:r>
            <a:r>
              <a:rPr sz="1300" dirty="0" err="1"/>
              <a:t>.</a:t>
            </a:r>
            <a:endParaRPr sz="1300" dirty="0"/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sz="1450" b="1" dirty="0" err="1"/>
              <a:t>Revocação</a:t>
            </a:r>
            <a:r>
              <a:rPr sz="1450" b="1" dirty="0"/>
              <a:t> (recall):  </a:t>
            </a:r>
            <a:r>
              <a:rPr sz="1300" dirty="0"/>
              <a:t>das </a:t>
            </a:r>
            <a:r>
              <a:rPr sz="1300" dirty="0" err="1"/>
              <a:t>altas</a:t>
            </a:r>
            <a:r>
              <a:rPr sz="1300" dirty="0"/>
              <a:t> reais,</a:t>
            </a:r>
            <a:r>
              <a:rPr sz="1300" b="1" dirty="0"/>
              <a:t> </a:t>
            </a:r>
            <a:r>
              <a:rPr sz="1300" b="1" dirty="0" err="1"/>
              <a:t>quantas</a:t>
            </a:r>
            <a:r>
              <a:rPr sz="1300" b="1" dirty="0"/>
              <a:t> o </a:t>
            </a:r>
            <a:r>
              <a:rPr sz="1300" b="1" dirty="0" err="1"/>
              <a:t>modelo</a:t>
            </a:r>
            <a:r>
              <a:rPr sz="1300" b="1" dirty="0"/>
              <a:t> </a:t>
            </a:r>
            <a:r>
              <a:rPr sz="1300" b="1" dirty="0" err="1"/>
              <a:t>capturou</a:t>
            </a:r>
            <a:r>
              <a:rPr sz="1300" b="1" dirty="0"/>
              <a:t>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sz="1450" b="1" dirty="0"/>
              <a:t>F1-Score:  </a:t>
            </a:r>
            <a:r>
              <a:rPr lang="pt-BR" sz="1300" b="1" dirty="0"/>
              <a:t>M</a:t>
            </a:r>
            <a:r>
              <a:rPr sz="1300" b="1" dirty="0" err="1"/>
              <a:t>édia</a:t>
            </a:r>
            <a:r>
              <a:rPr sz="1300" b="1" dirty="0"/>
              <a:t> </a:t>
            </a:r>
            <a:r>
              <a:rPr sz="1300" b="1" dirty="0" err="1"/>
              <a:t>harmônica</a:t>
            </a:r>
            <a:r>
              <a:rPr sz="1300" b="1" dirty="0"/>
              <a:t> de </a:t>
            </a:r>
            <a:r>
              <a:rPr sz="1300" b="1" dirty="0" err="1"/>
              <a:t>precisão</a:t>
            </a:r>
            <a:r>
              <a:rPr sz="1300" dirty="0"/>
              <a:t> e </a:t>
            </a:r>
            <a:r>
              <a:rPr sz="1300" b="1" dirty="0" err="1"/>
              <a:t>revocação</a:t>
            </a:r>
            <a:r>
              <a:rPr sz="1300" dirty="0"/>
              <a:t> (</a:t>
            </a:r>
            <a:r>
              <a:rPr sz="1300" dirty="0" err="1"/>
              <a:t>desmascara</a:t>
            </a:r>
            <a:r>
              <a:rPr sz="1300" dirty="0"/>
              <a:t> </a:t>
            </a:r>
            <a:r>
              <a:rPr sz="1300" dirty="0" err="1"/>
              <a:t>viés</a:t>
            </a:r>
            <a:r>
              <a:rPr sz="1300" dirty="0"/>
              <a:t> de </a:t>
            </a:r>
            <a:r>
              <a:rPr sz="1300" dirty="0" err="1"/>
              <a:t>classe</a:t>
            </a:r>
            <a:r>
              <a:rPr sz="1300" dirty="0"/>
              <a:t>).</a:t>
            </a:r>
          </a:p>
          <a:p>
            <a:pPr>
              <a:spcAft>
                <a:spcPts val="1300"/>
              </a:spcAft>
            </a:pPr>
            <a:r>
              <a:rPr lang="pt-BR" sz="1450" b="1" dirty="0"/>
              <a:t>Validação:  </a:t>
            </a:r>
            <a:r>
              <a:rPr lang="pt-BR" sz="1300" dirty="0"/>
              <a:t>Split cronológico 60/15/25; teste de 653 pregões consultado uma única vez.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endParaRPr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0554C-6DCA-5994-1EF6-74C98A99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5ADA0-C7AD-9BF7-1768-284365084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Resultados Preliminares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491E531-9769-6FB3-6660-EB1F967232C9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728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5D63D-4CFD-BD2B-8C00-FDBBE978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66035-D737-E59D-1CC5-1958C543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Análise Exploratória – Filtragem de Ruídos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72D3371-195B-61DE-C71F-EA9F6FC2157D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21497EE-CB74-12DC-9C90-54CC5417CD79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1645920"/>
            <a:ext cx="104241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700" dirty="0">
                <a:solidFill>
                  <a:srgbClr val="2E75B6"/>
                </a:solidFill>
              </a:rPr>
              <a:t>■  </a:t>
            </a:r>
            <a:r>
              <a:rPr sz="1700" b="1" dirty="0">
                <a:solidFill>
                  <a:srgbClr val="2E75B6"/>
                </a:solidFill>
              </a:rPr>
              <a:t>Corpus </a:t>
            </a:r>
            <a:r>
              <a:rPr sz="1700" b="1" dirty="0" err="1">
                <a:solidFill>
                  <a:srgbClr val="2E75B6"/>
                </a:solidFill>
              </a:rPr>
              <a:t>coletado</a:t>
            </a:r>
            <a:r>
              <a:rPr sz="1700" b="1" dirty="0">
                <a:solidFill>
                  <a:srgbClr val="2E75B6"/>
                </a:solidFill>
              </a:rPr>
              <a:t>:  </a:t>
            </a:r>
            <a:r>
              <a:rPr sz="1450" dirty="0">
                <a:solidFill>
                  <a:srgbClr val="333333"/>
                </a:solidFill>
              </a:rPr>
              <a:t>261.960 </a:t>
            </a:r>
            <a:r>
              <a:rPr sz="1450" dirty="0" err="1">
                <a:solidFill>
                  <a:srgbClr val="333333"/>
                </a:solidFill>
              </a:rPr>
              <a:t>manchetes</a:t>
            </a:r>
            <a:r>
              <a:rPr sz="1450" dirty="0">
                <a:solidFill>
                  <a:srgbClr val="333333"/>
                </a:solidFill>
              </a:rPr>
              <a:t> </a:t>
            </a:r>
            <a:r>
              <a:rPr sz="1450" dirty="0" err="1">
                <a:solidFill>
                  <a:srgbClr val="333333"/>
                </a:solidFill>
              </a:rPr>
              <a:t>datadas</a:t>
            </a:r>
            <a:r>
              <a:rPr sz="1450" dirty="0">
                <a:solidFill>
                  <a:srgbClr val="333333"/>
                </a:solidFill>
              </a:rPr>
              <a:t> de 5 </a:t>
            </a:r>
            <a:r>
              <a:rPr sz="1450" dirty="0" err="1">
                <a:solidFill>
                  <a:srgbClr val="333333"/>
                </a:solidFill>
              </a:rPr>
              <a:t>portais</a:t>
            </a:r>
            <a:r>
              <a:rPr sz="1450" dirty="0">
                <a:solidFill>
                  <a:srgbClr val="333333"/>
                </a:solidFill>
              </a:rPr>
              <a:t> (2016–2026).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700" dirty="0">
                <a:solidFill>
                  <a:srgbClr val="1E7E34"/>
                </a:solidFill>
              </a:rPr>
              <a:t>■  </a:t>
            </a:r>
            <a:r>
              <a:rPr sz="1700" b="1" dirty="0" err="1">
                <a:solidFill>
                  <a:srgbClr val="1E7E34"/>
                </a:solidFill>
              </a:rPr>
              <a:t>Ruído</a:t>
            </a:r>
            <a:r>
              <a:rPr sz="1700" b="1" dirty="0">
                <a:solidFill>
                  <a:srgbClr val="1E7E34"/>
                </a:solidFill>
              </a:rPr>
              <a:t> </a:t>
            </a:r>
            <a:r>
              <a:rPr sz="1700" b="1" dirty="0" err="1">
                <a:solidFill>
                  <a:srgbClr val="1E7E34"/>
                </a:solidFill>
              </a:rPr>
              <a:t>branco</a:t>
            </a:r>
            <a:r>
              <a:rPr sz="1700" b="1" dirty="0">
                <a:solidFill>
                  <a:srgbClr val="1E7E34"/>
                </a:solidFill>
              </a:rPr>
              <a:t> (~85%):  </a:t>
            </a:r>
            <a:r>
              <a:rPr sz="1450" dirty="0">
                <a:solidFill>
                  <a:srgbClr val="333333"/>
                </a:solidFill>
              </a:rPr>
              <a:t>a </a:t>
            </a:r>
            <a:r>
              <a:rPr sz="1450" dirty="0" err="1">
                <a:solidFill>
                  <a:srgbClr val="333333"/>
                </a:solidFill>
              </a:rPr>
              <a:t>maioria</a:t>
            </a:r>
            <a:r>
              <a:rPr sz="1450" dirty="0">
                <a:solidFill>
                  <a:srgbClr val="333333"/>
                </a:solidFill>
              </a:rPr>
              <a:t> das </a:t>
            </a:r>
            <a:r>
              <a:rPr sz="1450" dirty="0" err="1">
                <a:solidFill>
                  <a:srgbClr val="333333"/>
                </a:solidFill>
              </a:rPr>
              <a:t>notícias</a:t>
            </a:r>
            <a:r>
              <a:rPr sz="1450" dirty="0">
                <a:solidFill>
                  <a:srgbClr val="333333"/>
                </a:solidFill>
              </a:rPr>
              <a:t> </a:t>
            </a:r>
            <a:r>
              <a:rPr sz="1450" dirty="0" err="1">
                <a:solidFill>
                  <a:srgbClr val="333333"/>
                </a:solidFill>
              </a:rPr>
              <a:t>não</a:t>
            </a:r>
            <a:r>
              <a:rPr sz="1450" dirty="0">
                <a:solidFill>
                  <a:srgbClr val="333333"/>
                </a:solidFill>
              </a:rPr>
              <a:t> </a:t>
            </a:r>
            <a:r>
              <a:rPr sz="1450" dirty="0" err="1">
                <a:solidFill>
                  <a:srgbClr val="333333"/>
                </a:solidFill>
              </a:rPr>
              <a:t>desloca</a:t>
            </a:r>
            <a:r>
              <a:rPr sz="1450" dirty="0">
                <a:solidFill>
                  <a:srgbClr val="333333"/>
                </a:solidFill>
              </a:rPr>
              <a:t> o </a:t>
            </a:r>
            <a:r>
              <a:rPr sz="1450" dirty="0" err="1">
                <a:solidFill>
                  <a:srgbClr val="333333"/>
                </a:solidFill>
              </a:rPr>
              <a:t>preço</a:t>
            </a:r>
            <a:r>
              <a:rPr sz="1450" dirty="0">
                <a:solidFill>
                  <a:srgbClr val="333333"/>
                </a:solidFill>
              </a:rPr>
              <a:t> da PETR4 de forma anormal.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700" dirty="0">
                <a:solidFill>
                  <a:srgbClr val="E87D0D"/>
                </a:solidFill>
              </a:rPr>
              <a:t>■  </a:t>
            </a:r>
            <a:r>
              <a:rPr sz="1700" b="1" dirty="0">
                <a:solidFill>
                  <a:srgbClr val="E87D0D"/>
                </a:solidFill>
              </a:rPr>
              <a:t>Choque </a:t>
            </a:r>
            <a:r>
              <a:rPr sz="1700" b="1" dirty="0" err="1">
                <a:solidFill>
                  <a:srgbClr val="E87D0D"/>
                </a:solidFill>
              </a:rPr>
              <a:t>informacional</a:t>
            </a:r>
            <a:r>
              <a:rPr sz="1700" b="1" dirty="0">
                <a:solidFill>
                  <a:srgbClr val="E87D0D"/>
                </a:solidFill>
              </a:rPr>
              <a:t> (~15%):  </a:t>
            </a:r>
            <a:r>
              <a:rPr sz="1450" dirty="0">
                <a:solidFill>
                  <a:srgbClr val="333333"/>
                </a:solidFill>
              </a:rPr>
              <a:t>as </a:t>
            </a:r>
            <a:r>
              <a:rPr sz="1450" dirty="0" err="1">
                <a:solidFill>
                  <a:srgbClr val="333333"/>
                </a:solidFill>
              </a:rPr>
              <a:t>notícias</a:t>
            </a:r>
            <a:r>
              <a:rPr sz="1450" dirty="0">
                <a:solidFill>
                  <a:srgbClr val="333333"/>
                </a:solidFill>
              </a:rPr>
              <a:t> </a:t>
            </a:r>
            <a:r>
              <a:rPr sz="1450" dirty="0" err="1">
                <a:solidFill>
                  <a:srgbClr val="333333"/>
                </a:solidFill>
              </a:rPr>
              <a:t>que</a:t>
            </a:r>
            <a:r>
              <a:rPr sz="1450" dirty="0">
                <a:solidFill>
                  <a:srgbClr val="333333"/>
                </a:solidFill>
              </a:rPr>
              <a:t> </a:t>
            </a:r>
            <a:r>
              <a:rPr sz="1450" dirty="0" err="1">
                <a:solidFill>
                  <a:srgbClr val="333333"/>
                </a:solidFill>
              </a:rPr>
              <a:t>coincidem</a:t>
            </a:r>
            <a:r>
              <a:rPr sz="1450" dirty="0">
                <a:solidFill>
                  <a:srgbClr val="333333"/>
                </a:solidFill>
              </a:rPr>
              <a:t> com </a:t>
            </a:r>
            <a:r>
              <a:rPr sz="1450" dirty="0" err="1">
                <a:solidFill>
                  <a:srgbClr val="333333"/>
                </a:solidFill>
              </a:rPr>
              <a:t>rompimentos</a:t>
            </a:r>
            <a:r>
              <a:rPr sz="1450" dirty="0">
                <a:solidFill>
                  <a:srgbClr val="333333"/>
                </a:solidFill>
              </a:rPr>
              <a:t> de </a:t>
            </a:r>
            <a:r>
              <a:rPr sz="1450" dirty="0" err="1">
                <a:solidFill>
                  <a:srgbClr val="333333"/>
                </a:solidFill>
              </a:rPr>
              <a:t>estresse</a:t>
            </a:r>
            <a:r>
              <a:rPr sz="1450" dirty="0">
                <a:solidFill>
                  <a:srgbClr val="333333"/>
                </a:solidFill>
              </a:rPr>
              <a:t> no GARCH — </a:t>
            </a:r>
            <a:r>
              <a:rPr sz="1450" dirty="0" err="1">
                <a:solidFill>
                  <a:srgbClr val="333333"/>
                </a:solidFill>
              </a:rPr>
              <a:t>onde</a:t>
            </a:r>
            <a:r>
              <a:rPr sz="1450" dirty="0">
                <a:solidFill>
                  <a:srgbClr val="333333"/>
                </a:solidFill>
              </a:rPr>
              <a:t> o </a:t>
            </a:r>
            <a:r>
              <a:rPr sz="1450" dirty="0" err="1">
                <a:solidFill>
                  <a:srgbClr val="333333"/>
                </a:solidFill>
              </a:rPr>
              <a:t>sinal</a:t>
            </a:r>
            <a:r>
              <a:rPr sz="1450" dirty="0">
                <a:solidFill>
                  <a:srgbClr val="333333"/>
                </a:solidFill>
              </a:rPr>
              <a:t> se </a:t>
            </a:r>
            <a:r>
              <a:rPr sz="1450" dirty="0" err="1">
                <a:solidFill>
                  <a:srgbClr val="333333"/>
                </a:solidFill>
              </a:rPr>
              <a:t>concentra</a:t>
            </a:r>
            <a:r>
              <a:rPr sz="1450" dirty="0">
                <a:solidFill>
                  <a:srgbClr val="333333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endParaRPr sz="145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261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810539"/>
                </a:solidFill>
                <a:latin typeface="Arial Black" panose="020B0A04020102020204" pitchFamily="34" charset="0"/>
              </a:rPr>
              <a:t>Experimentos e Resultados: Direção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698476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Preditor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Acurácia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Precisão</a:t>
                      </a:r>
                    </a:p>
                  </a:txBody>
                  <a:tcPr marL="76200" marT="25400" marB="254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76200" marT="25400" marB="254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marL="76200" marT="25400" marB="25400" anchor="ctr">
                    <a:solidFill>
                      <a:srgbClr val="6B0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SVM (apenas preços)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51,91%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52,69%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67,29%†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0,484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XGBoost (apenas preços)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49,77%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52,74%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52,74%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0,501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SVM (Data Fusion)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51,91%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52,91%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65,65%†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0,518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0F2A"/>
                          </a:solidFill>
                        </a:rPr>
                        <a:t>XGBoost (Data Fusion)</a:t>
                      </a:r>
                    </a:p>
                  </a:txBody>
                  <a:tcPr marL="762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0F2A"/>
                          </a:solidFill>
                        </a:rPr>
                        <a:t>52,22%</a:t>
                      </a:r>
                    </a:p>
                  </a:txBody>
                  <a:tcPr marL="762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0F2A"/>
                          </a:solidFill>
                        </a:rPr>
                        <a:t>54,64%</a:t>
                      </a:r>
                    </a:p>
                  </a:txBody>
                  <a:tcPr marL="762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0F2A"/>
                          </a:solidFill>
                        </a:rPr>
                        <a:t>56,91%</a:t>
                      </a:r>
                    </a:p>
                  </a:txBody>
                  <a:tcPr marL="762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0F2A"/>
                          </a:solidFill>
                        </a:rPr>
                        <a:t>0,514</a:t>
                      </a:r>
                    </a:p>
                  </a:txBody>
                  <a:tcPr marL="76200" marT="25400" marB="254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1069848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50" b="1" dirty="0"/>
              <a:t>Janela 2016-2026:  </a:t>
            </a:r>
            <a:r>
              <a:rPr sz="1250" dirty="0" err="1"/>
              <a:t>treino</a:t>
            </a:r>
            <a:r>
              <a:rPr sz="1250" dirty="0"/>
              <a:t> 2016-2022, teste 2023-2026 (652 </a:t>
            </a:r>
            <a:r>
              <a:rPr sz="1250" dirty="0" err="1"/>
              <a:t>pregões</a:t>
            </a:r>
            <a:r>
              <a:rPr sz="1250" dirty="0"/>
              <a:t>; 340 </a:t>
            </a:r>
            <a:r>
              <a:rPr sz="1250" dirty="0" err="1"/>
              <a:t>acertos</a:t>
            </a:r>
            <a:r>
              <a:rPr sz="1250" dirty="0"/>
              <a:t>).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50" b="1" dirty="0" err="1"/>
              <a:t>Ganho</a:t>
            </a:r>
            <a:r>
              <a:rPr sz="1350" b="1" dirty="0"/>
              <a:t> do Data Fusion:  </a:t>
            </a:r>
            <a:r>
              <a:rPr sz="1250" dirty="0" err="1"/>
              <a:t>XGBoost</a:t>
            </a:r>
            <a:r>
              <a:rPr sz="1250" dirty="0"/>
              <a:t> +2,45 pp; o </a:t>
            </a:r>
            <a:r>
              <a:rPr sz="1250" dirty="0" err="1"/>
              <a:t>Sentimento</a:t>
            </a:r>
            <a:r>
              <a:rPr sz="1250" dirty="0"/>
              <a:t> é a </a:t>
            </a:r>
            <a:r>
              <a:rPr sz="1250" dirty="0" err="1"/>
              <a:t>variável</a:t>
            </a:r>
            <a:r>
              <a:rPr sz="1250" dirty="0"/>
              <a:t> </a:t>
            </a:r>
            <a:r>
              <a:rPr sz="1250" dirty="0" err="1"/>
              <a:t>mais</a:t>
            </a:r>
            <a:r>
              <a:rPr sz="1250" dirty="0"/>
              <a:t> </a:t>
            </a:r>
            <a:r>
              <a:rPr sz="1250" dirty="0" err="1"/>
              <a:t>importante</a:t>
            </a:r>
            <a:r>
              <a:rPr sz="1250" dirty="0"/>
              <a:t> (0,344).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50" b="1" dirty="0" err="1"/>
              <a:t>Significância</a:t>
            </a:r>
            <a:r>
              <a:rPr sz="1350" b="1" dirty="0"/>
              <a:t>:  </a:t>
            </a:r>
            <a:r>
              <a:rPr sz="1250" dirty="0"/>
              <a:t>binomial p = 0,145 — </a:t>
            </a:r>
            <a:r>
              <a:rPr sz="1250" dirty="0" err="1"/>
              <a:t>na</a:t>
            </a:r>
            <a:r>
              <a:rPr sz="1250" dirty="0"/>
              <a:t> </a:t>
            </a:r>
            <a:r>
              <a:rPr sz="1250" dirty="0" err="1"/>
              <a:t>janela</a:t>
            </a:r>
            <a:r>
              <a:rPr sz="1250" dirty="0"/>
              <a:t> </a:t>
            </a:r>
            <a:r>
              <a:rPr sz="1250" dirty="0" err="1"/>
              <a:t>ampliada</a:t>
            </a:r>
            <a:r>
              <a:rPr sz="1250" dirty="0"/>
              <a:t>, o </a:t>
            </a:r>
            <a:r>
              <a:rPr sz="1250" dirty="0" err="1"/>
              <a:t>ganho</a:t>
            </a:r>
            <a:r>
              <a:rPr sz="1250" dirty="0"/>
              <a:t> </a:t>
            </a:r>
            <a:r>
              <a:rPr sz="1250" dirty="0" err="1"/>
              <a:t>direcional</a:t>
            </a:r>
            <a:r>
              <a:rPr sz="1250" dirty="0"/>
              <a:t> é </a:t>
            </a:r>
            <a:r>
              <a:rPr sz="1250" dirty="0" err="1"/>
              <a:t>modesto</a:t>
            </a:r>
            <a:r>
              <a:rPr sz="1250" dirty="0"/>
              <a:t> e </a:t>
            </a:r>
            <a:r>
              <a:rPr sz="1250" dirty="0" err="1"/>
              <a:t>não</a:t>
            </a:r>
            <a:r>
              <a:rPr sz="1250" dirty="0"/>
              <a:t> </a:t>
            </a:r>
            <a:r>
              <a:rPr sz="1250" dirty="0" err="1"/>
              <a:t>significativo</a:t>
            </a:r>
            <a:r>
              <a:rPr sz="1250" dirty="0"/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50" b="1" dirty="0" err="1"/>
              <a:t>Ablação</a:t>
            </a:r>
            <a:r>
              <a:rPr sz="1350" b="1" dirty="0"/>
              <a:t> </a:t>
            </a:r>
            <a:r>
              <a:rPr sz="1350" b="1" dirty="0" err="1"/>
              <a:t>por</a:t>
            </a:r>
            <a:r>
              <a:rPr sz="1350" b="1" dirty="0"/>
              <a:t> </a:t>
            </a:r>
            <a:r>
              <a:rPr sz="1350" b="1" dirty="0" err="1"/>
              <a:t>categoria</a:t>
            </a:r>
            <a:r>
              <a:rPr sz="1350" b="1" dirty="0"/>
              <a:t>:  </a:t>
            </a:r>
            <a:r>
              <a:rPr sz="1250" dirty="0"/>
              <a:t>'</a:t>
            </a:r>
            <a:r>
              <a:rPr sz="1250" dirty="0" err="1"/>
              <a:t>Sanções</a:t>
            </a:r>
            <a:r>
              <a:rPr sz="1250" dirty="0"/>
              <a:t>/</a:t>
            </a:r>
            <a:r>
              <a:rPr sz="1250" dirty="0" err="1"/>
              <a:t>Navegação</a:t>
            </a:r>
            <a:r>
              <a:rPr sz="1250" dirty="0"/>
              <a:t>' é a </a:t>
            </a:r>
            <a:r>
              <a:rPr sz="1250" dirty="0" err="1"/>
              <a:t>mais</a:t>
            </a:r>
            <a:r>
              <a:rPr sz="1250" dirty="0"/>
              <a:t> </a:t>
            </a:r>
            <a:r>
              <a:rPr sz="1250" dirty="0" err="1"/>
              <a:t>informativa</a:t>
            </a:r>
            <a:r>
              <a:rPr sz="1250" dirty="0"/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50" b="1" dirty="0"/>
              <a:t>† F1 </a:t>
            </a:r>
            <a:r>
              <a:rPr sz="1350" b="1" dirty="0" err="1"/>
              <a:t>inflado</a:t>
            </a:r>
            <a:r>
              <a:rPr sz="1350" b="1" dirty="0"/>
              <a:t>:  </a:t>
            </a:r>
            <a:r>
              <a:rPr sz="1250" dirty="0"/>
              <a:t>o SVM </a:t>
            </a:r>
            <a:r>
              <a:rPr sz="1250" dirty="0" err="1"/>
              <a:t>prevê</a:t>
            </a:r>
            <a:r>
              <a:rPr sz="1250" dirty="0"/>
              <a:t> </a:t>
            </a:r>
            <a:r>
              <a:rPr sz="1250" dirty="0" err="1"/>
              <a:t>quase</a:t>
            </a:r>
            <a:r>
              <a:rPr sz="1250" dirty="0"/>
              <a:t> sempre '</a:t>
            </a:r>
            <a:r>
              <a:rPr sz="1250" dirty="0" err="1"/>
              <a:t>alta</a:t>
            </a:r>
            <a:r>
              <a:rPr sz="1250" dirty="0"/>
              <a:t>' — </a:t>
            </a:r>
            <a:r>
              <a:rPr sz="1250" dirty="0" err="1"/>
              <a:t>por</a:t>
            </a:r>
            <a:r>
              <a:rPr sz="1250" dirty="0"/>
              <a:t> </a:t>
            </a:r>
            <a:r>
              <a:rPr sz="1250" dirty="0" err="1"/>
              <a:t>isso</a:t>
            </a:r>
            <a:r>
              <a:rPr sz="1250" dirty="0"/>
              <a:t> </a:t>
            </a:r>
            <a:r>
              <a:rPr sz="1250" dirty="0" err="1"/>
              <a:t>reportamos</a:t>
            </a:r>
            <a:r>
              <a:rPr sz="1250" dirty="0"/>
              <a:t> </a:t>
            </a:r>
            <a:r>
              <a:rPr sz="1250" dirty="0" err="1"/>
              <a:t>várias</a:t>
            </a:r>
            <a:r>
              <a:rPr sz="1250" dirty="0"/>
              <a:t> </a:t>
            </a:r>
            <a:r>
              <a:rPr sz="1250" dirty="0" err="1"/>
              <a:t>métricas</a:t>
            </a:r>
            <a:r>
              <a:rPr sz="125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638251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 (reprocessamento 2016-2026).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ECF907-9354-A629-4FE6-0E5F45EA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DB1DC-F0EF-3B15-C608-74C4A0F0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2500" b="1" dirty="0">
                <a:solidFill>
                  <a:srgbClr val="810539"/>
                </a:solidFill>
                <a:latin typeface="Arial Black" panose="020B0A04020102020204" pitchFamily="34" charset="0"/>
              </a:rPr>
              <a:t>Modelagem Preditiva Direcional</a:t>
            </a:r>
            <a:endParaRPr lang="pt-BR" sz="25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21193DC-1365-A2FF-BFF4-9176E4736D88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21CECC-115E-21BA-CBA6-08A88678F147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16002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600">
                <a:solidFill>
                  <a:srgbClr val="333333"/>
                </a:solidFill>
              </a:rPr>
              <a:t>■  </a:t>
            </a:r>
            <a:r>
              <a:rPr sz="1600" b="1">
                <a:solidFill>
                  <a:srgbClr val="333333"/>
                </a:solidFill>
              </a:rPr>
              <a:t>Direção (alta/baixa):  </a:t>
            </a:r>
            <a:r>
              <a:rPr sz="1400">
                <a:solidFill>
                  <a:srgbClr val="333333"/>
                </a:solidFill>
              </a:rPr>
              <a:t>XGBoost com Data Fusion = 52,22% (AUC 0,514), ganho de +2,45 pp do sentimento. Na janela 2016-2026 o ganho é modesto e não significativo (binomial p=0,145).</a:t>
            </a:r>
          </a:p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600">
                <a:solidFill>
                  <a:srgbClr val="1E7E34"/>
                </a:solidFill>
              </a:rPr>
              <a:t>■  </a:t>
            </a:r>
            <a:r>
              <a:rPr sz="1600" b="1">
                <a:solidFill>
                  <a:srgbClr val="1E7E34"/>
                </a:solidFill>
              </a:rPr>
              <a:t>Efeito assimétrico (quantílica):  </a:t>
            </a:r>
            <a:r>
              <a:rPr sz="1400">
                <a:solidFill>
                  <a:srgbClr val="333333"/>
                </a:solidFill>
              </a:rPr>
              <a:t>no quantil inferior (τ=0,05, piores dias) o sentimento eleva o retorno em +261 bps (p=0,034); enfraquece nos quantis centrais — viés de negatividade.</a:t>
            </a:r>
          </a:p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600">
                <a:solidFill>
                  <a:srgbClr val="6B0F2A"/>
                </a:solidFill>
              </a:rPr>
              <a:t>■  </a:t>
            </a:r>
            <a:r>
              <a:rPr sz="1600" b="1">
                <a:solidFill>
                  <a:srgbClr val="6B0F2A"/>
                </a:solidFill>
              </a:rPr>
              <a:t>Sentimento → volatilidade (Granger):  </a:t>
            </a:r>
            <a:r>
              <a:rPr sz="1400">
                <a:solidFill>
                  <a:srgbClr val="333333"/>
                </a:solidFill>
              </a:rPr>
              <a:t>altamente significativo em TODAS as defasagens (p&lt;0,001); sobre o retorno, não significativo. O sentimento antecipa a turbulência muito mais que a direção — mensagem central.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Reprocessamento na janela ampliada 2016-2026 (261.960 notícias, 2.612 pregões).</a:t>
            </a:r>
          </a:p>
        </p:txBody>
      </p:sp>
    </p:spTree>
    <p:extLst>
      <p:ext uri="{BB962C8B-B14F-4D97-AF65-F5344CB8AC3E}">
        <p14:creationId xmlns:p14="http://schemas.microsoft.com/office/powerpoint/2010/main" val="8347363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A0674-AA98-F300-E06C-632360316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0BC2E-B90A-4469-E759-670ED19BD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Cronograma de Execução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61342E8-BA77-16A6-BC4C-EC91F2D4B5C0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278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CC58E-7B31-147F-5C1C-DF51080F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15AB-0E6A-E75B-7042-9D525A9C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kern="1200" dirty="0">
                <a:solidFill>
                  <a:srgbClr val="810539"/>
                </a:solidFill>
                <a:latin typeface="Arial Black" panose="020B0A04020102020204" pitchFamily="34" charset="0"/>
              </a:rPr>
              <a:t>Pr</a:t>
            </a:r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óximas etapas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2994E160-8915-CB61-494B-47BFC280523C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17320"/>
          <a:ext cx="1133856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6B0F2A"/>
                          </a:solidFill>
                        </a:rPr>
                        <a:t>Etapas do Projeto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jun/26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jul/26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ago/26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set/26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out/26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nov/26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dez/26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jan/27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fev/27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mar/27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1. Banca de Qualificação e Ajustes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2. Refinamento do Web Scraping (timestamps)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3. Re-processamento (BERTimbau/FinBERT) e GARCH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4. Treinamento XGBoost/SVM (tuning)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5. Análise dos Resultados e Gráficos Finais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6. Redação do Documento Final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7. Revisão Geral e Submissão ao Programa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5B6"/>
                          </a:solidFill>
                        </a:rPr>
                        <a:t>8. Escrita e Submissão de Artigo (conferência)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9. Defesa Final da Dissertação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249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8BFB5-552C-EA5A-D7CF-698045EA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5476B-FB87-B6C9-9883-5C1C60CF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8771"/>
            <a:ext cx="105156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Obrigado.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82B7B0-AC73-4C9C-20CA-1AB408625389}"/>
              </a:ext>
            </a:extLst>
          </p:cNvPr>
          <p:cNvSpPr txBox="1"/>
          <p:nvPr/>
        </p:nvSpPr>
        <p:spPr>
          <a:xfrm>
            <a:off x="838201" y="2814222"/>
            <a:ext cx="1051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Espaço para perguntas sugestões e comentários.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BB7969-5F3A-BF5D-BE08-2DFC83D7A0BD}"/>
              </a:ext>
            </a:extLst>
          </p:cNvPr>
          <p:cNvSpPr txBox="1"/>
          <p:nvPr/>
        </p:nvSpPr>
        <p:spPr>
          <a:xfrm>
            <a:off x="838200" y="3183554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Vanderlei Barbosa da Silva</a:t>
            </a:r>
          </a:p>
          <a:p>
            <a:pPr algn="ctr"/>
            <a:r>
              <a:rPr lang="pt-BR" sz="1400" dirty="0"/>
              <a:t>Orientador: Dr. </a:t>
            </a:r>
            <a:r>
              <a:rPr lang="pt-BR" sz="1400" dirty="0" err="1"/>
              <a:t>Julio</a:t>
            </a:r>
            <a:r>
              <a:rPr lang="pt-BR" sz="1400" dirty="0"/>
              <a:t> Cesar </a:t>
            </a:r>
            <a:r>
              <a:rPr lang="pt-BR" sz="1400" dirty="0" err="1"/>
              <a:t>Nievola</a:t>
            </a:r>
            <a:endParaRPr lang="pt-BR" sz="1400" dirty="0"/>
          </a:p>
          <a:p>
            <a:pPr algn="ctr"/>
            <a:r>
              <a:rPr lang="pt-BR" sz="1400" dirty="0"/>
              <a:t>Coorientador: Dr. Emerson Cabrera Paraiso</a:t>
            </a:r>
          </a:p>
          <a:p>
            <a:pPr algn="ctr"/>
            <a:r>
              <a:rPr lang="pt-BR" sz="1400" dirty="0"/>
              <a:t>PPGIA / PUCPR – Curitiba - 2026</a:t>
            </a:r>
          </a:p>
        </p:txBody>
      </p:sp>
    </p:spTree>
    <p:extLst>
      <p:ext uri="{BB962C8B-B14F-4D97-AF65-F5344CB8AC3E}">
        <p14:creationId xmlns:p14="http://schemas.microsoft.com/office/powerpoint/2010/main" val="903475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Forma&#10;&#10;Descrição gerada automaticamente">
            <a:extLst>
              <a:ext uri="{FF2B5EF4-FFF2-40B4-BE49-F238E27FC236}">
                <a16:creationId xmlns:a16="http://schemas.microsoft.com/office/drawing/2014/main" id="{8A30E2B3-F0B9-3248-BAE6-F1209292D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04B612-E1A1-EB45-9FBD-335732929D7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028341" y="2711669"/>
            <a:ext cx="7441324" cy="143718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pt-BR" sz="5000" b="1" spc="-30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Fim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42A33A-D40D-D94A-A311-D61290DA0B7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028342" y="3853370"/>
            <a:ext cx="7601406" cy="42342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</a:t>
            </a:r>
          </a:p>
        </p:txBody>
      </p:sp>
      <p:pic>
        <p:nvPicPr>
          <p:cNvPr id="8" name="Imagem 7" descr="Texto, Aplicativo&#10;&#10;Descrição gerada automaticamente">
            <a:extLst>
              <a:ext uri="{FF2B5EF4-FFF2-40B4-BE49-F238E27FC236}">
                <a16:creationId xmlns:a16="http://schemas.microsoft.com/office/drawing/2014/main" id="{6B1950E5-AADD-F143-85B7-CCB042F31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13" y="3099030"/>
            <a:ext cx="3008993" cy="104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83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3232</TotalTime>
  <Words>3912</Words>
  <Application>Microsoft Office PowerPoint</Application>
  <PresentationFormat>Widescreen</PresentationFormat>
  <Paragraphs>376</Paragraphs>
  <Slides>36</Slides>
  <Notes>22</Notes>
  <HiddenSlides>3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1" baseType="lpstr">
      <vt:lpstr>Arial</vt:lpstr>
      <vt:lpstr>Arial Black</vt:lpstr>
      <vt:lpstr>Calibri</vt:lpstr>
      <vt:lpstr>Wingdings</vt:lpstr>
      <vt:lpstr>Tema do Office</vt:lpstr>
      <vt:lpstr> O Impacto do Sentimento de Notícias Financeiras na Previsão de Direção e Volatilidade do Ativo PETR4: Uma Abordagem via Transformers e Machine Learning </vt:lpstr>
      <vt:lpstr>Estrutura da Apresentação</vt:lpstr>
      <vt:lpstr>Introdução</vt:lpstr>
      <vt:lpstr>Choque Informacional: Geopolítica e a Volatilidade da PETR4</vt:lpstr>
      <vt:lpstr>Perguntas de Pesquisa</vt:lpstr>
      <vt:lpstr>Objetivos e Hipóteses</vt:lpstr>
      <vt:lpstr>Hipóteses</vt:lpstr>
      <vt:lpstr>Contribuições</vt:lpstr>
      <vt:lpstr>Contribuições</vt:lpstr>
      <vt:lpstr>Fundamentação Teórica</vt:lpstr>
      <vt:lpstr>Conceitos Fundamentais</vt:lpstr>
      <vt:lpstr>Trabalhos Relacionados</vt:lpstr>
      <vt:lpstr>Protocolo da Revisão Sistemática</vt:lpstr>
      <vt:lpstr>Trabalhos Relacionados</vt:lpstr>
      <vt:lpstr>Panorama Quantitativo da Literatura</vt:lpstr>
      <vt:lpstr>Lacunas da Literatura</vt:lpstr>
      <vt:lpstr>Lacunas da Literatura</vt:lpstr>
      <vt:lpstr>Lacunas da Literatura</vt:lpstr>
      <vt:lpstr>Método da Pesquisa</vt:lpstr>
      <vt:lpstr>Metodologia da Pesquisa</vt:lpstr>
      <vt:lpstr>Dados: Preços da PETR4 (B3)</vt:lpstr>
      <vt:lpstr>Dados: Corpus de Notícias</vt:lpstr>
      <vt:lpstr>Arquitetura da Solução</vt:lpstr>
      <vt:lpstr>Fusão de Dados e Predição da Direção</vt:lpstr>
      <vt:lpstr>Taxonomia Temática das Notícias (7 categorias)</vt:lpstr>
      <vt:lpstr>Notícias Divergentes no Mesmo Pregão</vt:lpstr>
      <vt:lpstr>Separação dos Dados (validação walk-forward)</vt:lpstr>
      <vt:lpstr>Métricas de Avaliação</vt:lpstr>
      <vt:lpstr>Resultados Preliminares</vt:lpstr>
      <vt:lpstr>Análise Exploratória – Filtragem de Ruídos</vt:lpstr>
      <vt:lpstr>Experimentos e Resultados: Direção</vt:lpstr>
      <vt:lpstr>Modelagem Preditiva Direcional</vt:lpstr>
      <vt:lpstr>Cronograma de Execução</vt:lpstr>
      <vt:lpstr>Próximas etapas</vt:lpstr>
      <vt:lpstr>Obrigado.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Diego Jose Teider</dc:creator>
  <cp:lastModifiedBy>Vanderlei Barbosa da Silva</cp:lastModifiedBy>
  <cp:revision>101</cp:revision>
  <dcterms:created xsi:type="dcterms:W3CDTF">2020-10-27T13:01:25Z</dcterms:created>
  <dcterms:modified xsi:type="dcterms:W3CDTF">2026-07-02T16:51:09Z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9b6cd5-d141-4a33-8bf1-0ca04484304f_Enabled">
    <vt:lpwstr>true</vt:lpwstr>
  </property>
  <property fmtid="{D5CDD505-2E9C-101B-9397-08002B2CF9AE}" pid="3" name="MSIP_Label_a59b6cd5-d141-4a33-8bf1-0ca04484304f_SetDate">
    <vt:lpwstr>2022-04-18T20:01:33Z</vt:lpwstr>
  </property>
  <property fmtid="{D5CDD505-2E9C-101B-9397-08002B2CF9AE}" pid="4" name="MSIP_Label_a59b6cd5-d141-4a33-8bf1-0ca04484304f_Method">
    <vt:lpwstr>Standard</vt:lpwstr>
  </property>
  <property fmtid="{D5CDD505-2E9C-101B-9397-08002B2CF9AE}" pid="5" name="MSIP_Label_a59b6cd5-d141-4a33-8bf1-0ca04484304f_Name">
    <vt:lpwstr>restricted-default</vt:lpwstr>
  </property>
  <property fmtid="{D5CDD505-2E9C-101B-9397-08002B2CF9AE}" pid="6" name="MSIP_Label_a59b6cd5-d141-4a33-8bf1-0ca04484304f_SiteId">
    <vt:lpwstr>38ae3bcd-9579-4fd4-adda-b42e1495d55a</vt:lpwstr>
  </property>
  <property fmtid="{D5CDD505-2E9C-101B-9397-08002B2CF9AE}" pid="7" name="MSIP_Label_a59b6cd5-d141-4a33-8bf1-0ca04484304f_ActionId">
    <vt:lpwstr>0d8ed3b0-d898-44d0-a9dd-a42b5d4dab99</vt:lpwstr>
  </property>
  <property fmtid="{D5CDD505-2E9C-101B-9397-08002B2CF9AE}" pid="8" name="MSIP_Label_a59b6cd5-d141-4a33-8bf1-0ca04484304f_ContentBits">
    <vt:lpwstr>0</vt:lpwstr>
  </property>
  <property fmtid="{D5CDD505-2E9C-101B-9397-08002B2CF9AE}" pid="9" name="Document_Confidentiality">
    <vt:lpwstr>Restricted</vt:lpwstr>
  </property>
</Properties>
</file>